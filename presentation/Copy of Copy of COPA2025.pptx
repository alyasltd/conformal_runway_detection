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embeddedFontLst>
    <p:embeddedFont>
      <p:font typeface="Roboto"/>
      <p:regular r:id="rId15"/>
      <p:bold r:id="rId16"/>
      <p:italic r:id="rId17"/>
      <p:boldItalic r:id="rId18"/>
    </p:embeddedFont>
    <p:embeddedFont>
      <p:font typeface="Lexend Light"/>
      <p:regular r:id="rId19"/>
      <p:bold r:id="rId20"/>
    </p:embeddedFont>
    <p:embeddedFont>
      <p:font typeface="Lexend Medium"/>
      <p:regular r:id="rId21"/>
      <p:bold r:id="rId22"/>
    </p:embeddedFont>
    <p:embeddedFont>
      <p:font typeface="Quattrocento Sans"/>
      <p:regular r:id="rId23"/>
      <p:bold r:id="rId24"/>
      <p:italic r:id="rId25"/>
      <p:boldItalic r:id="rId26"/>
    </p:embeddedFont>
    <p:embeddedFont>
      <p:font typeface="Lexend"/>
      <p:regular r:id="rId27"/>
      <p:bold r:id="rId28"/>
    </p:embeddedFont>
    <p:embeddedFont>
      <p:font typeface="Lexend ExtraLight"/>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D82071-8FC1-4E9F-818D-5FCD9D01816F}">
  <a:tblStyle styleId="{C5D82071-8FC1-4E9F-818D-5FCD9D01816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xendLight-bold.fntdata"/><Relationship Id="rId22" Type="http://schemas.openxmlformats.org/officeDocument/2006/relationships/font" Target="fonts/LexendMedium-bold.fntdata"/><Relationship Id="rId21" Type="http://schemas.openxmlformats.org/officeDocument/2006/relationships/font" Target="fonts/LexendMedium-regular.fntdata"/><Relationship Id="rId24" Type="http://schemas.openxmlformats.org/officeDocument/2006/relationships/font" Target="fonts/QuattrocentoSans-bold.fntdata"/><Relationship Id="rId23" Type="http://schemas.openxmlformats.org/officeDocument/2006/relationships/font" Target="fonts/Quattrocento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QuattrocentoSans-boldItalic.fntdata"/><Relationship Id="rId25" Type="http://schemas.openxmlformats.org/officeDocument/2006/relationships/font" Target="fonts/QuattrocentoSans-italic.fntdata"/><Relationship Id="rId28" Type="http://schemas.openxmlformats.org/officeDocument/2006/relationships/font" Target="fonts/Lexend-bold.fntdata"/><Relationship Id="rId27" Type="http://schemas.openxmlformats.org/officeDocument/2006/relationships/font" Target="fonts/Lexen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LexendExtraLight-regular.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LexendExtraLight-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font" Target="fonts/Roboto-regular.fntdata"/><Relationship Id="rId14" Type="http://schemas.openxmlformats.org/officeDocument/2006/relationships/slide" Target="slides/slide7.xml"/><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LexendLight-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82147642f_4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882147642f_4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we choose an Intersection over Union (IoU) threshold — typically something like 0.5. Any predicted bounding box with an IoU above this threshold is considered a correct detection (true positive), while anything below it is considered incorrect (false positive).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we rank all predicted boxes by their confidence scores and compute the IoU between each predicted box and the corresponding ground truth boxes.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calculate the Average Precision (AP) for a specific class, we evaluate the model’s precision and recall at various confidence thresholds. The IoU helps us determine whether each prediction is a true positive or a false positive. Based on these, we compute true positives (TP), false positives (FP), and the total number of ground truth instances (for recall).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calculating precision and recall across all predictions for a class, we plot a Precision-Recall (PR) curve. The area under this curve gives us the Average Precision (AP) for that class.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However, since the precision-recall data points are discrete, we use interpolation to smooth the curve and calculate a more accurate area under it. Finally, we average the APs across all classes to obtain the </a:t>
            </a:r>
            <a:r>
              <a:rPr b="1" lang="en">
                <a:solidFill>
                  <a:schemeClr val="dk1"/>
                </a:solidFill>
              </a:rPr>
              <a:t>mean Average Precision (mAP)</a:t>
            </a:r>
            <a:r>
              <a:rPr lang="en">
                <a:solidFill>
                  <a:schemeClr val="dk1"/>
                </a:solidFill>
              </a:rPr>
              <a:t> — a single metric that summarizes overall detection performance.</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82147642f_2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882147642f_2_5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100"/>
              <a:buNone/>
            </a:pPr>
            <a:r>
              <a:rPr lang="en">
                <a:solidFill>
                  <a:schemeClr val="dk1"/>
                </a:solidFill>
              </a:rPr>
              <a:t>So our goal here is to adapt the AI model responsible for the detection a posteriori so that the predicted bounded boxes cover the GT with statistical guarantees.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As you can see here, this is what we want, in blue cyan we have the BBox originally computed by the object detector, then in red the GT and finally in orange the conformalized box that will be an improvement of the blue one.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In order to achieve that, we’ll apply conformal prediction on the object detection model’s output using the PUNCC library.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And we need to evaluate how the conformalization affects performance using dedicated, industrially relevant metrics.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882147642f_2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882147642f_2_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100"/>
              <a:buNone/>
            </a:pPr>
            <a:r>
              <a:rPr lang="en">
                <a:solidFill>
                  <a:schemeClr val="dk1"/>
                </a:solidFill>
              </a:rPr>
              <a:t>Préciser utilisation de la librairie puncc</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882147642f_2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3882147642f_2_7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La solution : Correction de Bonferroni</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On veut garantir que </a:t>
            </a:r>
            <a:r>
              <a:rPr b="1" lang="en">
                <a:solidFill>
                  <a:schemeClr val="dk1"/>
                </a:solidFill>
              </a:rPr>
              <a:t>toutes les coordonnées en même temps</a:t>
            </a:r>
            <a:r>
              <a:rPr lang="en">
                <a:solidFill>
                  <a:schemeClr val="dk1"/>
                </a:solidFill>
              </a:rPr>
              <a:t> respectent le niveau de confiance global.</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 applique donc Bonferroni :</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au lieu d’utiliser un quantile au niveau 1−α1 - \alpha1−α,</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on utilise un quantile plus strict : 1−α41 - \frac{\alpha}{4}1−4α​ pour chaque coordonnée.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Ainsi, la probabilité que les 4 coordonnées soient toutes correctement couvertes est au moins 1−α1 - \alpha1−α</a:t>
            </a:r>
            <a:endParaRPr>
              <a:solidFill>
                <a:schemeClr val="dk1"/>
              </a:solidFill>
            </a:endParaRPr>
          </a:p>
          <a:p>
            <a:pPr indent="0" lvl="0" marL="0" rtl="0" algn="l">
              <a:lnSpc>
                <a:spcPct val="100000"/>
              </a:lnSpc>
              <a:spcBef>
                <a:spcPts val="1200"/>
              </a:spcBef>
              <a:spcAft>
                <a:spcPts val="0"/>
              </a:spcAft>
              <a:buSzPts val="1100"/>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882147642f_2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3882147642f_2_7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100"/>
              <a:buNone/>
            </a:pPr>
            <a:r>
              <a:rPr lang="en">
                <a:solidFill>
                  <a:schemeClr val="dk1"/>
                </a:solidFill>
              </a:rPr>
              <a:t>So our goal here is to adapt the AI model responsible for the detection a posteriori so that the predicted bounded boxes cover the GT with statistical guarantees.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As you can see here, this is what we want, in blue cyan we have the BBox originally computed by the object detector, then in red the GT and finally in orange the conformalized box that will be an improvement of the blue one.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In order to achieve that, we’ll apply conformal prediction on the object detection model’s output using the PUNCC library.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And we need to evaluate how the conformalization affects performance using dedicated, industrially relevant metrics.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8823e008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g38823e0080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100"/>
              <a:buNone/>
            </a:pPr>
            <a:r>
              <a:rPr lang="en">
                <a:solidFill>
                  <a:schemeClr val="dk1"/>
                </a:solidFill>
              </a:rPr>
              <a:t>So our goal here is to adapt the AI model responsible for the detection a posteriori so that the predicted bounded boxes cover the GT with statistical guarantees.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As you can see here, this is what we want, in blue cyan we have the BBox originally computed by the object detector, then in red the GT and finally in orange the conformalized box that will be an improvement of the blue one.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In order to achieve that, we’ll apply conformal prediction on the object detection model’s output using the PUNCC library.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And we need to evaluate how the conformalization affects performance using dedicated, industrially relevant metrics.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882147642f_2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g3882147642f_2_7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100"/>
              <a:buNone/>
            </a:pPr>
            <a:r>
              <a:rPr lang="en">
                <a:solidFill>
                  <a:schemeClr val="dk1"/>
                </a:solidFill>
              </a:rPr>
              <a:t>So our goal here is to adapt the AI model responsible for the detection a posteriori so that the predicted bounded boxes cover the GT with statistical guarantees.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As you can see here, this is what we want, in blue cyan we have the BBox originally computed by the object detector, then in red the GT and finally in orange the conformalized box that will be an improvement of the blue one.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In order to achieve that, we’ll apply conformal prediction on the object detection model’s output using the PUNCC library. </a:t>
            </a:r>
            <a:endParaRPr>
              <a:solidFill>
                <a:schemeClr val="dk1"/>
              </a:solidFill>
            </a:endParaRPr>
          </a:p>
          <a:p>
            <a:pPr indent="0" lvl="0" marL="0" rtl="0" algn="l">
              <a:lnSpc>
                <a:spcPct val="100000"/>
              </a:lnSpc>
              <a:spcBef>
                <a:spcPts val="1200"/>
              </a:spcBef>
              <a:spcAft>
                <a:spcPts val="0"/>
              </a:spcAft>
              <a:buSzPts val="1100"/>
              <a:buNone/>
            </a:pPr>
            <a:r>
              <a:rPr lang="en">
                <a:solidFill>
                  <a:schemeClr val="dk1"/>
                </a:solidFill>
              </a:rPr>
              <a:t>And we need to evaluate how the conformalization affects performance using dedicated, industrially relevant metrics.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content">
  <p:cSld name="New content">
    <p:spTree>
      <p:nvGrpSpPr>
        <p:cNvPr id="95" name="Shape 95"/>
        <p:cNvGrpSpPr/>
        <p:nvPr/>
      </p:nvGrpSpPr>
      <p:grpSpPr>
        <a:xfrm>
          <a:off x="0" y="0"/>
          <a:ext cx="0" cy="0"/>
          <a:chOff x="0" y="0"/>
          <a:chExt cx="0" cy="0"/>
        </a:xfrm>
      </p:grpSpPr>
      <p:sp>
        <p:nvSpPr>
          <p:cNvPr id="96" name="Google Shape;96;p25"/>
          <p:cNvSpPr/>
          <p:nvPr/>
        </p:nvSpPr>
        <p:spPr>
          <a:xfrm>
            <a:off x="7864888" y="483518"/>
            <a:ext cx="912274" cy="160044"/>
          </a:xfrm>
          <a:custGeom>
            <a:rect b="b" l="l" r="r" t="t"/>
            <a:pathLst>
              <a:path extrusionOk="0" h="160044" w="912274">
                <a:moveTo>
                  <a:pt x="0" y="160044"/>
                </a:moveTo>
                <a:lnTo>
                  <a:pt x="83665" y="0"/>
                </a:lnTo>
                <a:lnTo>
                  <a:pt x="912274" y="4595"/>
                </a:lnTo>
                <a:cubicBezTo>
                  <a:pt x="911190" y="56411"/>
                  <a:pt x="910105" y="108228"/>
                  <a:pt x="909021" y="160044"/>
                </a:cubicBezTo>
                <a:lnTo>
                  <a:pt x="0" y="160044"/>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 name="Google Shape;97;p25"/>
          <p:cNvSpPr txBox="1"/>
          <p:nvPr>
            <p:ph type="title"/>
          </p:nvPr>
        </p:nvSpPr>
        <p:spPr>
          <a:xfrm>
            <a:off x="311700" y="82125"/>
            <a:ext cx="7356600" cy="49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F3864"/>
              </a:buClr>
              <a:buSzPts val="2000"/>
              <a:buFont typeface="Roboto"/>
              <a:buNone/>
              <a:defRPr sz="2000">
                <a:solidFill>
                  <a:srgbClr val="1F3864"/>
                </a:solidFill>
                <a:latin typeface="Quattrocento Sans"/>
                <a:ea typeface="Quattrocento Sans"/>
                <a:cs typeface="Quattrocento Sans"/>
                <a:sym typeface="Quattrocento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p25"/>
          <p:cNvSpPr txBox="1"/>
          <p:nvPr>
            <p:ph idx="1" type="body"/>
          </p:nvPr>
        </p:nvSpPr>
        <p:spPr>
          <a:xfrm>
            <a:off x="311700" y="847675"/>
            <a:ext cx="8520600" cy="3968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Roboto"/>
              <a:buChar char="●"/>
              <a:defRPr>
                <a:latin typeface="Quattrocento Sans"/>
                <a:ea typeface="Quattrocento Sans"/>
                <a:cs typeface="Quattrocento Sans"/>
                <a:sym typeface="Quattrocento Sans"/>
              </a:defRPr>
            </a:lvl1pPr>
            <a:lvl2pPr indent="-317500" lvl="1" marL="914400" algn="l">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algn="l">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algn="l">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algn="l">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algn="l">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algn="l">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algn="l">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algn="l">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99" name="Google Shape;99;p25"/>
          <p:cNvSpPr txBox="1"/>
          <p:nvPr/>
        </p:nvSpPr>
        <p:spPr>
          <a:xfrm>
            <a:off x="8015032" y="5020056"/>
            <a:ext cx="1089600" cy="108600"/>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FE8F00"/>
              </a:buClr>
              <a:buSzPts val="700"/>
              <a:buFont typeface="Arial"/>
              <a:buNone/>
            </a:pPr>
            <a:r>
              <a:rPr b="1" i="0" lang="en" sz="700" u="none" cap="none" strike="noStrike">
                <a:solidFill>
                  <a:srgbClr val="FE5000"/>
                </a:solidFill>
                <a:latin typeface="Arial"/>
                <a:ea typeface="Arial"/>
                <a:cs typeface="Arial"/>
                <a:sym typeface="Arial"/>
              </a:rPr>
              <a:t>[ Airbus Amber ]</a:t>
            </a:r>
            <a:endParaRPr b="1" i="0" sz="700" u="none" cap="none" strike="noStrike">
              <a:solidFill>
                <a:srgbClr val="FE5000"/>
              </a:solidFill>
              <a:latin typeface="Arial"/>
              <a:ea typeface="Arial"/>
              <a:cs typeface="Arial"/>
              <a:sym typeface="Arial"/>
            </a:endParaRPr>
          </a:p>
        </p:txBody>
      </p:sp>
      <p:pic>
        <p:nvPicPr>
          <p:cNvPr id="100" name="Google Shape;100;p25"/>
          <p:cNvPicPr preferRelativeResize="0"/>
          <p:nvPr/>
        </p:nvPicPr>
        <p:blipFill rotWithShape="1">
          <a:blip r:embed="rId2">
            <a:alphaModFix/>
          </a:blip>
          <a:srcRect b="0" l="0" r="0" t="0"/>
          <a:stretch/>
        </p:blipFill>
        <p:spPr>
          <a:xfrm>
            <a:off x="7978200" y="76190"/>
            <a:ext cx="1089600" cy="37242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5.png"/><Relationship Id="rId6" Type="http://schemas.openxmlformats.org/officeDocument/2006/relationships/image" Target="../media/image4.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25.png"/><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4.png"/><Relationship Id="rId9" Type="http://schemas.openxmlformats.org/officeDocument/2006/relationships/image" Target="../media/image22.png"/><Relationship Id="rId5" Type="http://schemas.openxmlformats.org/officeDocument/2006/relationships/image" Target="../media/image18.png"/><Relationship Id="rId6" Type="http://schemas.openxmlformats.org/officeDocument/2006/relationships/image" Target="../media/image8.png"/><Relationship Id="rId7" Type="http://schemas.openxmlformats.org/officeDocument/2006/relationships/image" Target="../media/image12.gif"/><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9.gif"/><Relationship Id="rId5" Type="http://schemas.openxmlformats.org/officeDocument/2006/relationships/image" Target="../media/image4.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7.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24.png"/><Relationship Id="rId7" Type="http://schemas.openxmlformats.org/officeDocument/2006/relationships/image" Target="../media/image20.png"/><Relationship Id="rId8"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26"/>
          <p:cNvPicPr preferRelativeResize="0"/>
          <p:nvPr/>
        </p:nvPicPr>
        <p:blipFill rotWithShape="1">
          <a:blip r:embed="rId3">
            <a:alphaModFix/>
          </a:blip>
          <a:srcRect b="0" l="0" r="0" t="0"/>
          <a:stretch/>
        </p:blipFill>
        <p:spPr>
          <a:xfrm>
            <a:off x="2296177" y="2919715"/>
            <a:ext cx="2897198" cy="1930997"/>
          </a:xfrm>
          <a:prstGeom prst="rect">
            <a:avLst/>
          </a:prstGeom>
          <a:noFill/>
          <a:ln>
            <a:noFill/>
          </a:ln>
        </p:spPr>
      </p:pic>
      <p:sp>
        <p:nvSpPr>
          <p:cNvPr id="106" name="Google Shape;106;p26"/>
          <p:cNvSpPr/>
          <p:nvPr/>
        </p:nvSpPr>
        <p:spPr>
          <a:xfrm>
            <a:off x="3383075" y="1826742"/>
            <a:ext cx="1605900" cy="777900"/>
          </a:xfrm>
          <a:prstGeom prst="wedgeRoundRectCallout">
            <a:avLst>
              <a:gd fmla="val -20833" name="adj1"/>
              <a:gd fmla="val 62500" name="adj2"/>
              <a:gd fmla="val 0" name="adj3"/>
            </a:avLst>
          </a:prstGeom>
          <a:noFill/>
          <a:ln cap="flat" cmpd="sng" w="7225">
            <a:solidFill>
              <a:srgbClr val="000000"/>
            </a:solidFill>
            <a:prstDash val="solid"/>
            <a:round/>
            <a:headEnd len="sm" w="sm" type="none"/>
            <a:tailEnd len="sm" w="sm" type="none"/>
          </a:ln>
          <a:effectLst>
            <a:outerShdw blurRad="43333" rotWithShape="0" algn="bl" dir="5400000" dist="14444">
              <a:srgbClr val="000000">
                <a:alpha val="49411"/>
              </a:srgbClr>
            </a:outerShdw>
          </a:effectLst>
        </p:spPr>
        <p:txBody>
          <a:bodyPr anchorCtr="0" anchor="ctr" bIns="69350" lIns="69350" spcFirstLastPara="1" rIns="69350" wrap="square" tIns="69350">
            <a:noAutofit/>
          </a:bodyPr>
          <a:lstStyle/>
          <a:p>
            <a:pPr indent="0" lvl="0" marL="0" marR="0" rtl="0" algn="ctr">
              <a:lnSpc>
                <a:spcPct val="100000"/>
              </a:lnSpc>
              <a:spcBef>
                <a:spcPts val="0"/>
              </a:spcBef>
              <a:spcAft>
                <a:spcPts val="0"/>
              </a:spcAft>
              <a:buClr>
                <a:srgbClr val="000000"/>
              </a:buClr>
              <a:buSzPts val="1062"/>
              <a:buFont typeface="Arial"/>
              <a:buNone/>
            </a:pPr>
            <a:r>
              <a:t/>
            </a:r>
            <a:endParaRPr b="0" i="0" sz="1061" u="none" cap="none" strike="noStrike">
              <a:solidFill>
                <a:srgbClr val="000000"/>
              </a:solidFill>
              <a:latin typeface="Arial"/>
              <a:ea typeface="Arial"/>
              <a:cs typeface="Arial"/>
              <a:sym typeface="Arial"/>
            </a:endParaRPr>
          </a:p>
        </p:txBody>
      </p:sp>
      <p:sp>
        <p:nvSpPr>
          <p:cNvPr id="107" name="Google Shape;107;p26"/>
          <p:cNvSpPr txBox="1"/>
          <p:nvPr/>
        </p:nvSpPr>
        <p:spPr>
          <a:xfrm>
            <a:off x="6118650" y="708317"/>
            <a:ext cx="1431900" cy="735600"/>
          </a:xfrm>
          <a:prstGeom prst="rect">
            <a:avLst/>
          </a:prstGeom>
          <a:noFill/>
          <a:ln>
            <a:noFill/>
          </a:ln>
        </p:spPr>
        <p:txBody>
          <a:bodyPr anchorCtr="0" anchor="t" bIns="81700" lIns="81700" spcFirstLastPara="1" rIns="81700" wrap="square" tIns="81700">
            <a:noAutofit/>
          </a:bodyPr>
          <a:lstStyle/>
          <a:p>
            <a:pPr indent="0" lvl="0" marL="0" marR="0" rtl="0" algn="l">
              <a:lnSpc>
                <a:spcPct val="100000"/>
              </a:lnSpc>
              <a:spcBef>
                <a:spcPts val="0"/>
              </a:spcBef>
              <a:spcAft>
                <a:spcPts val="0"/>
              </a:spcAft>
              <a:buClr>
                <a:srgbClr val="000000"/>
              </a:buClr>
              <a:buSzPts val="1072"/>
              <a:buFont typeface="Arial"/>
              <a:buNone/>
            </a:pPr>
            <a:r>
              <a:rPr b="0" i="0" lang="en" sz="1072" u="none" cap="none" strike="noStrike">
                <a:solidFill>
                  <a:schemeClr val="dk1"/>
                </a:solidFill>
                <a:latin typeface="Lexend"/>
                <a:ea typeface="Lexend"/>
                <a:cs typeface="Lexend"/>
                <a:sym typeface="Lexend"/>
              </a:rPr>
              <a:t>Computation of TP, FP, FN for Recall and Precision</a:t>
            </a:r>
            <a:endParaRPr b="0" i="0" sz="1072" u="none" cap="none" strike="noStrike">
              <a:solidFill>
                <a:schemeClr val="dk1"/>
              </a:solidFill>
              <a:latin typeface="Lexend"/>
              <a:ea typeface="Lexend"/>
              <a:cs typeface="Lexend"/>
              <a:sym typeface="Lexend"/>
            </a:endParaRPr>
          </a:p>
        </p:txBody>
      </p:sp>
      <p:pic>
        <p:nvPicPr>
          <p:cNvPr id="108" name="Google Shape;108;p26" title="Capture d’écran 2025-05-10 à 16.22.15.png"/>
          <p:cNvPicPr preferRelativeResize="0"/>
          <p:nvPr/>
        </p:nvPicPr>
        <p:blipFill rotWithShape="1">
          <a:blip r:embed="rId4">
            <a:alphaModFix/>
          </a:blip>
          <a:srcRect b="0" l="0" r="27357" t="0"/>
          <a:stretch/>
        </p:blipFill>
        <p:spPr>
          <a:xfrm>
            <a:off x="84875" y="1884298"/>
            <a:ext cx="3151873" cy="889104"/>
          </a:xfrm>
          <a:prstGeom prst="rect">
            <a:avLst/>
          </a:prstGeom>
          <a:noFill/>
          <a:ln>
            <a:noFill/>
          </a:ln>
        </p:spPr>
      </p:pic>
      <p:sp>
        <p:nvSpPr>
          <p:cNvPr id="109" name="Google Shape;109;p26"/>
          <p:cNvSpPr/>
          <p:nvPr/>
        </p:nvSpPr>
        <p:spPr>
          <a:xfrm>
            <a:off x="1099871" y="3167840"/>
            <a:ext cx="1128600" cy="720900"/>
          </a:xfrm>
          <a:prstGeom prst="wedgeRoundRectCallout">
            <a:avLst>
              <a:gd fmla="val -20833" name="adj1"/>
              <a:gd fmla="val 62500" name="adj2"/>
              <a:gd fmla="val 0" name="adj3"/>
            </a:avLst>
          </a:prstGeom>
          <a:noFill/>
          <a:ln cap="flat" cmpd="sng" w="7975">
            <a:solidFill>
              <a:srgbClr val="000000"/>
            </a:solidFill>
            <a:prstDash val="solid"/>
            <a:round/>
            <a:headEnd len="sm" w="sm" type="none"/>
            <a:tailEnd len="sm" w="sm" type="none"/>
          </a:ln>
          <a:effectLst>
            <a:outerShdw blurRad="47799" rotWithShape="0" algn="bl" dir="5400000" dist="15933">
              <a:srgbClr val="000000">
                <a:alpha val="49411"/>
              </a:srgbClr>
            </a:outerShdw>
          </a:effectLst>
        </p:spPr>
        <p:txBody>
          <a:bodyPr anchorCtr="0" anchor="ctr" bIns="76475" lIns="76475" spcFirstLastPara="1" rIns="76475" wrap="square" tIns="76475">
            <a:noAutofit/>
          </a:bodyPr>
          <a:lstStyle/>
          <a:p>
            <a:pPr indent="0" lvl="0" marL="0" marR="0" rtl="0" algn="ctr">
              <a:lnSpc>
                <a:spcPct val="100000"/>
              </a:lnSpc>
              <a:spcBef>
                <a:spcPts val="0"/>
              </a:spcBef>
              <a:spcAft>
                <a:spcPts val="0"/>
              </a:spcAft>
              <a:buClr>
                <a:srgbClr val="000000"/>
              </a:buClr>
              <a:buSzPts val="1171"/>
              <a:buFont typeface="Arial"/>
              <a:buNone/>
            </a:pPr>
            <a:r>
              <a:t/>
            </a:r>
            <a:endParaRPr b="0" i="0" sz="1170" u="none" cap="none" strike="noStrike">
              <a:solidFill>
                <a:srgbClr val="000000"/>
              </a:solidFill>
              <a:latin typeface="Arial"/>
              <a:ea typeface="Arial"/>
              <a:cs typeface="Arial"/>
              <a:sym typeface="Arial"/>
            </a:endParaRPr>
          </a:p>
        </p:txBody>
      </p:sp>
      <p:sp>
        <p:nvSpPr>
          <p:cNvPr id="110" name="Google Shape;110;p26"/>
          <p:cNvSpPr txBox="1"/>
          <p:nvPr/>
        </p:nvSpPr>
        <p:spPr>
          <a:xfrm>
            <a:off x="1098491" y="3167192"/>
            <a:ext cx="1128600" cy="688800"/>
          </a:xfrm>
          <a:prstGeom prst="rect">
            <a:avLst/>
          </a:prstGeom>
          <a:noFill/>
          <a:ln>
            <a:noFill/>
          </a:ln>
        </p:spPr>
        <p:txBody>
          <a:bodyPr anchorCtr="0" anchor="t" bIns="76475" lIns="76475" spcFirstLastPara="1" rIns="76475" wrap="square" tIns="76475">
            <a:noAutofit/>
          </a:bodyPr>
          <a:lstStyle/>
          <a:p>
            <a:pPr indent="0" lvl="0" marL="0" marR="0" rtl="0" algn="l">
              <a:lnSpc>
                <a:spcPct val="100000"/>
              </a:lnSpc>
              <a:spcBef>
                <a:spcPts val="0"/>
              </a:spcBef>
              <a:spcAft>
                <a:spcPts val="0"/>
              </a:spcAft>
              <a:buClr>
                <a:srgbClr val="000000"/>
              </a:buClr>
              <a:buSzPts val="1004"/>
              <a:buFont typeface="Arial"/>
              <a:buNone/>
            </a:pPr>
            <a:r>
              <a:rPr b="0" i="0" lang="en" sz="1003" u="none" cap="none" strike="noStrike">
                <a:solidFill>
                  <a:schemeClr val="dk1"/>
                </a:solidFill>
                <a:latin typeface="Lexend"/>
                <a:ea typeface="Lexend"/>
                <a:cs typeface="Lexend"/>
                <a:sym typeface="Lexend"/>
              </a:rPr>
              <a:t>Construct interpolated precision-recall curve</a:t>
            </a:r>
            <a:endParaRPr b="0" i="0" sz="1003" u="none" cap="none" strike="noStrike">
              <a:solidFill>
                <a:schemeClr val="dk1"/>
              </a:solidFill>
              <a:latin typeface="Lexend"/>
              <a:ea typeface="Lexend"/>
              <a:cs typeface="Lexend"/>
              <a:sym typeface="Lexend"/>
            </a:endParaRPr>
          </a:p>
        </p:txBody>
      </p:sp>
      <p:sp>
        <p:nvSpPr>
          <p:cNvPr id="111" name="Google Shape;111;p26"/>
          <p:cNvSpPr/>
          <p:nvPr/>
        </p:nvSpPr>
        <p:spPr>
          <a:xfrm>
            <a:off x="6118651" y="709010"/>
            <a:ext cx="1431900" cy="644400"/>
          </a:xfrm>
          <a:prstGeom prst="wedgeRoundRectCallout">
            <a:avLst>
              <a:gd fmla="val -20833" name="adj1"/>
              <a:gd fmla="val 62500" name="adj2"/>
              <a:gd fmla="val 0" name="adj3"/>
            </a:avLst>
          </a:prstGeom>
          <a:noFill/>
          <a:ln cap="flat" cmpd="sng" w="8525">
            <a:solidFill>
              <a:srgbClr val="000000"/>
            </a:solidFill>
            <a:prstDash val="solid"/>
            <a:round/>
            <a:headEnd len="sm" w="sm" type="none"/>
            <a:tailEnd len="sm" w="sm" type="none"/>
          </a:ln>
          <a:effectLst>
            <a:outerShdw blurRad="51062" rotWithShape="0" algn="bl" dir="5400000" dist="17021">
              <a:srgbClr val="000000">
                <a:alpha val="49411"/>
              </a:srgbClr>
            </a:outerShdw>
          </a:effectLst>
        </p:spPr>
        <p:txBody>
          <a:bodyPr anchorCtr="0" anchor="ctr" bIns="81700" lIns="81700" spcFirstLastPara="1" rIns="81700" wrap="square" tIns="81700">
            <a:noAutofit/>
          </a:bodyPr>
          <a:lstStyle/>
          <a:p>
            <a:pPr indent="0" lvl="0" marL="0" marR="0" rtl="0" algn="ctr">
              <a:lnSpc>
                <a:spcPct val="100000"/>
              </a:lnSpc>
              <a:spcBef>
                <a:spcPts val="0"/>
              </a:spcBef>
              <a:spcAft>
                <a:spcPts val="0"/>
              </a:spcAft>
              <a:buClr>
                <a:srgbClr val="000000"/>
              </a:buClr>
              <a:buSzPts val="1251"/>
              <a:buFont typeface="Arial"/>
              <a:buNone/>
            </a:pPr>
            <a:r>
              <a:t/>
            </a:r>
            <a:endParaRPr b="0" i="0" sz="1250" u="none" cap="none" strike="noStrike">
              <a:solidFill>
                <a:srgbClr val="000000"/>
              </a:solidFill>
              <a:latin typeface="Arial"/>
              <a:ea typeface="Arial"/>
              <a:cs typeface="Arial"/>
              <a:sym typeface="Arial"/>
            </a:endParaRPr>
          </a:p>
        </p:txBody>
      </p:sp>
      <p:grpSp>
        <p:nvGrpSpPr>
          <p:cNvPr id="112" name="Google Shape;112;p26"/>
          <p:cNvGrpSpPr/>
          <p:nvPr/>
        </p:nvGrpSpPr>
        <p:grpSpPr>
          <a:xfrm>
            <a:off x="91146" y="807916"/>
            <a:ext cx="230036" cy="266152"/>
            <a:chOff x="225325" y="3706500"/>
            <a:chExt cx="266400" cy="308225"/>
          </a:xfrm>
        </p:grpSpPr>
        <p:sp>
          <p:nvSpPr>
            <p:cNvPr id="113" name="Google Shape;113;p26"/>
            <p:cNvSpPr/>
            <p:nvPr/>
          </p:nvSpPr>
          <p:spPr>
            <a:xfrm>
              <a:off x="225325" y="3769025"/>
              <a:ext cx="266400" cy="245700"/>
            </a:xfrm>
            <a:prstGeom prst="ellipse">
              <a:avLst/>
            </a:prstGeom>
            <a:solidFill>
              <a:schemeClr val="lt2"/>
            </a:solidFill>
            <a:ln cap="flat" cmpd="sng" w="8225">
              <a:solidFill>
                <a:schemeClr val="dk2"/>
              </a:solidFill>
              <a:prstDash val="solid"/>
              <a:round/>
              <a:headEnd len="sm" w="sm" type="none"/>
              <a:tailEnd len="sm" w="sm" type="none"/>
            </a:ln>
          </p:spPr>
          <p:txBody>
            <a:bodyPr anchorCtr="0" anchor="ctr" bIns="78950" lIns="78950" spcFirstLastPara="1" rIns="78950" wrap="square" tIns="78950">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8" u="none" cap="none" strike="noStrike">
                <a:solidFill>
                  <a:srgbClr val="000000"/>
                </a:solidFill>
                <a:latin typeface="Arial"/>
                <a:ea typeface="Arial"/>
                <a:cs typeface="Arial"/>
                <a:sym typeface="Arial"/>
              </a:endParaRPr>
            </a:p>
          </p:txBody>
        </p:sp>
        <p:sp>
          <p:nvSpPr>
            <p:cNvPr id="114" name="Google Shape;114;p26"/>
            <p:cNvSpPr txBox="1"/>
            <p:nvPr/>
          </p:nvSpPr>
          <p:spPr>
            <a:xfrm>
              <a:off x="225325" y="3706500"/>
              <a:ext cx="266400" cy="287400"/>
            </a:xfrm>
            <a:prstGeom prst="rect">
              <a:avLst/>
            </a:prstGeom>
            <a:noFill/>
            <a:ln>
              <a:noFill/>
            </a:ln>
          </p:spPr>
          <p:txBody>
            <a:bodyPr anchorCtr="0" anchor="t" bIns="78950" lIns="78950" spcFirstLastPara="1" rIns="78950" wrap="square" tIns="78950">
              <a:noAutofit/>
            </a:bodyPr>
            <a:lstStyle/>
            <a:p>
              <a:pPr indent="0" lvl="0" marL="0" marR="0" rtl="0" algn="l">
                <a:lnSpc>
                  <a:spcPct val="100000"/>
                </a:lnSpc>
                <a:spcBef>
                  <a:spcPts val="0"/>
                </a:spcBef>
                <a:spcAft>
                  <a:spcPts val="0"/>
                </a:spcAft>
                <a:buClr>
                  <a:srgbClr val="000000"/>
                </a:buClr>
                <a:buSzPts val="1036"/>
                <a:buFont typeface="Arial"/>
                <a:buNone/>
              </a:pPr>
              <a:r>
                <a:rPr b="1" i="0" lang="en" sz="1036" u="none" cap="none" strike="noStrike">
                  <a:solidFill>
                    <a:schemeClr val="dk1"/>
                  </a:solidFill>
                  <a:latin typeface="Arial"/>
                  <a:ea typeface="Arial"/>
                  <a:cs typeface="Arial"/>
                  <a:sym typeface="Arial"/>
                </a:rPr>
                <a:t>1</a:t>
              </a:r>
              <a:endParaRPr b="1" i="0" sz="1036" u="none" cap="none" strike="noStrike">
                <a:solidFill>
                  <a:schemeClr val="dk1"/>
                </a:solidFill>
                <a:latin typeface="Arial"/>
                <a:ea typeface="Arial"/>
                <a:cs typeface="Arial"/>
                <a:sym typeface="Arial"/>
              </a:endParaRPr>
            </a:p>
          </p:txBody>
        </p:sp>
      </p:grpSp>
      <p:grpSp>
        <p:nvGrpSpPr>
          <p:cNvPr id="115" name="Google Shape;115;p26"/>
          <p:cNvGrpSpPr/>
          <p:nvPr/>
        </p:nvGrpSpPr>
        <p:grpSpPr>
          <a:xfrm>
            <a:off x="90428" y="1919617"/>
            <a:ext cx="235817" cy="272841"/>
            <a:chOff x="225325" y="3706500"/>
            <a:chExt cx="266400" cy="308225"/>
          </a:xfrm>
        </p:grpSpPr>
        <p:sp>
          <p:nvSpPr>
            <p:cNvPr id="116" name="Google Shape;116;p26"/>
            <p:cNvSpPr/>
            <p:nvPr/>
          </p:nvSpPr>
          <p:spPr>
            <a:xfrm>
              <a:off x="225325" y="3769025"/>
              <a:ext cx="266400" cy="245700"/>
            </a:xfrm>
            <a:prstGeom prst="ellipse">
              <a:avLst/>
            </a:prstGeom>
            <a:solidFill>
              <a:schemeClr val="lt2"/>
            </a:solidFill>
            <a:ln cap="flat" cmpd="sng" w="8425">
              <a:solidFill>
                <a:schemeClr val="dk2"/>
              </a:solidFill>
              <a:prstDash val="solid"/>
              <a:round/>
              <a:headEnd len="sm" w="sm" type="none"/>
              <a:tailEnd len="sm" w="sm" type="none"/>
            </a:ln>
          </p:spPr>
          <p:txBody>
            <a:bodyPr anchorCtr="0" anchor="ctr" bIns="80950" lIns="80950" spcFirstLastPara="1" rIns="80950" wrap="square" tIns="80950">
              <a:noAutofit/>
            </a:bodyPr>
            <a:lstStyle/>
            <a:p>
              <a:pPr indent="0" lvl="0" marL="0" marR="0" rtl="0" algn="ctr">
                <a:lnSpc>
                  <a:spcPct val="100000"/>
                </a:lnSpc>
                <a:spcBef>
                  <a:spcPts val="0"/>
                </a:spcBef>
                <a:spcAft>
                  <a:spcPts val="0"/>
                </a:spcAft>
                <a:buClr>
                  <a:srgbClr val="000000"/>
                </a:buClr>
                <a:buSzPts val="1239"/>
                <a:buFont typeface="Arial"/>
                <a:buNone/>
              </a:pPr>
              <a:r>
                <a:t/>
              </a:r>
              <a:endParaRPr b="0" i="0" sz="1239" u="none" cap="none" strike="noStrike">
                <a:solidFill>
                  <a:srgbClr val="000000"/>
                </a:solidFill>
                <a:latin typeface="Arial"/>
                <a:ea typeface="Arial"/>
                <a:cs typeface="Arial"/>
                <a:sym typeface="Arial"/>
              </a:endParaRPr>
            </a:p>
          </p:txBody>
        </p:sp>
        <p:sp>
          <p:nvSpPr>
            <p:cNvPr id="117" name="Google Shape;117;p26"/>
            <p:cNvSpPr txBox="1"/>
            <p:nvPr/>
          </p:nvSpPr>
          <p:spPr>
            <a:xfrm>
              <a:off x="225325" y="3706500"/>
              <a:ext cx="266400" cy="287400"/>
            </a:xfrm>
            <a:prstGeom prst="rect">
              <a:avLst/>
            </a:prstGeom>
            <a:noFill/>
            <a:ln>
              <a:noFill/>
            </a:ln>
          </p:spPr>
          <p:txBody>
            <a:bodyPr anchorCtr="0" anchor="t" bIns="80950" lIns="80950" spcFirstLastPara="1" rIns="80950" wrap="square" tIns="80950">
              <a:noAutofit/>
            </a:bodyPr>
            <a:lstStyle/>
            <a:p>
              <a:pPr indent="0" lvl="0" marL="0" marR="0" rtl="0" algn="l">
                <a:lnSpc>
                  <a:spcPct val="100000"/>
                </a:lnSpc>
                <a:spcBef>
                  <a:spcPts val="0"/>
                </a:spcBef>
                <a:spcAft>
                  <a:spcPts val="0"/>
                </a:spcAft>
                <a:buClr>
                  <a:srgbClr val="000000"/>
                </a:buClr>
                <a:buSzPts val="1062"/>
                <a:buFont typeface="Arial"/>
                <a:buNone/>
              </a:pPr>
              <a:r>
                <a:rPr b="1" i="0" lang="en" sz="1062" u="none" cap="none" strike="noStrike">
                  <a:solidFill>
                    <a:schemeClr val="dk1"/>
                  </a:solidFill>
                  <a:latin typeface="Arial"/>
                  <a:ea typeface="Arial"/>
                  <a:cs typeface="Arial"/>
                  <a:sym typeface="Arial"/>
                </a:rPr>
                <a:t>2</a:t>
              </a:r>
              <a:endParaRPr b="1" i="0" sz="1062" u="none" cap="none" strike="noStrike">
                <a:solidFill>
                  <a:schemeClr val="dk1"/>
                </a:solidFill>
                <a:latin typeface="Arial"/>
                <a:ea typeface="Arial"/>
                <a:cs typeface="Arial"/>
                <a:sym typeface="Arial"/>
              </a:endParaRPr>
            </a:p>
          </p:txBody>
        </p:sp>
      </p:grpSp>
      <p:grpSp>
        <p:nvGrpSpPr>
          <p:cNvPr id="118" name="Google Shape;118;p26"/>
          <p:cNvGrpSpPr/>
          <p:nvPr/>
        </p:nvGrpSpPr>
        <p:grpSpPr>
          <a:xfrm>
            <a:off x="6114459" y="1536822"/>
            <a:ext cx="238028" cy="275399"/>
            <a:chOff x="225325" y="3706500"/>
            <a:chExt cx="266400" cy="308225"/>
          </a:xfrm>
        </p:grpSpPr>
        <p:sp>
          <p:nvSpPr>
            <p:cNvPr id="119" name="Google Shape;119;p26"/>
            <p:cNvSpPr/>
            <p:nvPr/>
          </p:nvSpPr>
          <p:spPr>
            <a:xfrm>
              <a:off x="225325" y="3769025"/>
              <a:ext cx="266400" cy="245700"/>
            </a:xfrm>
            <a:prstGeom prst="ellipse">
              <a:avLst/>
            </a:prstGeom>
            <a:solidFill>
              <a:schemeClr val="lt2"/>
            </a:solidFill>
            <a:ln cap="flat" cmpd="sng" w="8525">
              <a:solidFill>
                <a:schemeClr val="dk2"/>
              </a:solidFill>
              <a:prstDash val="solid"/>
              <a:round/>
              <a:headEnd len="sm" w="sm" type="none"/>
              <a:tailEnd len="sm" w="sm" type="none"/>
            </a:ln>
          </p:spPr>
          <p:txBody>
            <a:bodyPr anchorCtr="0" anchor="ctr" bIns="81700" lIns="81700" spcFirstLastPara="1" rIns="81700" wrap="square" tIns="81700">
              <a:noAutofit/>
            </a:bodyPr>
            <a:lstStyle/>
            <a:p>
              <a:pPr indent="0" lvl="0" marL="0" marR="0" rtl="0" algn="ctr">
                <a:lnSpc>
                  <a:spcPct val="100000"/>
                </a:lnSpc>
                <a:spcBef>
                  <a:spcPts val="0"/>
                </a:spcBef>
                <a:spcAft>
                  <a:spcPts val="0"/>
                </a:spcAft>
                <a:buClr>
                  <a:srgbClr val="000000"/>
                </a:buClr>
                <a:buSzPts val="1251"/>
                <a:buFont typeface="Arial"/>
                <a:buNone/>
              </a:pPr>
              <a:r>
                <a:t/>
              </a:r>
              <a:endParaRPr b="0" i="0" sz="1250" u="none" cap="none" strike="noStrike">
                <a:solidFill>
                  <a:srgbClr val="000000"/>
                </a:solidFill>
                <a:latin typeface="Arial"/>
                <a:ea typeface="Arial"/>
                <a:cs typeface="Arial"/>
                <a:sym typeface="Arial"/>
              </a:endParaRPr>
            </a:p>
          </p:txBody>
        </p:sp>
        <p:sp>
          <p:nvSpPr>
            <p:cNvPr id="120" name="Google Shape;120;p26"/>
            <p:cNvSpPr txBox="1"/>
            <p:nvPr/>
          </p:nvSpPr>
          <p:spPr>
            <a:xfrm>
              <a:off x="225325" y="3706500"/>
              <a:ext cx="266400" cy="287400"/>
            </a:xfrm>
            <a:prstGeom prst="rect">
              <a:avLst/>
            </a:prstGeom>
            <a:noFill/>
            <a:ln>
              <a:noFill/>
            </a:ln>
          </p:spPr>
          <p:txBody>
            <a:bodyPr anchorCtr="0" anchor="t" bIns="81700" lIns="81700" spcFirstLastPara="1" rIns="81700" wrap="square" tIns="81700">
              <a:noAutofit/>
            </a:bodyPr>
            <a:lstStyle/>
            <a:p>
              <a:pPr indent="0" lvl="0" marL="0" marR="0" rtl="0" algn="l">
                <a:lnSpc>
                  <a:spcPct val="100000"/>
                </a:lnSpc>
                <a:spcBef>
                  <a:spcPts val="0"/>
                </a:spcBef>
                <a:spcAft>
                  <a:spcPts val="0"/>
                </a:spcAft>
                <a:buClr>
                  <a:srgbClr val="000000"/>
                </a:buClr>
                <a:buSzPts val="1072"/>
                <a:buFont typeface="Arial"/>
                <a:buNone/>
              </a:pPr>
              <a:r>
                <a:rPr b="1" i="0" lang="en" sz="1072" u="none" cap="none" strike="noStrike">
                  <a:solidFill>
                    <a:schemeClr val="dk1"/>
                  </a:solidFill>
                  <a:latin typeface="Arial"/>
                  <a:ea typeface="Arial"/>
                  <a:cs typeface="Arial"/>
                  <a:sym typeface="Arial"/>
                </a:rPr>
                <a:t>3</a:t>
              </a:r>
              <a:endParaRPr b="1" i="0" sz="1072" u="none" cap="none" strike="noStrike">
                <a:solidFill>
                  <a:schemeClr val="dk1"/>
                </a:solidFill>
                <a:latin typeface="Arial"/>
                <a:ea typeface="Arial"/>
                <a:cs typeface="Arial"/>
                <a:sym typeface="Arial"/>
              </a:endParaRPr>
            </a:p>
          </p:txBody>
        </p:sp>
      </p:grpSp>
      <p:pic>
        <p:nvPicPr>
          <p:cNvPr id="121" name="Google Shape;121;p26" title="Capture d’écran 2025-05-10 à 16.20.29.png"/>
          <p:cNvPicPr preferRelativeResize="0"/>
          <p:nvPr/>
        </p:nvPicPr>
        <p:blipFill rotWithShape="1">
          <a:blip r:embed="rId5">
            <a:alphaModFix/>
          </a:blip>
          <a:srcRect b="0" l="0" r="33581" t="0"/>
          <a:stretch/>
        </p:blipFill>
        <p:spPr>
          <a:xfrm>
            <a:off x="321191" y="648570"/>
            <a:ext cx="2715007" cy="1026051"/>
          </a:xfrm>
          <a:prstGeom prst="rect">
            <a:avLst/>
          </a:prstGeom>
          <a:noFill/>
          <a:ln>
            <a:noFill/>
          </a:ln>
        </p:spPr>
      </p:pic>
      <p:pic>
        <p:nvPicPr>
          <p:cNvPr id="122" name="Google Shape;122;p26"/>
          <p:cNvPicPr preferRelativeResize="0"/>
          <p:nvPr/>
        </p:nvPicPr>
        <p:blipFill rotWithShape="1">
          <a:blip r:embed="rId6">
            <a:alphaModFix/>
          </a:blip>
          <a:srcRect b="0" l="0" r="0" t="25506"/>
          <a:stretch/>
        </p:blipFill>
        <p:spPr>
          <a:xfrm>
            <a:off x="7659365" y="719012"/>
            <a:ext cx="1205710" cy="1253273"/>
          </a:xfrm>
          <a:prstGeom prst="rect">
            <a:avLst/>
          </a:prstGeom>
          <a:noFill/>
          <a:ln>
            <a:noFill/>
          </a:ln>
        </p:spPr>
      </p:pic>
      <p:pic>
        <p:nvPicPr>
          <p:cNvPr id="123" name="Google Shape;123;p26"/>
          <p:cNvPicPr preferRelativeResize="0"/>
          <p:nvPr/>
        </p:nvPicPr>
        <p:blipFill rotWithShape="1">
          <a:blip r:embed="rId6">
            <a:alphaModFix/>
          </a:blip>
          <a:srcRect b="0" l="0" r="0" t="25506"/>
          <a:stretch/>
        </p:blipFill>
        <p:spPr>
          <a:xfrm>
            <a:off x="7659365" y="2070532"/>
            <a:ext cx="1205710" cy="1253273"/>
          </a:xfrm>
          <a:prstGeom prst="rect">
            <a:avLst/>
          </a:prstGeom>
          <a:noFill/>
          <a:ln>
            <a:noFill/>
          </a:ln>
        </p:spPr>
      </p:pic>
      <p:pic>
        <p:nvPicPr>
          <p:cNvPr id="124" name="Google Shape;124;p26"/>
          <p:cNvPicPr preferRelativeResize="0"/>
          <p:nvPr/>
        </p:nvPicPr>
        <p:blipFill rotWithShape="1">
          <a:blip r:embed="rId6">
            <a:alphaModFix/>
          </a:blip>
          <a:srcRect b="0" l="0" r="0" t="25506"/>
          <a:stretch/>
        </p:blipFill>
        <p:spPr>
          <a:xfrm>
            <a:off x="7659365" y="3422061"/>
            <a:ext cx="1205710" cy="1253264"/>
          </a:xfrm>
          <a:prstGeom prst="rect">
            <a:avLst/>
          </a:prstGeom>
          <a:noFill/>
          <a:ln>
            <a:noFill/>
          </a:ln>
        </p:spPr>
      </p:pic>
      <p:sp>
        <p:nvSpPr>
          <p:cNvPr id="125" name="Google Shape;125;p26"/>
          <p:cNvSpPr/>
          <p:nvPr/>
        </p:nvSpPr>
        <p:spPr>
          <a:xfrm>
            <a:off x="7906142" y="927685"/>
            <a:ext cx="712200" cy="613500"/>
          </a:xfrm>
          <a:prstGeom prst="rect">
            <a:avLst/>
          </a:prstGeom>
          <a:noFill/>
          <a:ln cap="flat" cmpd="sng" w="17025">
            <a:solidFill>
              <a:srgbClr val="C00000"/>
            </a:solidFill>
            <a:prstDash val="solid"/>
            <a:round/>
            <a:headEnd len="sm" w="sm" type="none"/>
            <a:tailEnd len="sm" w="sm" type="none"/>
          </a:ln>
          <a:effectLst>
            <a:outerShdw blurRad="51062" rotWithShape="0" algn="bl" dir="5400000" dist="17021">
              <a:srgbClr val="000000">
                <a:alpha val="49411"/>
              </a:srgbClr>
            </a:outerShdw>
          </a:effectLst>
        </p:spPr>
        <p:txBody>
          <a:bodyPr anchorCtr="0" anchor="ctr" bIns="81700" lIns="81700" spcFirstLastPara="1" rIns="81700" wrap="square" tIns="81700">
            <a:noAutofit/>
          </a:bodyPr>
          <a:lstStyle/>
          <a:p>
            <a:pPr indent="0" lvl="0" marL="0" marR="0" rtl="0" algn="ctr">
              <a:lnSpc>
                <a:spcPct val="100000"/>
              </a:lnSpc>
              <a:spcBef>
                <a:spcPts val="0"/>
              </a:spcBef>
              <a:spcAft>
                <a:spcPts val="0"/>
              </a:spcAft>
              <a:buClr>
                <a:srgbClr val="000000"/>
              </a:buClr>
              <a:buSzPts val="1251"/>
              <a:buFont typeface="Arial"/>
              <a:buNone/>
            </a:pPr>
            <a:r>
              <a:t/>
            </a:r>
            <a:endParaRPr b="0" i="0" sz="1250" u="none" cap="none" strike="noStrike">
              <a:solidFill>
                <a:srgbClr val="000000"/>
              </a:solidFill>
              <a:latin typeface="Arial"/>
              <a:ea typeface="Arial"/>
              <a:cs typeface="Arial"/>
              <a:sym typeface="Arial"/>
            </a:endParaRPr>
          </a:p>
        </p:txBody>
      </p:sp>
      <p:sp>
        <p:nvSpPr>
          <p:cNvPr id="126" name="Google Shape;126;p26"/>
          <p:cNvSpPr/>
          <p:nvPr/>
        </p:nvSpPr>
        <p:spPr>
          <a:xfrm>
            <a:off x="7846391" y="991037"/>
            <a:ext cx="820200" cy="589200"/>
          </a:xfrm>
          <a:prstGeom prst="rect">
            <a:avLst/>
          </a:prstGeom>
          <a:noFill/>
          <a:ln cap="flat" cmpd="sng" w="17025">
            <a:solidFill>
              <a:srgbClr val="00FFFF"/>
            </a:solidFill>
            <a:prstDash val="solid"/>
            <a:round/>
            <a:headEnd len="sm" w="sm" type="none"/>
            <a:tailEnd len="sm" w="sm" type="none"/>
          </a:ln>
          <a:effectLst>
            <a:outerShdw blurRad="51062" rotWithShape="0" algn="bl" dir="5400000" dist="17021">
              <a:srgbClr val="000000">
                <a:alpha val="49411"/>
              </a:srgbClr>
            </a:outerShdw>
          </a:effectLst>
        </p:spPr>
        <p:txBody>
          <a:bodyPr anchorCtr="0" anchor="ctr" bIns="81700" lIns="81700" spcFirstLastPara="1" rIns="81700" wrap="square" tIns="81700">
            <a:noAutofit/>
          </a:bodyPr>
          <a:lstStyle/>
          <a:p>
            <a:pPr indent="0" lvl="0" marL="0" marR="0" rtl="0" algn="ctr">
              <a:lnSpc>
                <a:spcPct val="100000"/>
              </a:lnSpc>
              <a:spcBef>
                <a:spcPts val="0"/>
              </a:spcBef>
              <a:spcAft>
                <a:spcPts val="0"/>
              </a:spcAft>
              <a:buClr>
                <a:srgbClr val="000000"/>
              </a:buClr>
              <a:buSzPts val="1251"/>
              <a:buFont typeface="Arial"/>
              <a:buNone/>
            </a:pPr>
            <a:r>
              <a:t/>
            </a:r>
            <a:endParaRPr b="0" i="0" sz="1250" u="none" cap="none" strike="noStrike">
              <a:solidFill>
                <a:srgbClr val="000000"/>
              </a:solidFill>
              <a:latin typeface="Arial"/>
              <a:ea typeface="Arial"/>
              <a:cs typeface="Arial"/>
              <a:sym typeface="Arial"/>
            </a:endParaRPr>
          </a:p>
        </p:txBody>
      </p:sp>
      <p:sp>
        <p:nvSpPr>
          <p:cNvPr id="127" name="Google Shape;127;p26"/>
          <p:cNvSpPr/>
          <p:nvPr/>
        </p:nvSpPr>
        <p:spPr>
          <a:xfrm>
            <a:off x="7900401" y="2258513"/>
            <a:ext cx="712200" cy="613500"/>
          </a:xfrm>
          <a:prstGeom prst="rect">
            <a:avLst/>
          </a:prstGeom>
          <a:noFill/>
          <a:ln cap="flat" cmpd="sng" w="17025">
            <a:solidFill>
              <a:srgbClr val="C00000"/>
            </a:solidFill>
            <a:prstDash val="solid"/>
            <a:round/>
            <a:headEnd len="sm" w="sm" type="none"/>
            <a:tailEnd len="sm" w="sm" type="none"/>
          </a:ln>
          <a:effectLst>
            <a:outerShdw blurRad="51062" rotWithShape="0" algn="bl" dir="5400000" dist="17021">
              <a:srgbClr val="000000">
                <a:alpha val="49411"/>
              </a:srgbClr>
            </a:outerShdw>
          </a:effectLst>
        </p:spPr>
        <p:txBody>
          <a:bodyPr anchorCtr="0" anchor="ctr" bIns="81700" lIns="81700" spcFirstLastPara="1" rIns="81700" wrap="square" tIns="81700">
            <a:noAutofit/>
          </a:bodyPr>
          <a:lstStyle/>
          <a:p>
            <a:pPr indent="0" lvl="0" marL="0" marR="0" rtl="0" algn="ctr">
              <a:lnSpc>
                <a:spcPct val="100000"/>
              </a:lnSpc>
              <a:spcBef>
                <a:spcPts val="0"/>
              </a:spcBef>
              <a:spcAft>
                <a:spcPts val="0"/>
              </a:spcAft>
              <a:buClr>
                <a:srgbClr val="000000"/>
              </a:buClr>
              <a:buSzPts val="1251"/>
              <a:buFont typeface="Arial"/>
              <a:buNone/>
            </a:pPr>
            <a:r>
              <a:t/>
            </a:r>
            <a:endParaRPr b="0" i="0" sz="1250" u="none" cap="none" strike="noStrike">
              <a:solidFill>
                <a:srgbClr val="000000"/>
              </a:solidFill>
              <a:latin typeface="Arial"/>
              <a:ea typeface="Arial"/>
              <a:cs typeface="Arial"/>
              <a:sym typeface="Arial"/>
            </a:endParaRPr>
          </a:p>
        </p:txBody>
      </p:sp>
      <p:sp>
        <p:nvSpPr>
          <p:cNvPr id="128" name="Google Shape;128;p26"/>
          <p:cNvSpPr/>
          <p:nvPr/>
        </p:nvSpPr>
        <p:spPr>
          <a:xfrm>
            <a:off x="7900401" y="3616457"/>
            <a:ext cx="712200" cy="613500"/>
          </a:xfrm>
          <a:prstGeom prst="rect">
            <a:avLst/>
          </a:prstGeom>
          <a:noFill/>
          <a:ln cap="flat" cmpd="sng" w="17025">
            <a:solidFill>
              <a:srgbClr val="C00000"/>
            </a:solidFill>
            <a:prstDash val="solid"/>
            <a:round/>
            <a:headEnd len="sm" w="sm" type="none"/>
            <a:tailEnd len="sm" w="sm" type="none"/>
          </a:ln>
          <a:effectLst>
            <a:outerShdw blurRad="51062" rotWithShape="0" algn="bl" dir="5400000" dist="17021">
              <a:srgbClr val="000000">
                <a:alpha val="49411"/>
              </a:srgbClr>
            </a:outerShdw>
          </a:effectLst>
        </p:spPr>
        <p:txBody>
          <a:bodyPr anchorCtr="0" anchor="ctr" bIns="81700" lIns="81700" spcFirstLastPara="1" rIns="81700" wrap="square" tIns="81700">
            <a:noAutofit/>
          </a:bodyPr>
          <a:lstStyle/>
          <a:p>
            <a:pPr indent="0" lvl="0" marL="0" marR="0" rtl="0" algn="ctr">
              <a:lnSpc>
                <a:spcPct val="100000"/>
              </a:lnSpc>
              <a:spcBef>
                <a:spcPts val="0"/>
              </a:spcBef>
              <a:spcAft>
                <a:spcPts val="0"/>
              </a:spcAft>
              <a:buClr>
                <a:srgbClr val="000000"/>
              </a:buClr>
              <a:buSzPts val="1251"/>
              <a:buFont typeface="Arial"/>
              <a:buNone/>
            </a:pPr>
            <a:r>
              <a:t/>
            </a:r>
            <a:endParaRPr b="0" i="0" sz="1250" u="none" cap="none" strike="noStrike">
              <a:solidFill>
                <a:srgbClr val="000000"/>
              </a:solidFill>
              <a:latin typeface="Arial"/>
              <a:ea typeface="Arial"/>
              <a:cs typeface="Arial"/>
              <a:sym typeface="Arial"/>
            </a:endParaRPr>
          </a:p>
        </p:txBody>
      </p:sp>
      <p:sp>
        <p:nvSpPr>
          <p:cNvPr id="129" name="Google Shape;129;p26"/>
          <p:cNvSpPr/>
          <p:nvPr/>
        </p:nvSpPr>
        <p:spPr>
          <a:xfrm>
            <a:off x="7817577" y="2478986"/>
            <a:ext cx="628500" cy="436200"/>
          </a:xfrm>
          <a:prstGeom prst="rect">
            <a:avLst/>
          </a:prstGeom>
          <a:noFill/>
          <a:ln cap="flat" cmpd="sng" w="17025">
            <a:solidFill>
              <a:srgbClr val="00FFFF"/>
            </a:solidFill>
            <a:prstDash val="solid"/>
            <a:round/>
            <a:headEnd len="sm" w="sm" type="none"/>
            <a:tailEnd len="sm" w="sm" type="none"/>
          </a:ln>
          <a:effectLst>
            <a:outerShdw blurRad="51062" rotWithShape="0" algn="bl" dir="5400000" dist="17021">
              <a:srgbClr val="000000">
                <a:alpha val="49411"/>
              </a:srgbClr>
            </a:outerShdw>
          </a:effectLst>
        </p:spPr>
        <p:txBody>
          <a:bodyPr anchorCtr="0" anchor="ctr" bIns="81700" lIns="81700" spcFirstLastPara="1" rIns="81700" wrap="square" tIns="81700">
            <a:noAutofit/>
          </a:bodyPr>
          <a:lstStyle/>
          <a:p>
            <a:pPr indent="0" lvl="0" marL="0" marR="0" rtl="0" algn="ctr">
              <a:lnSpc>
                <a:spcPct val="100000"/>
              </a:lnSpc>
              <a:spcBef>
                <a:spcPts val="0"/>
              </a:spcBef>
              <a:spcAft>
                <a:spcPts val="0"/>
              </a:spcAft>
              <a:buClr>
                <a:srgbClr val="000000"/>
              </a:buClr>
              <a:buSzPts val="1251"/>
              <a:buFont typeface="Arial"/>
              <a:buNone/>
            </a:pPr>
            <a:r>
              <a:t/>
            </a:r>
            <a:endParaRPr b="0" i="0" sz="1250" u="none" cap="none" strike="noStrike">
              <a:solidFill>
                <a:srgbClr val="000000"/>
              </a:solidFill>
              <a:latin typeface="Arial"/>
              <a:ea typeface="Arial"/>
              <a:cs typeface="Arial"/>
              <a:sym typeface="Arial"/>
            </a:endParaRPr>
          </a:p>
        </p:txBody>
      </p:sp>
      <p:sp>
        <p:nvSpPr>
          <p:cNvPr id="130" name="Google Shape;130;p26"/>
          <p:cNvSpPr txBox="1"/>
          <p:nvPr/>
        </p:nvSpPr>
        <p:spPr>
          <a:xfrm>
            <a:off x="6403555" y="1419404"/>
            <a:ext cx="1284600" cy="568500"/>
          </a:xfrm>
          <a:prstGeom prst="rect">
            <a:avLst/>
          </a:prstGeom>
          <a:noFill/>
          <a:ln>
            <a:noFill/>
          </a:ln>
        </p:spPr>
        <p:txBody>
          <a:bodyPr anchorCtr="0" anchor="t" bIns="81700" lIns="81700" spcFirstLastPara="1" rIns="81700" wrap="square" tIns="81700">
            <a:noAutofit/>
          </a:bodyPr>
          <a:lstStyle/>
          <a:p>
            <a:pPr indent="0" lvl="0" marL="0" marR="0" rtl="0" algn="l">
              <a:lnSpc>
                <a:spcPct val="100000"/>
              </a:lnSpc>
              <a:spcBef>
                <a:spcPts val="0"/>
              </a:spcBef>
              <a:spcAft>
                <a:spcPts val="0"/>
              </a:spcAft>
              <a:buClr>
                <a:srgbClr val="000000"/>
              </a:buClr>
              <a:buSzPts val="1251"/>
              <a:buFont typeface="Arial"/>
              <a:buNone/>
            </a:pPr>
            <a:r>
              <a:rPr b="1" i="0" lang="en" sz="1250" u="none" cap="none" strike="noStrike">
                <a:solidFill>
                  <a:srgbClr val="274E13"/>
                </a:solidFill>
                <a:latin typeface="Lexend"/>
                <a:ea typeface="Lexend"/>
                <a:cs typeface="Lexend"/>
                <a:sym typeface="Lexend"/>
              </a:rPr>
              <a:t>True Positive</a:t>
            </a:r>
            <a:endParaRPr b="1" i="0" sz="1250" u="none" cap="none" strike="noStrike">
              <a:solidFill>
                <a:srgbClr val="274E13"/>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251"/>
              <a:buFont typeface="Arial"/>
              <a:buNone/>
            </a:pPr>
            <a:r>
              <a:rPr b="1" i="0" lang="en" sz="1250" u="none" cap="none" strike="noStrike">
                <a:solidFill>
                  <a:srgbClr val="274E13"/>
                </a:solidFill>
                <a:latin typeface="Lexend"/>
                <a:ea typeface="Lexend"/>
                <a:cs typeface="Lexend"/>
                <a:sym typeface="Lexend"/>
              </a:rPr>
              <a:t>IoU = 0.96</a:t>
            </a:r>
            <a:endParaRPr b="1" i="0" sz="1250" u="none" cap="none" strike="noStrike">
              <a:solidFill>
                <a:srgbClr val="274E13"/>
              </a:solidFill>
              <a:latin typeface="Lexend"/>
              <a:ea typeface="Lexend"/>
              <a:cs typeface="Lexend"/>
              <a:sym typeface="Lexend"/>
            </a:endParaRPr>
          </a:p>
        </p:txBody>
      </p:sp>
      <p:sp>
        <p:nvSpPr>
          <p:cNvPr id="131" name="Google Shape;131;p26"/>
          <p:cNvSpPr txBox="1"/>
          <p:nvPr/>
        </p:nvSpPr>
        <p:spPr>
          <a:xfrm>
            <a:off x="6364153" y="2755291"/>
            <a:ext cx="1363200" cy="568500"/>
          </a:xfrm>
          <a:prstGeom prst="rect">
            <a:avLst/>
          </a:prstGeom>
          <a:noFill/>
          <a:ln>
            <a:noFill/>
          </a:ln>
        </p:spPr>
        <p:txBody>
          <a:bodyPr anchorCtr="0" anchor="t" bIns="81700" lIns="81700" spcFirstLastPara="1" rIns="81700" wrap="square" tIns="81700">
            <a:noAutofit/>
          </a:bodyPr>
          <a:lstStyle/>
          <a:p>
            <a:pPr indent="0" lvl="0" marL="0" marR="0" rtl="0" algn="l">
              <a:lnSpc>
                <a:spcPct val="100000"/>
              </a:lnSpc>
              <a:spcBef>
                <a:spcPts val="0"/>
              </a:spcBef>
              <a:spcAft>
                <a:spcPts val="0"/>
              </a:spcAft>
              <a:buClr>
                <a:srgbClr val="000000"/>
              </a:buClr>
              <a:buSzPts val="1251"/>
              <a:buFont typeface="Arial"/>
              <a:buNone/>
            </a:pPr>
            <a:r>
              <a:rPr b="1" i="0" lang="en" sz="1250" u="none" cap="none" strike="noStrike">
                <a:solidFill>
                  <a:srgbClr val="FE5000"/>
                </a:solidFill>
                <a:latin typeface="Lexend"/>
                <a:ea typeface="Lexend"/>
                <a:cs typeface="Lexend"/>
                <a:sym typeface="Lexend"/>
              </a:rPr>
              <a:t>False Positive</a:t>
            </a:r>
            <a:endParaRPr b="1" i="0" sz="1250" u="none" cap="none" strike="noStrike">
              <a:solidFill>
                <a:srgbClr val="FE5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251"/>
              <a:buFont typeface="Arial"/>
              <a:buNone/>
            </a:pPr>
            <a:r>
              <a:rPr b="1" i="0" lang="en" sz="1250" u="none" cap="none" strike="noStrike">
                <a:solidFill>
                  <a:srgbClr val="FE5000"/>
                </a:solidFill>
                <a:latin typeface="Lexend"/>
                <a:ea typeface="Lexend"/>
                <a:cs typeface="Lexend"/>
                <a:sym typeface="Lexend"/>
              </a:rPr>
              <a:t>IoU = 0.22</a:t>
            </a:r>
            <a:endParaRPr b="1" i="0" sz="1250" u="none" cap="none" strike="noStrike">
              <a:solidFill>
                <a:srgbClr val="FE5000"/>
              </a:solidFill>
              <a:latin typeface="Lexend"/>
              <a:ea typeface="Lexend"/>
              <a:cs typeface="Lexend"/>
              <a:sym typeface="Lexend"/>
            </a:endParaRPr>
          </a:p>
        </p:txBody>
      </p:sp>
      <p:sp>
        <p:nvSpPr>
          <p:cNvPr id="132" name="Google Shape;132;p26"/>
          <p:cNvSpPr txBox="1"/>
          <p:nvPr/>
        </p:nvSpPr>
        <p:spPr>
          <a:xfrm>
            <a:off x="6329844" y="4106813"/>
            <a:ext cx="1431900" cy="568500"/>
          </a:xfrm>
          <a:prstGeom prst="rect">
            <a:avLst/>
          </a:prstGeom>
          <a:noFill/>
          <a:ln>
            <a:noFill/>
          </a:ln>
        </p:spPr>
        <p:txBody>
          <a:bodyPr anchorCtr="0" anchor="t" bIns="81700" lIns="81700" spcFirstLastPara="1" rIns="81700" wrap="square" tIns="81700">
            <a:noAutofit/>
          </a:bodyPr>
          <a:lstStyle/>
          <a:p>
            <a:pPr indent="0" lvl="0" marL="0" marR="0" rtl="0" algn="l">
              <a:lnSpc>
                <a:spcPct val="100000"/>
              </a:lnSpc>
              <a:spcBef>
                <a:spcPts val="0"/>
              </a:spcBef>
              <a:spcAft>
                <a:spcPts val="0"/>
              </a:spcAft>
              <a:buClr>
                <a:srgbClr val="000000"/>
              </a:buClr>
              <a:buSzPts val="1251"/>
              <a:buFont typeface="Arial"/>
              <a:buNone/>
            </a:pPr>
            <a:r>
              <a:rPr b="1" i="0" lang="en" sz="1250" u="none" cap="none" strike="noStrike">
                <a:solidFill>
                  <a:srgbClr val="C00000"/>
                </a:solidFill>
                <a:latin typeface="Lexend"/>
                <a:ea typeface="Lexend"/>
                <a:cs typeface="Lexend"/>
                <a:sym typeface="Lexend"/>
              </a:rPr>
              <a:t>False Negative</a:t>
            </a:r>
            <a:endParaRPr b="1" i="0" sz="1250" u="none" cap="none" strike="noStrike">
              <a:solidFill>
                <a:srgbClr val="C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251"/>
              <a:buFont typeface="Arial"/>
              <a:buNone/>
            </a:pPr>
            <a:r>
              <a:rPr b="1" i="0" lang="en" sz="1250" u="none" cap="none" strike="noStrike">
                <a:solidFill>
                  <a:srgbClr val="C00000"/>
                </a:solidFill>
                <a:latin typeface="Lexend"/>
                <a:ea typeface="Lexend"/>
                <a:cs typeface="Lexend"/>
                <a:sym typeface="Lexend"/>
              </a:rPr>
              <a:t>IoU = 0.00</a:t>
            </a:r>
            <a:endParaRPr b="1" i="0" sz="1250" u="none" cap="none" strike="noStrike">
              <a:solidFill>
                <a:srgbClr val="C00000"/>
              </a:solidFill>
              <a:latin typeface="Lexend"/>
              <a:ea typeface="Lexend"/>
              <a:cs typeface="Lexend"/>
              <a:sym typeface="Lexend"/>
            </a:endParaRPr>
          </a:p>
        </p:txBody>
      </p:sp>
      <p:grpSp>
        <p:nvGrpSpPr>
          <p:cNvPr id="133" name="Google Shape;133;p26"/>
          <p:cNvGrpSpPr/>
          <p:nvPr/>
        </p:nvGrpSpPr>
        <p:grpSpPr>
          <a:xfrm>
            <a:off x="3037947" y="684415"/>
            <a:ext cx="1383845" cy="711092"/>
            <a:chOff x="3711025" y="715400"/>
            <a:chExt cx="1602600" cy="823500"/>
          </a:xfrm>
        </p:grpSpPr>
        <p:sp>
          <p:nvSpPr>
            <p:cNvPr id="134" name="Google Shape;134;p26"/>
            <p:cNvSpPr txBox="1"/>
            <p:nvPr/>
          </p:nvSpPr>
          <p:spPr>
            <a:xfrm>
              <a:off x="3711025" y="715400"/>
              <a:ext cx="1602600" cy="823500"/>
            </a:xfrm>
            <a:prstGeom prst="rect">
              <a:avLst/>
            </a:prstGeom>
            <a:noFill/>
            <a:ln>
              <a:noFill/>
            </a:ln>
          </p:spPr>
          <p:txBody>
            <a:bodyPr anchorCtr="0" anchor="t" bIns="78950" lIns="78950" spcFirstLastPara="1" rIns="78950" wrap="square" tIns="78950">
              <a:noAutofit/>
            </a:bodyPr>
            <a:lstStyle/>
            <a:p>
              <a:pPr indent="0" lvl="0" marL="0" marR="0" rtl="0" algn="l">
                <a:lnSpc>
                  <a:spcPct val="100000"/>
                </a:lnSpc>
                <a:spcBef>
                  <a:spcPts val="0"/>
                </a:spcBef>
                <a:spcAft>
                  <a:spcPts val="0"/>
                </a:spcAft>
                <a:buClr>
                  <a:srgbClr val="000000"/>
                </a:buClr>
                <a:buSzPts val="1036"/>
                <a:buFont typeface="Arial"/>
                <a:buNone/>
              </a:pPr>
              <a:r>
                <a:rPr b="0" i="0" lang="en" sz="1036" u="none" cap="none" strike="noStrike">
                  <a:solidFill>
                    <a:schemeClr val="dk1"/>
                  </a:solidFill>
                  <a:latin typeface="Lexend"/>
                  <a:ea typeface="Lexend"/>
                  <a:cs typeface="Lexend"/>
                  <a:sym typeface="Lexend"/>
                </a:rPr>
                <a:t>Let’s take a IoU Predefined threshold of </a:t>
              </a:r>
              <a:r>
                <a:rPr b="1" i="0" lang="en" sz="1036" u="none" cap="none" strike="noStrike">
                  <a:solidFill>
                    <a:schemeClr val="dk1"/>
                  </a:solidFill>
                  <a:latin typeface="Lexend"/>
                  <a:ea typeface="Lexend"/>
                  <a:cs typeface="Lexend"/>
                  <a:sym typeface="Lexend"/>
                </a:rPr>
                <a:t>0.5 ! </a:t>
              </a:r>
              <a:r>
                <a:rPr b="0" i="0" lang="en" sz="1036" u="none" cap="none" strike="noStrike">
                  <a:solidFill>
                    <a:schemeClr val="dk1"/>
                  </a:solidFill>
                  <a:latin typeface="Lexend"/>
                  <a:ea typeface="Lexend"/>
                  <a:cs typeface="Lexend"/>
                  <a:sym typeface="Lexend"/>
                </a:rPr>
                <a:t> </a:t>
              </a:r>
              <a:endParaRPr b="0" i="0" sz="1036" u="none" cap="none" strike="noStrike">
                <a:solidFill>
                  <a:schemeClr val="dk1"/>
                </a:solidFill>
                <a:latin typeface="Lexend"/>
                <a:ea typeface="Lexend"/>
                <a:cs typeface="Lexend"/>
                <a:sym typeface="Lexend"/>
              </a:endParaRPr>
            </a:p>
          </p:txBody>
        </p:sp>
        <p:sp>
          <p:nvSpPr>
            <p:cNvPr id="135" name="Google Shape;135;p26"/>
            <p:cNvSpPr/>
            <p:nvPr/>
          </p:nvSpPr>
          <p:spPr>
            <a:xfrm>
              <a:off x="3711025" y="715400"/>
              <a:ext cx="1437600" cy="721200"/>
            </a:xfrm>
            <a:prstGeom prst="wedgeRoundRectCallout">
              <a:avLst>
                <a:gd fmla="val -20833" name="adj1"/>
                <a:gd fmla="val 62500" name="adj2"/>
                <a:gd fmla="val 0" name="adj3"/>
              </a:avLst>
            </a:prstGeom>
            <a:noFill/>
            <a:ln cap="flat" cmpd="sng" w="8225">
              <a:solidFill>
                <a:srgbClr val="000000"/>
              </a:solidFill>
              <a:prstDash val="solid"/>
              <a:round/>
              <a:headEnd len="sm" w="sm" type="none"/>
              <a:tailEnd len="sm" w="sm" type="none"/>
            </a:ln>
            <a:effectLst>
              <a:outerShdw blurRad="49350" rotWithShape="0" algn="bl" dir="5400000" dist="16450">
                <a:srgbClr val="000000">
                  <a:alpha val="49411"/>
                </a:srgbClr>
              </a:outerShdw>
            </a:effectLst>
          </p:spPr>
          <p:txBody>
            <a:bodyPr anchorCtr="0" anchor="ctr" bIns="78950" lIns="78950" spcFirstLastPara="1" rIns="78950" wrap="square" tIns="78950">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8" u="none" cap="none" strike="noStrike">
                <a:solidFill>
                  <a:srgbClr val="000000"/>
                </a:solidFill>
                <a:latin typeface="Arial"/>
                <a:ea typeface="Arial"/>
                <a:cs typeface="Arial"/>
                <a:sym typeface="Arial"/>
              </a:endParaRPr>
            </a:p>
          </p:txBody>
        </p:sp>
      </p:grpSp>
      <p:sp>
        <p:nvSpPr>
          <p:cNvPr id="136" name="Google Shape;136;p26"/>
          <p:cNvSpPr txBox="1"/>
          <p:nvPr/>
        </p:nvSpPr>
        <p:spPr>
          <a:xfrm>
            <a:off x="3410220" y="1812222"/>
            <a:ext cx="1545600" cy="941400"/>
          </a:xfrm>
          <a:prstGeom prst="rect">
            <a:avLst/>
          </a:prstGeom>
          <a:noFill/>
          <a:ln>
            <a:noFill/>
          </a:ln>
        </p:spPr>
        <p:txBody>
          <a:bodyPr anchorCtr="0" anchor="t" bIns="69350" lIns="69350" spcFirstLastPara="1" rIns="69350" wrap="square" tIns="69350">
            <a:noAutofit/>
          </a:bodyPr>
          <a:lstStyle/>
          <a:p>
            <a:pPr indent="0" lvl="0" marL="0" marR="0" rtl="0" algn="l">
              <a:lnSpc>
                <a:spcPct val="100000"/>
              </a:lnSpc>
              <a:spcBef>
                <a:spcPts val="0"/>
              </a:spcBef>
              <a:spcAft>
                <a:spcPts val="0"/>
              </a:spcAft>
              <a:buClr>
                <a:srgbClr val="000000"/>
              </a:buClr>
              <a:buSzPts val="910"/>
              <a:buFont typeface="Arial"/>
              <a:buNone/>
            </a:pPr>
            <a:r>
              <a:rPr b="0" i="0" lang="en" sz="909" u="none" cap="none" strike="noStrike">
                <a:solidFill>
                  <a:schemeClr val="dk1"/>
                </a:solidFill>
                <a:latin typeface="Lexend"/>
                <a:ea typeface="Lexend"/>
                <a:cs typeface="Lexend"/>
                <a:sym typeface="Lexend"/>
              </a:rPr>
              <a:t>Ranking Predicted Boxes by confidence score &amp; </a:t>
            </a:r>
            <a:r>
              <a:rPr lang="en" sz="909">
                <a:solidFill>
                  <a:schemeClr val="dk1"/>
                </a:solidFill>
                <a:latin typeface="Lexend"/>
                <a:ea typeface="Lexend"/>
                <a:cs typeface="Lexend"/>
                <a:sym typeface="Lexend"/>
              </a:rPr>
              <a:t>match </a:t>
            </a:r>
            <a:r>
              <a:rPr b="0" i="0" lang="en" sz="909" u="none" cap="none" strike="noStrike">
                <a:solidFill>
                  <a:schemeClr val="dk1"/>
                </a:solidFill>
                <a:latin typeface="Lexend"/>
                <a:ea typeface="Lexend"/>
                <a:cs typeface="Lexend"/>
                <a:sym typeface="Lexend"/>
              </a:rPr>
              <a:t>GT &amp; Predictions based on m</a:t>
            </a:r>
            <a:r>
              <a:rPr lang="en" sz="909">
                <a:solidFill>
                  <a:schemeClr val="dk1"/>
                </a:solidFill>
                <a:latin typeface="Lexend"/>
                <a:ea typeface="Lexend"/>
                <a:cs typeface="Lexend"/>
                <a:sym typeface="Lexend"/>
              </a:rPr>
              <a:t>aximisation of IoU. </a:t>
            </a:r>
            <a:endParaRPr b="0" i="0" sz="909" u="none" cap="none" strike="noStrike">
              <a:solidFill>
                <a:schemeClr val="dk1"/>
              </a:solidFill>
              <a:latin typeface="Lexend"/>
              <a:ea typeface="Lexend"/>
              <a:cs typeface="Lexend"/>
              <a:sym typeface="Lexend"/>
            </a:endParaRPr>
          </a:p>
        </p:txBody>
      </p:sp>
      <p:grpSp>
        <p:nvGrpSpPr>
          <p:cNvPr id="137" name="Google Shape;137;p26"/>
          <p:cNvGrpSpPr/>
          <p:nvPr/>
        </p:nvGrpSpPr>
        <p:grpSpPr>
          <a:xfrm>
            <a:off x="786462" y="3167244"/>
            <a:ext cx="222817" cy="257799"/>
            <a:chOff x="225325" y="3706500"/>
            <a:chExt cx="266400" cy="308225"/>
          </a:xfrm>
        </p:grpSpPr>
        <p:sp>
          <p:nvSpPr>
            <p:cNvPr id="138" name="Google Shape;138;p26"/>
            <p:cNvSpPr/>
            <p:nvPr/>
          </p:nvSpPr>
          <p:spPr>
            <a:xfrm>
              <a:off x="225325" y="3769025"/>
              <a:ext cx="266400" cy="245700"/>
            </a:xfrm>
            <a:prstGeom prst="ellipse">
              <a:avLst/>
            </a:prstGeom>
            <a:solidFill>
              <a:schemeClr val="lt2"/>
            </a:solidFill>
            <a:ln cap="flat" cmpd="sng" w="7975">
              <a:solidFill>
                <a:schemeClr val="dk2"/>
              </a:solidFill>
              <a:prstDash val="solid"/>
              <a:round/>
              <a:headEnd len="sm" w="sm" type="none"/>
              <a:tailEnd len="sm" w="sm" type="none"/>
            </a:ln>
          </p:spPr>
          <p:txBody>
            <a:bodyPr anchorCtr="0" anchor="ctr" bIns="76475" lIns="76475" spcFirstLastPara="1" rIns="76475" wrap="square" tIns="76475">
              <a:noAutofit/>
            </a:bodyPr>
            <a:lstStyle/>
            <a:p>
              <a:pPr indent="0" lvl="0" marL="0" marR="0" rtl="0" algn="ctr">
                <a:lnSpc>
                  <a:spcPct val="100000"/>
                </a:lnSpc>
                <a:spcBef>
                  <a:spcPts val="0"/>
                </a:spcBef>
                <a:spcAft>
                  <a:spcPts val="0"/>
                </a:spcAft>
                <a:buClr>
                  <a:srgbClr val="000000"/>
                </a:buClr>
                <a:buSzPts val="1171"/>
                <a:buFont typeface="Arial"/>
                <a:buNone/>
              </a:pPr>
              <a:r>
                <a:t/>
              </a:r>
              <a:endParaRPr b="0" i="0" sz="1170" u="none" cap="none" strike="noStrike">
                <a:solidFill>
                  <a:srgbClr val="000000"/>
                </a:solidFill>
                <a:latin typeface="Arial"/>
                <a:ea typeface="Arial"/>
                <a:cs typeface="Arial"/>
                <a:sym typeface="Arial"/>
              </a:endParaRPr>
            </a:p>
          </p:txBody>
        </p:sp>
        <p:sp>
          <p:nvSpPr>
            <p:cNvPr id="139" name="Google Shape;139;p26"/>
            <p:cNvSpPr txBox="1"/>
            <p:nvPr/>
          </p:nvSpPr>
          <p:spPr>
            <a:xfrm>
              <a:off x="225325" y="3706500"/>
              <a:ext cx="266400" cy="287400"/>
            </a:xfrm>
            <a:prstGeom prst="rect">
              <a:avLst/>
            </a:prstGeom>
            <a:noFill/>
            <a:ln>
              <a:noFill/>
            </a:ln>
          </p:spPr>
          <p:txBody>
            <a:bodyPr anchorCtr="0" anchor="t" bIns="76475" lIns="76475" spcFirstLastPara="1" rIns="76475" wrap="square" tIns="76475">
              <a:noAutofit/>
            </a:bodyPr>
            <a:lstStyle/>
            <a:p>
              <a:pPr indent="0" lvl="0" marL="0" marR="0" rtl="0" algn="l">
                <a:lnSpc>
                  <a:spcPct val="100000"/>
                </a:lnSpc>
                <a:spcBef>
                  <a:spcPts val="0"/>
                </a:spcBef>
                <a:spcAft>
                  <a:spcPts val="0"/>
                </a:spcAft>
                <a:buClr>
                  <a:srgbClr val="000000"/>
                </a:buClr>
                <a:buSzPts val="1004"/>
                <a:buFont typeface="Arial"/>
                <a:buNone/>
              </a:pPr>
              <a:r>
                <a:rPr b="1" i="0" lang="en" sz="1003" u="none" cap="none" strike="noStrike">
                  <a:solidFill>
                    <a:schemeClr val="dk1"/>
                  </a:solidFill>
                  <a:latin typeface="Arial"/>
                  <a:ea typeface="Arial"/>
                  <a:cs typeface="Arial"/>
                  <a:sym typeface="Arial"/>
                </a:rPr>
                <a:t>4</a:t>
              </a:r>
              <a:endParaRPr b="1" i="0" sz="1003" u="none" cap="none" strike="noStrike">
                <a:solidFill>
                  <a:schemeClr val="dk1"/>
                </a:solidFill>
                <a:latin typeface="Arial"/>
                <a:ea typeface="Arial"/>
                <a:cs typeface="Arial"/>
                <a:sym typeface="Arial"/>
              </a:endParaRPr>
            </a:p>
          </p:txBody>
        </p:sp>
      </p:grpSp>
      <p:cxnSp>
        <p:nvCxnSpPr>
          <p:cNvPr id="140" name="Google Shape;140;p26"/>
          <p:cNvCxnSpPr/>
          <p:nvPr/>
        </p:nvCxnSpPr>
        <p:spPr>
          <a:xfrm flipH="1" rot="10800000">
            <a:off x="3263829" y="3661495"/>
            <a:ext cx="1157100" cy="273300"/>
          </a:xfrm>
          <a:prstGeom prst="straightConnector1">
            <a:avLst/>
          </a:prstGeom>
          <a:noFill/>
          <a:ln cap="flat" cmpd="sng" w="7975">
            <a:solidFill>
              <a:schemeClr val="dk2"/>
            </a:solidFill>
            <a:prstDash val="solid"/>
            <a:round/>
            <a:headEnd len="med" w="med" type="stealth"/>
            <a:tailEnd len="sm" w="sm" type="none"/>
          </a:ln>
        </p:spPr>
      </p:cxnSp>
      <p:sp>
        <p:nvSpPr>
          <p:cNvPr id="141" name="Google Shape;141;p26"/>
          <p:cNvSpPr txBox="1"/>
          <p:nvPr/>
        </p:nvSpPr>
        <p:spPr>
          <a:xfrm>
            <a:off x="4372201" y="3408499"/>
            <a:ext cx="902100" cy="334800"/>
          </a:xfrm>
          <a:prstGeom prst="rect">
            <a:avLst/>
          </a:prstGeom>
          <a:noFill/>
          <a:ln>
            <a:noFill/>
          </a:ln>
        </p:spPr>
        <p:txBody>
          <a:bodyPr anchorCtr="0" anchor="t" bIns="76475" lIns="76475" spcFirstLastPara="1" rIns="76475" wrap="square" tIns="76475">
            <a:spAutoFit/>
          </a:bodyPr>
          <a:lstStyle/>
          <a:p>
            <a:pPr indent="0" lvl="0" marL="0" marR="0" rtl="0" algn="l">
              <a:lnSpc>
                <a:spcPct val="100000"/>
              </a:lnSpc>
              <a:spcBef>
                <a:spcPts val="0"/>
              </a:spcBef>
              <a:spcAft>
                <a:spcPts val="0"/>
              </a:spcAft>
              <a:buClr>
                <a:srgbClr val="000000"/>
              </a:buClr>
              <a:buSzPts val="1171"/>
              <a:buFont typeface="Arial"/>
              <a:buNone/>
            </a:pPr>
            <a:r>
              <a:rPr b="1" i="0" lang="en" sz="1170" u="none" cap="none" strike="noStrike">
                <a:solidFill>
                  <a:srgbClr val="00205B"/>
                </a:solidFill>
                <a:latin typeface="Lexend"/>
                <a:ea typeface="Lexend"/>
                <a:cs typeface="Lexend"/>
                <a:sym typeface="Lexend"/>
              </a:rPr>
              <a:t>AP there !</a:t>
            </a:r>
            <a:endParaRPr b="0" i="0" sz="836" u="none" cap="none" strike="noStrike">
              <a:solidFill>
                <a:srgbClr val="000000"/>
              </a:solidFill>
              <a:latin typeface="Arial"/>
              <a:ea typeface="Arial"/>
              <a:cs typeface="Arial"/>
              <a:sym typeface="Arial"/>
            </a:endParaRPr>
          </a:p>
        </p:txBody>
      </p:sp>
      <p:sp>
        <p:nvSpPr>
          <p:cNvPr id="142" name="Google Shape;142;p26"/>
          <p:cNvSpPr txBox="1"/>
          <p:nvPr/>
        </p:nvSpPr>
        <p:spPr>
          <a:xfrm>
            <a:off x="288425" y="72250"/>
            <a:ext cx="62076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How’s AP computed ? </a:t>
            </a:r>
            <a:endParaRPr i="0" sz="1800" u="none" cap="none" strike="noStrike">
              <a:solidFill>
                <a:srgbClr val="00205B"/>
              </a:solidFill>
              <a:latin typeface="Lexend Medium"/>
              <a:ea typeface="Lexend Medium"/>
              <a:cs typeface="Lexend Medium"/>
              <a:sym typeface="Lexend Medium"/>
            </a:endParaRPr>
          </a:p>
        </p:txBody>
      </p:sp>
      <p:cxnSp>
        <p:nvCxnSpPr>
          <p:cNvPr id="143" name="Google Shape;143;p26"/>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144" name="Google Shape;144;p26"/>
          <p:cNvPicPr preferRelativeResize="0"/>
          <p:nvPr/>
        </p:nvPicPr>
        <p:blipFill rotWithShape="1">
          <a:blip r:embed="rId7">
            <a:alphaModFix/>
          </a:blip>
          <a:srcRect b="0" l="0" r="0" t="0"/>
          <a:stretch/>
        </p:blipFill>
        <p:spPr>
          <a:xfrm>
            <a:off x="8266150" y="91401"/>
            <a:ext cx="703375" cy="351675"/>
          </a:xfrm>
          <a:prstGeom prst="rect">
            <a:avLst/>
          </a:prstGeom>
          <a:noFill/>
          <a:ln>
            <a:noFill/>
          </a:ln>
        </p:spPr>
      </p:pic>
      <p:cxnSp>
        <p:nvCxnSpPr>
          <p:cNvPr id="145" name="Google Shape;145;p26"/>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146" name="Google Shape;146;p26"/>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nvSpPr>
        <p:spPr>
          <a:xfrm>
            <a:off x="288425" y="72250"/>
            <a:ext cx="54837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Goal: Safety Evaluation</a:t>
            </a:r>
            <a:endParaRPr i="0" sz="1800" u="none" cap="none" strike="noStrike">
              <a:solidFill>
                <a:srgbClr val="00205B"/>
              </a:solidFill>
              <a:latin typeface="Lexend Medium"/>
              <a:ea typeface="Lexend Medium"/>
              <a:cs typeface="Lexend Medium"/>
              <a:sym typeface="Lexend Medium"/>
            </a:endParaRPr>
          </a:p>
        </p:txBody>
      </p:sp>
      <p:cxnSp>
        <p:nvCxnSpPr>
          <p:cNvPr id="152" name="Google Shape;152;p27"/>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153" name="Google Shape;153;p27"/>
          <p:cNvPicPr preferRelativeResize="0"/>
          <p:nvPr/>
        </p:nvPicPr>
        <p:blipFill rotWithShape="1">
          <a:blip r:embed="rId3">
            <a:alphaModFix/>
          </a:blip>
          <a:srcRect b="0" l="0" r="0" t="0"/>
          <a:stretch/>
        </p:blipFill>
        <p:spPr>
          <a:xfrm>
            <a:off x="8266150" y="91401"/>
            <a:ext cx="703375" cy="351675"/>
          </a:xfrm>
          <a:prstGeom prst="rect">
            <a:avLst/>
          </a:prstGeom>
          <a:noFill/>
          <a:ln>
            <a:noFill/>
          </a:ln>
        </p:spPr>
      </p:pic>
      <p:cxnSp>
        <p:nvCxnSpPr>
          <p:cNvPr id="154" name="Google Shape;154;p27"/>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155" name="Google Shape;155;p27"/>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sp>
        <p:nvSpPr>
          <p:cNvPr id="156" name="Google Shape;156;p27"/>
          <p:cNvSpPr/>
          <p:nvPr/>
        </p:nvSpPr>
        <p:spPr>
          <a:xfrm>
            <a:off x="3101036" y="4155859"/>
            <a:ext cx="120600" cy="110400"/>
          </a:xfrm>
          <a:prstGeom prst="roundRect">
            <a:avLst>
              <a:gd fmla="val 16667" name="adj"/>
            </a:avLst>
          </a:prstGeom>
          <a:solidFill>
            <a:srgbClr val="FE8F00"/>
          </a:solidFill>
          <a:ln cap="flat" cmpd="sng" w="5400">
            <a:solidFill>
              <a:schemeClr val="dk2"/>
            </a:solidFill>
            <a:prstDash val="solid"/>
            <a:round/>
            <a:headEnd len="sm" w="sm" type="none"/>
            <a:tailEnd len="sm" w="sm" type="none"/>
          </a:ln>
          <a:effectLst>
            <a:outerShdw blurRad="32290" rotWithShape="0" algn="bl" dir="5400000" dist="10763">
              <a:srgbClr val="000000">
                <a:alpha val="49020"/>
              </a:srgbClr>
            </a:outerShdw>
          </a:effectLst>
        </p:spPr>
        <p:txBody>
          <a:bodyPr anchorCtr="0" anchor="ctr" bIns="51675" lIns="51675" spcFirstLastPara="1" rIns="51675" wrap="square" tIns="51675">
            <a:noAutofit/>
          </a:bodyPr>
          <a:lstStyle/>
          <a:p>
            <a:pPr indent="0" lvl="0" marL="0" marR="0" rtl="0" algn="ctr">
              <a:lnSpc>
                <a:spcPct val="100000"/>
              </a:lnSpc>
              <a:spcBef>
                <a:spcPts val="0"/>
              </a:spcBef>
              <a:spcAft>
                <a:spcPts val="0"/>
              </a:spcAft>
              <a:buClr>
                <a:srgbClr val="000000"/>
              </a:buClr>
              <a:buSzPts val="791"/>
              <a:buFont typeface="Arial"/>
              <a:buNone/>
            </a:pPr>
            <a:r>
              <a:t/>
            </a:r>
            <a:endParaRPr b="0" i="0" sz="565" u="none" cap="none" strike="noStrike">
              <a:solidFill>
                <a:srgbClr val="000000"/>
              </a:solidFill>
              <a:latin typeface="Arial"/>
              <a:ea typeface="Arial"/>
              <a:cs typeface="Arial"/>
              <a:sym typeface="Arial"/>
            </a:endParaRPr>
          </a:p>
        </p:txBody>
      </p:sp>
      <p:sp>
        <p:nvSpPr>
          <p:cNvPr id="157" name="Google Shape;157;p27"/>
          <p:cNvSpPr/>
          <p:nvPr/>
        </p:nvSpPr>
        <p:spPr>
          <a:xfrm>
            <a:off x="3101036" y="4326217"/>
            <a:ext cx="120600" cy="110400"/>
          </a:xfrm>
          <a:prstGeom prst="roundRect">
            <a:avLst>
              <a:gd fmla="val 16667" name="adj"/>
            </a:avLst>
          </a:prstGeom>
          <a:solidFill>
            <a:srgbClr val="C00000"/>
          </a:solidFill>
          <a:ln cap="flat" cmpd="sng" w="5400">
            <a:solidFill>
              <a:schemeClr val="dk2"/>
            </a:solidFill>
            <a:prstDash val="solid"/>
            <a:round/>
            <a:headEnd len="sm" w="sm" type="none"/>
            <a:tailEnd len="sm" w="sm" type="none"/>
          </a:ln>
          <a:effectLst>
            <a:outerShdw blurRad="32290" rotWithShape="0" algn="bl" dir="5400000" dist="10763">
              <a:srgbClr val="000000">
                <a:alpha val="49020"/>
              </a:srgbClr>
            </a:outerShdw>
          </a:effectLst>
        </p:spPr>
        <p:txBody>
          <a:bodyPr anchorCtr="0" anchor="ctr" bIns="51675" lIns="51675" spcFirstLastPara="1" rIns="51675" wrap="square" tIns="51675">
            <a:noAutofit/>
          </a:bodyPr>
          <a:lstStyle/>
          <a:p>
            <a:pPr indent="0" lvl="0" marL="0" marR="0" rtl="0" algn="ctr">
              <a:lnSpc>
                <a:spcPct val="100000"/>
              </a:lnSpc>
              <a:spcBef>
                <a:spcPts val="0"/>
              </a:spcBef>
              <a:spcAft>
                <a:spcPts val="0"/>
              </a:spcAft>
              <a:buClr>
                <a:srgbClr val="000000"/>
              </a:buClr>
              <a:buSzPts val="791"/>
              <a:buFont typeface="Arial"/>
              <a:buNone/>
            </a:pPr>
            <a:r>
              <a:t/>
            </a:r>
            <a:endParaRPr b="0" i="0" sz="565" u="none" cap="none" strike="noStrike">
              <a:solidFill>
                <a:srgbClr val="000000"/>
              </a:solidFill>
              <a:latin typeface="Arial"/>
              <a:ea typeface="Arial"/>
              <a:cs typeface="Arial"/>
              <a:sym typeface="Arial"/>
            </a:endParaRPr>
          </a:p>
        </p:txBody>
      </p:sp>
      <p:sp>
        <p:nvSpPr>
          <p:cNvPr id="158" name="Google Shape;158;p27"/>
          <p:cNvSpPr/>
          <p:nvPr/>
        </p:nvSpPr>
        <p:spPr>
          <a:xfrm>
            <a:off x="3101036" y="4496574"/>
            <a:ext cx="120600" cy="110400"/>
          </a:xfrm>
          <a:prstGeom prst="roundRect">
            <a:avLst>
              <a:gd fmla="val 16667" name="adj"/>
            </a:avLst>
          </a:prstGeom>
          <a:solidFill>
            <a:srgbClr val="00FFFF"/>
          </a:solidFill>
          <a:ln cap="flat" cmpd="sng" w="5400">
            <a:solidFill>
              <a:schemeClr val="dk2"/>
            </a:solidFill>
            <a:prstDash val="solid"/>
            <a:round/>
            <a:headEnd len="sm" w="sm" type="none"/>
            <a:tailEnd len="sm" w="sm" type="none"/>
          </a:ln>
          <a:effectLst>
            <a:outerShdw blurRad="32290" rotWithShape="0" algn="bl" dir="5400000" dist="10763">
              <a:srgbClr val="000000">
                <a:alpha val="49020"/>
              </a:srgbClr>
            </a:outerShdw>
          </a:effectLst>
        </p:spPr>
        <p:txBody>
          <a:bodyPr anchorCtr="0" anchor="ctr" bIns="51675" lIns="51675" spcFirstLastPara="1" rIns="51675" wrap="square" tIns="51675">
            <a:noAutofit/>
          </a:bodyPr>
          <a:lstStyle/>
          <a:p>
            <a:pPr indent="0" lvl="0" marL="0" marR="0" rtl="0" algn="ctr">
              <a:lnSpc>
                <a:spcPct val="100000"/>
              </a:lnSpc>
              <a:spcBef>
                <a:spcPts val="0"/>
              </a:spcBef>
              <a:spcAft>
                <a:spcPts val="0"/>
              </a:spcAft>
              <a:buClr>
                <a:srgbClr val="000000"/>
              </a:buClr>
              <a:buSzPts val="791"/>
              <a:buFont typeface="Arial"/>
              <a:buNone/>
            </a:pPr>
            <a:r>
              <a:t/>
            </a:r>
            <a:endParaRPr b="0" i="0" sz="565" u="none" cap="none" strike="noStrike">
              <a:solidFill>
                <a:srgbClr val="000000"/>
              </a:solidFill>
              <a:latin typeface="Arial"/>
              <a:ea typeface="Arial"/>
              <a:cs typeface="Arial"/>
              <a:sym typeface="Arial"/>
            </a:endParaRPr>
          </a:p>
        </p:txBody>
      </p:sp>
      <p:sp>
        <p:nvSpPr>
          <p:cNvPr id="159" name="Google Shape;159;p27"/>
          <p:cNvSpPr txBox="1"/>
          <p:nvPr/>
        </p:nvSpPr>
        <p:spPr>
          <a:xfrm>
            <a:off x="3232213" y="4134251"/>
            <a:ext cx="625200" cy="153600"/>
          </a:xfrm>
          <a:prstGeom prst="rect">
            <a:avLst/>
          </a:prstGeom>
          <a:noFill/>
          <a:ln>
            <a:noFill/>
          </a:ln>
        </p:spPr>
        <p:txBody>
          <a:bodyPr anchorCtr="0" anchor="t" bIns="51675" lIns="51675" spcFirstLastPara="1" rIns="51675" wrap="square" tIns="51675">
            <a:noAutofit/>
          </a:bodyPr>
          <a:lstStyle/>
          <a:p>
            <a:pPr indent="0" lvl="0" marL="0" marR="0" rtl="0" algn="l">
              <a:lnSpc>
                <a:spcPct val="100000"/>
              </a:lnSpc>
              <a:spcBef>
                <a:spcPts val="0"/>
              </a:spcBef>
              <a:spcAft>
                <a:spcPts val="0"/>
              </a:spcAft>
              <a:buClr>
                <a:srgbClr val="000000"/>
              </a:buClr>
              <a:buSzPts val="791"/>
              <a:buFont typeface="Arial"/>
              <a:buNone/>
            </a:pPr>
            <a:r>
              <a:rPr b="0" i="0" lang="en" sz="565" u="none" cap="none" strike="noStrike">
                <a:solidFill>
                  <a:schemeClr val="dk1"/>
                </a:solidFill>
                <a:latin typeface="Lexend"/>
                <a:ea typeface="Lexend"/>
                <a:cs typeface="Lexend"/>
                <a:sym typeface="Lexend"/>
              </a:rPr>
              <a:t>Conformal Box</a:t>
            </a:r>
            <a:endParaRPr b="0" i="0" sz="565" u="none" cap="none" strike="noStrike">
              <a:solidFill>
                <a:schemeClr val="dk1"/>
              </a:solidFill>
              <a:latin typeface="Lexend"/>
              <a:ea typeface="Lexend"/>
              <a:cs typeface="Lexend"/>
              <a:sym typeface="Lexend"/>
            </a:endParaRPr>
          </a:p>
        </p:txBody>
      </p:sp>
      <p:sp>
        <p:nvSpPr>
          <p:cNvPr id="160" name="Google Shape;160;p27"/>
          <p:cNvSpPr txBox="1"/>
          <p:nvPr/>
        </p:nvSpPr>
        <p:spPr>
          <a:xfrm>
            <a:off x="3233686" y="4304605"/>
            <a:ext cx="625200" cy="153600"/>
          </a:xfrm>
          <a:prstGeom prst="rect">
            <a:avLst/>
          </a:prstGeom>
          <a:noFill/>
          <a:ln>
            <a:noFill/>
          </a:ln>
        </p:spPr>
        <p:txBody>
          <a:bodyPr anchorCtr="0" anchor="t" bIns="51675" lIns="51675" spcFirstLastPara="1" rIns="51675" wrap="square" tIns="51675">
            <a:noAutofit/>
          </a:bodyPr>
          <a:lstStyle/>
          <a:p>
            <a:pPr indent="0" lvl="0" marL="0" marR="0" rtl="0" algn="l">
              <a:lnSpc>
                <a:spcPct val="100000"/>
              </a:lnSpc>
              <a:spcBef>
                <a:spcPts val="0"/>
              </a:spcBef>
              <a:spcAft>
                <a:spcPts val="0"/>
              </a:spcAft>
              <a:buClr>
                <a:srgbClr val="000000"/>
              </a:buClr>
              <a:buSzPts val="791"/>
              <a:buFont typeface="Arial"/>
              <a:buNone/>
            </a:pPr>
            <a:r>
              <a:rPr b="0" i="0" lang="en" sz="565" u="none" cap="none" strike="noStrike">
                <a:solidFill>
                  <a:schemeClr val="dk1"/>
                </a:solidFill>
                <a:latin typeface="Lexend"/>
                <a:ea typeface="Lexend"/>
                <a:cs typeface="Lexend"/>
                <a:sym typeface="Lexend"/>
              </a:rPr>
              <a:t>Ground truth</a:t>
            </a:r>
            <a:endParaRPr b="0" i="0" sz="565" u="none" cap="none" strike="noStrike">
              <a:solidFill>
                <a:schemeClr val="dk1"/>
              </a:solidFill>
              <a:latin typeface="Lexend"/>
              <a:ea typeface="Lexend"/>
              <a:cs typeface="Lexend"/>
              <a:sym typeface="Lexend"/>
            </a:endParaRPr>
          </a:p>
        </p:txBody>
      </p:sp>
      <p:sp>
        <p:nvSpPr>
          <p:cNvPr id="161" name="Google Shape;161;p27"/>
          <p:cNvSpPr txBox="1"/>
          <p:nvPr/>
        </p:nvSpPr>
        <p:spPr>
          <a:xfrm>
            <a:off x="3219166" y="4474959"/>
            <a:ext cx="684000" cy="153600"/>
          </a:xfrm>
          <a:prstGeom prst="rect">
            <a:avLst/>
          </a:prstGeom>
          <a:noFill/>
          <a:ln>
            <a:noFill/>
          </a:ln>
        </p:spPr>
        <p:txBody>
          <a:bodyPr anchorCtr="0" anchor="t" bIns="51675" lIns="51675" spcFirstLastPara="1" rIns="51675" wrap="square" tIns="51675">
            <a:noAutofit/>
          </a:bodyPr>
          <a:lstStyle/>
          <a:p>
            <a:pPr indent="0" lvl="0" marL="0" marR="0" rtl="0" algn="l">
              <a:lnSpc>
                <a:spcPct val="100000"/>
              </a:lnSpc>
              <a:spcBef>
                <a:spcPts val="0"/>
              </a:spcBef>
              <a:spcAft>
                <a:spcPts val="0"/>
              </a:spcAft>
              <a:buClr>
                <a:srgbClr val="000000"/>
              </a:buClr>
              <a:buSzPts val="791"/>
              <a:buFont typeface="Arial"/>
              <a:buNone/>
            </a:pPr>
            <a:r>
              <a:rPr b="0" i="0" lang="en" sz="565" u="none" cap="none" strike="noStrike">
                <a:solidFill>
                  <a:schemeClr val="dk1"/>
                </a:solidFill>
                <a:latin typeface="Lexend"/>
                <a:ea typeface="Lexend"/>
                <a:cs typeface="Lexend"/>
                <a:sym typeface="Lexend"/>
              </a:rPr>
              <a:t>YOLO Prediction</a:t>
            </a:r>
            <a:endParaRPr b="0" i="0" sz="565" u="none" cap="none" strike="noStrike">
              <a:solidFill>
                <a:schemeClr val="dk1"/>
              </a:solidFill>
              <a:latin typeface="Lexend"/>
              <a:ea typeface="Lexend"/>
              <a:cs typeface="Lexend"/>
              <a:sym typeface="Lexend"/>
            </a:endParaRPr>
          </a:p>
        </p:txBody>
      </p:sp>
      <p:sp>
        <p:nvSpPr>
          <p:cNvPr id="162" name="Google Shape;162;p27"/>
          <p:cNvSpPr txBox="1"/>
          <p:nvPr/>
        </p:nvSpPr>
        <p:spPr>
          <a:xfrm>
            <a:off x="4185618" y="3725041"/>
            <a:ext cx="4666200" cy="430800"/>
          </a:xfrm>
          <a:prstGeom prst="rect">
            <a:avLst/>
          </a:prstGeom>
          <a:noFill/>
          <a:ln>
            <a:noFill/>
          </a:ln>
        </p:spPr>
        <p:txBody>
          <a:bodyPr anchorCtr="0" anchor="t" bIns="85175" lIns="85175" spcFirstLastPara="1" rIns="85175" wrap="square" tIns="85175">
            <a:noAutofit/>
          </a:bodyPr>
          <a:lstStyle/>
          <a:p>
            <a:pPr indent="0" lvl="0" marL="0" rtl="0" algn="l">
              <a:spcBef>
                <a:spcPts val="0"/>
              </a:spcBef>
              <a:spcAft>
                <a:spcPts val="0"/>
              </a:spcAft>
              <a:buClr>
                <a:schemeClr val="dk1"/>
              </a:buClr>
              <a:buSzPts val="1400"/>
              <a:buFont typeface="Arial"/>
              <a:buNone/>
            </a:pPr>
            <a:r>
              <a:rPr b="1" lang="en" sz="1000">
                <a:solidFill>
                  <a:srgbClr val="C00000"/>
                </a:solidFill>
                <a:latin typeface="Lexend"/>
                <a:ea typeface="Lexend"/>
                <a:cs typeface="Lexend"/>
                <a:sym typeface="Lexend"/>
              </a:rPr>
              <a:t>⇒ </a:t>
            </a:r>
            <a:r>
              <a:rPr lang="en" sz="1000">
                <a:solidFill>
                  <a:srgbClr val="C00000"/>
                </a:solidFill>
                <a:latin typeface="Lexend"/>
                <a:ea typeface="Lexend"/>
                <a:cs typeface="Lexend"/>
                <a:sym typeface="Lexend"/>
              </a:rPr>
              <a:t>We need to evaluate how </a:t>
            </a:r>
            <a:r>
              <a:rPr b="1" lang="en" sz="1000">
                <a:solidFill>
                  <a:srgbClr val="C00000"/>
                </a:solidFill>
                <a:latin typeface="Lexend"/>
                <a:ea typeface="Lexend"/>
                <a:cs typeface="Lexend"/>
                <a:sym typeface="Lexend"/>
              </a:rPr>
              <a:t>conformalization</a:t>
            </a:r>
            <a:r>
              <a:rPr lang="en" sz="1000">
                <a:solidFill>
                  <a:srgbClr val="C00000"/>
                </a:solidFill>
                <a:latin typeface="Lexend"/>
                <a:ea typeface="Lexend"/>
                <a:cs typeface="Lexend"/>
                <a:sym typeface="Lexend"/>
              </a:rPr>
              <a:t> affects performance using dedicated, industrially relevant metrics.</a:t>
            </a:r>
            <a:endParaRPr b="1" sz="624">
              <a:solidFill>
                <a:srgbClr val="C00000"/>
              </a:solidFill>
              <a:latin typeface="Lexend"/>
              <a:ea typeface="Lexend"/>
              <a:cs typeface="Lexend"/>
              <a:sym typeface="Lexend"/>
            </a:endParaRPr>
          </a:p>
        </p:txBody>
      </p:sp>
      <p:grpSp>
        <p:nvGrpSpPr>
          <p:cNvPr id="163" name="Google Shape;163;p27"/>
          <p:cNvGrpSpPr/>
          <p:nvPr/>
        </p:nvGrpSpPr>
        <p:grpSpPr>
          <a:xfrm>
            <a:off x="238880" y="3062947"/>
            <a:ext cx="2775605" cy="1551884"/>
            <a:chOff x="1598239" y="949977"/>
            <a:chExt cx="3933681" cy="2259915"/>
          </a:xfrm>
        </p:grpSpPr>
        <p:pic>
          <p:nvPicPr>
            <p:cNvPr id="164" name="Google Shape;164;p27"/>
            <p:cNvPicPr preferRelativeResize="0"/>
            <p:nvPr/>
          </p:nvPicPr>
          <p:blipFill rotWithShape="1">
            <a:blip r:embed="rId4">
              <a:alphaModFix/>
            </a:blip>
            <a:srcRect b="46031" l="27592" r="24670" t="5722"/>
            <a:stretch/>
          </p:blipFill>
          <p:spPr>
            <a:xfrm>
              <a:off x="1598239" y="949977"/>
              <a:ext cx="3933681" cy="2259915"/>
            </a:xfrm>
            <a:prstGeom prst="rect">
              <a:avLst/>
            </a:prstGeom>
            <a:noFill/>
            <a:ln>
              <a:noFill/>
            </a:ln>
            <a:effectLst>
              <a:outerShdw blurRad="46036" rotWithShape="0" algn="bl" dir="5400000" dist="15345">
                <a:srgbClr val="000000">
                  <a:alpha val="49410"/>
                </a:srgbClr>
              </a:outerShdw>
            </a:effectLst>
          </p:spPr>
        </p:pic>
        <p:sp>
          <p:nvSpPr>
            <p:cNvPr id="165" name="Google Shape;165;p27"/>
            <p:cNvSpPr/>
            <p:nvPr/>
          </p:nvSpPr>
          <p:spPr>
            <a:xfrm>
              <a:off x="1925925" y="1471200"/>
              <a:ext cx="3340200" cy="1487100"/>
            </a:xfrm>
            <a:prstGeom prst="rect">
              <a:avLst/>
            </a:prstGeom>
            <a:noFill/>
            <a:ln cap="flat" cmpd="sng" w="23025">
              <a:solidFill>
                <a:srgbClr val="FE8F00"/>
              </a:solidFill>
              <a:prstDash val="solid"/>
              <a:round/>
              <a:headEnd len="sm" w="sm" type="none"/>
              <a:tailEnd len="sm" w="sm" type="none"/>
            </a:ln>
          </p:spPr>
          <p:txBody>
            <a:bodyPr anchorCtr="0" anchor="ctr" bIns="73650" lIns="73650" spcFirstLastPara="1" rIns="73650" wrap="square" tIns="73650">
              <a:noAutofit/>
            </a:bodyPr>
            <a:lstStyle/>
            <a:p>
              <a:pPr indent="0" lvl="0" marL="0" marR="0" rtl="0" algn="ctr">
                <a:lnSpc>
                  <a:spcPct val="100000"/>
                </a:lnSpc>
                <a:spcBef>
                  <a:spcPts val="0"/>
                </a:spcBef>
                <a:spcAft>
                  <a:spcPts val="0"/>
                </a:spcAft>
                <a:buClr>
                  <a:srgbClr val="000000"/>
                </a:buClr>
                <a:buSzPts val="1128"/>
                <a:buFont typeface="Arial"/>
                <a:buNone/>
              </a:pPr>
              <a:r>
                <a:t/>
              </a:r>
              <a:endParaRPr b="0" i="0" sz="1127" u="none" cap="none" strike="noStrike">
                <a:solidFill>
                  <a:srgbClr val="000000"/>
                </a:solidFill>
                <a:latin typeface="Arial"/>
                <a:ea typeface="Arial"/>
                <a:cs typeface="Arial"/>
                <a:sym typeface="Arial"/>
              </a:endParaRPr>
            </a:p>
          </p:txBody>
        </p:sp>
        <p:sp>
          <p:nvSpPr>
            <p:cNvPr id="166" name="Google Shape;166;p27"/>
            <p:cNvSpPr/>
            <p:nvPr/>
          </p:nvSpPr>
          <p:spPr>
            <a:xfrm>
              <a:off x="2184900" y="1541550"/>
              <a:ext cx="2906700" cy="1324200"/>
            </a:xfrm>
            <a:prstGeom prst="rect">
              <a:avLst/>
            </a:prstGeom>
            <a:noFill/>
            <a:ln cap="flat" cmpd="sng" w="15350">
              <a:solidFill>
                <a:srgbClr val="00FFFF"/>
              </a:solidFill>
              <a:prstDash val="solid"/>
              <a:round/>
              <a:headEnd len="sm" w="sm" type="none"/>
              <a:tailEnd len="sm" w="sm" type="none"/>
            </a:ln>
          </p:spPr>
          <p:txBody>
            <a:bodyPr anchorCtr="0" anchor="ctr" bIns="73650" lIns="73650" spcFirstLastPara="1" rIns="73650" wrap="square" tIns="73650">
              <a:noAutofit/>
            </a:bodyPr>
            <a:lstStyle/>
            <a:p>
              <a:pPr indent="0" lvl="0" marL="0" marR="0" rtl="0" algn="ctr">
                <a:lnSpc>
                  <a:spcPct val="100000"/>
                </a:lnSpc>
                <a:spcBef>
                  <a:spcPts val="0"/>
                </a:spcBef>
                <a:spcAft>
                  <a:spcPts val="0"/>
                </a:spcAft>
                <a:buClr>
                  <a:srgbClr val="000000"/>
                </a:buClr>
                <a:buSzPts val="1128"/>
                <a:buFont typeface="Arial"/>
                <a:buNone/>
              </a:pPr>
              <a:r>
                <a:t/>
              </a:r>
              <a:endParaRPr b="0" i="0" sz="1127" u="none" cap="none" strike="noStrike">
                <a:solidFill>
                  <a:srgbClr val="000000"/>
                </a:solidFill>
                <a:latin typeface="Arial"/>
                <a:ea typeface="Arial"/>
                <a:cs typeface="Arial"/>
                <a:sym typeface="Arial"/>
              </a:endParaRPr>
            </a:p>
          </p:txBody>
        </p:sp>
      </p:grpSp>
      <p:pic>
        <p:nvPicPr>
          <p:cNvPr id="167" name="Google Shape;167;p27"/>
          <p:cNvPicPr preferRelativeResize="0"/>
          <p:nvPr/>
        </p:nvPicPr>
        <p:blipFill rotWithShape="1">
          <a:blip r:embed="rId5">
            <a:alphaModFix/>
          </a:blip>
          <a:srcRect b="22117" l="2512" r="17977" t="-3944"/>
          <a:stretch/>
        </p:blipFill>
        <p:spPr>
          <a:xfrm>
            <a:off x="6847027" y="0"/>
            <a:ext cx="1392197" cy="462250"/>
          </a:xfrm>
          <a:prstGeom prst="rect">
            <a:avLst/>
          </a:prstGeom>
          <a:noFill/>
          <a:ln>
            <a:noFill/>
          </a:ln>
          <a:effectLst>
            <a:outerShdw blurRad="57150" rotWithShape="0" algn="bl" dir="5400000" dist="19050">
              <a:srgbClr val="000000">
                <a:alpha val="49020"/>
              </a:srgbClr>
            </a:outerShdw>
          </a:effectLst>
        </p:spPr>
      </p:pic>
      <p:sp>
        <p:nvSpPr>
          <p:cNvPr id="168" name="Google Shape;168;p27"/>
          <p:cNvSpPr txBox="1"/>
          <p:nvPr/>
        </p:nvSpPr>
        <p:spPr>
          <a:xfrm>
            <a:off x="271913" y="1400651"/>
            <a:ext cx="1592400" cy="289800"/>
          </a:xfrm>
          <a:prstGeom prst="rect">
            <a:avLst/>
          </a:prstGeom>
          <a:noFill/>
          <a:ln cap="flat" cmpd="sng" w="7775">
            <a:solidFill>
              <a:schemeClr val="dk2"/>
            </a:solidFill>
            <a:prstDash val="solid"/>
            <a:round/>
            <a:headEnd len="sm" w="sm" type="none"/>
            <a:tailEnd len="sm" w="sm" type="none"/>
          </a:ln>
        </p:spPr>
        <p:txBody>
          <a:bodyPr anchorCtr="0" anchor="t" bIns="74825" lIns="74825" spcFirstLastPara="1" rIns="74825" wrap="square" tIns="74825">
            <a:spAutoFit/>
          </a:bodyPr>
          <a:lstStyle/>
          <a:p>
            <a:pPr indent="0" lvl="0" marL="0" marR="0" rtl="0" algn="l">
              <a:lnSpc>
                <a:spcPct val="115000"/>
              </a:lnSpc>
              <a:spcBef>
                <a:spcPts val="982"/>
              </a:spcBef>
              <a:spcAft>
                <a:spcPts val="0"/>
              </a:spcAft>
              <a:buNone/>
            </a:pPr>
            <a:r>
              <a:rPr lang="en" sz="900">
                <a:solidFill>
                  <a:srgbClr val="00205B"/>
                </a:solidFill>
                <a:latin typeface="Lexend Medium"/>
                <a:ea typeface="Lexend Medium"/>
                <a:cs typeface="Lexend Medium"/>
                <a:sym typeface="Lexend Medium"/>
              </a:rPr>
              <a:t>1. Runway Detection</a:t>
            </a:r>
            <a:r>
              <a:rPr b="1" lang="en" sz="900">
                <a:solidFill>
                  <a:srgbClr val="00205B"/>
                </a:solidFill>
                <a:latin typeface="Lexend"/>
                <a:ea typeface="Lexend"/>
                <a:cs typeface="Lexend"/>
                <a:sym typeface="Lexend"/>
              </a:rPr>
              <a:t>  </a:t>
            </a:r>
            <a:endParaRPr sz="900">
              <a:solidFill>
                <a:srgbClr val="00205B"/>
              </a:solidFill>
              <a:latin typeface="Lexend"/>
              <a:ea typeface="Lexend"/>
              <a:cs typeface="Lexend"/>
              <a:sym typeface="Lexend"/>
            </a:endParaRPr>
          </a:p>
        </p:txBody>
      </p:sp>
      <p:sp>
        <p:nvSpPr>
          <p:cNvPr id="169" name="Google Shape;169;p27"/>
          <p:cNvSpPr txBox="1"/>
          <p:nvPr/>
        </p:nvSpPr>
        <p:spPr>
          <a:xfrm>
            <a:off x="2715197" y="1202007"/>
            <a:ext cx="1592400" cy="449100"/>
          </a:xfrm>
          <a:prstGeom prst="rect">
            <a:avLst/>
          </a:prstGeom>
          <a:noFill/>
          <a:ln cap="flat" cmpd="sng" w="7775">
            <a:solidFill>
              <a:schemeClr val="dk2"/>
            </a:solidFill>
            <a:prstDash val="solid"/>
            <a:round/>
            <a:headEnd len="sm" w="sm" type="none"/>
            <a:tailEnd len="sm" w="sm" type="none"/>
          </a:ln>
        </p:spPr>
        <p:txBody>
          <a:bodyPr anchorCtr="0" anchor="t" bIns="74825" lIns="74825" spcFirstLastPara="1" rIns="74825" wrap="square" tIns="74825">
            <a:spAutoFit/>
          </a:bodyPr>
          <a:lstStyle/>
          <a:p>
            <a:pPr indent="0" lvl="0" marL="0" marR="0" rtl="0" algn="ctr">
              <a:lnSpc>
                <a:spcPct val="115000"/>
              </a:lnSpc>
              <a:spcBef>
                <a:spcPts val="982"/>
              </a:spcBef>
              <a:spcAft>
                <a:spcPts val="0"/>
              </a:spcAft>
              <a:buNone/>
            </a:pPr>
            <a:r>
              <a:rPr lang="en" sz="900">
                <a:solidFill>
                  <a:srgbClr val="00205B"/>
                </a:solidFill>
                <a:latin typeface="Lexend Medium"/>
                <a:ea typeface="Lexend Medium"/>
                <a:cs typeface="Lexend Medium"/>
                <a:sym typeface="Lexend Medium"/>
              </a:rPr>
              <a:t>2. 2D Key points extractions </a:t>
            </a:r>
            <a:r>
              <a:rPr b="1" lang="en" sz="900">
                <a:solidFill>
                  <a:srgbClr val="00205B"/>
                </a:solidFill>
                <a:latin typeface="Lexend"/>
                <a:ea typeface="Lexend"/>
                <a:cs typeface="Lexend"/>
                <a:sym typeface="Lexend"/>
              </a:rPr>
              <a:t>  </a:t>
            </a:r>
            <a:endParaRPr sz="900">
              <a:solidFill>
                <a:srgbClr val="00205B"/>
              </a:solidFill>
              <a:latin typeface="Lexend"/>
              <a:ea typeface="Lexend"/>
              <a:cs typeface="Lexend"/>
              <a:sym typeface="Lexend"/>
            </a:endParaRPr>
          </a:p>
        </p:txBody>
      </p:sp>
      <p:pic>
        <p:nvPicPr>
          <p:cNvPr id="170" name="Google Shape;170;p27"/>
          <p:cNvPicPr preferRelativeResize="0"/>
          <p:nvPr/>
        </p:nvPicPr>
        <p:blipFill rotWithShape="1">
          <a:blip r:embed="rId6">
            <a:alphaModFix/>
          </a:blip>
          <a:srcRect b="14755" l="0" r="0" t="25507"/>
          <a:stretch/>
        </p:blipFill>
        <p:spPr>
          <a:xfrm>
            <a:off x="459015" y="1776642"/>
            <a:ext cx="1218200" cy="1005792"/>
          </a:xfrm>
          <a:prstGeom prst="rect">
            <a:avLst/>
          </a:prstGeom>
          <a:noFill/>
          <a:ln>
            <a:noFill/>
          </a:ln>
        </p:spPr>
      </p:pic>
      <p:sp>
        <p:nvSpPr>
          <p:cNvPr id="171" name="Google Shape;171;p27"/>
          <p:cNvSpPr/>
          <p:nvPr/>
        </p:nvSpPr>
        <p:spPr>
          <a:xfrm>
            <a:off x="671987" y="2167472"/>
            <a:ext cx="738000" cy="521700"/>
          </a:xfrm>
          <a:prstGeom prst="rect">
            <a:avLst/>
          </a:prstGeom>
          <a:noFill/>
          <a:ln cap="flat" cmpd="sng" w="15600">
            <a:solidFill>
              <a:srgbClr val="C00000"/>
            </a:solidFill>
            <a:prstDash val="solid"/>
            <a:round/>
            <a:headEnd len="sm" w="sm" type="none"/>
            <a:tailEnd len="sm" w="sm" type="none"/>
          </a:ln>
          <a:effectLst>
            <a:outerShdw blurRad="46785" rotWithShape="0" algn="bl" dir="5400000" dist="15595">
              <a:srgbClr val="000000">
                <a:alpha val="49410"/>
              </a:srgbClr>
            </a:outerShdw>
          </a:effectLst>
        </p:spPr>
        <p:txBody>
          <a:bodyPr anchorCtr="0" anchor="ctr" bIns="74825" lIns="74825" spcFirstLastPara="1" rIns="74825" wrap="square" tIns="74825">
            <a:noAutofit/>
          </a:bodyPr>
          <a:lstStyle/>
          <a:p>
            <a:pPr indent="0" lvl="0" marL="0" marR="0" rtl="0" algn="ctr">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pic>
        <p:nvPicPr>
          <p:cNvPr id="172" name="Google Shape;172;p27"/>
          <p:cNvPicPr preferRelativeResize="0"/>
          <p:nvPr/>
        </p:nvPicPr>
        <p:blipFill rotWithShape="1">
          <a:blip r:embed="rId6">
            <a:alphaModFix/>
          </a:blip>
          <a:srcRect b="21427" l="18238" r="19343" t="49087"/>
          <a:stretch/>
        </p:blipFill>
        <p:spPr>
          <a:xfrm>
            <a:off x="1933484" y="1987704"/>
            <a:ext cx="799057" cy="521685"/>
          </a:xfrm>
          <a:prstGeom prst="rect">
            <a:avLst/>
          </a:prstGeom>
          <a:noFill/>
          <a:ln>
            <a:noFill/>
          </a:ln>
        </p:spPr>
      </p:pic>
      <p:sp>
        <p:nvSpPr>
          <p:cNvPr id="173" name="Google Shape;173;p27"/>
          <p:cNvSpPr/>
          <p:nvPr/>
        </p:nvSpPr>
        <p:spPr>
          <a:xfrm>
            <a:off x="1947439" y="1987705"/>
            <a:ext cx="771300" cy="521700"/>
          </a:xfrm>
          <a:prstGeom prst="rect">
            <a:avLst/>
          </a:prstGeom>
          <a:noFill/>
          <a:ln cap="flat" cmpd="sng" w="15600">
            <a:solidFill>
              <a:srgbClr val="C00000"/>
            </a:solidFill>
            <a:prstDash val="solid"/>
            <a:round/>
            <a:headEnd len="sm" w="sm" type="none"/>
            <a:tailEnd len="sm" w="sm" type="none"/>
          </a:ln>
          <a:effectLst>
            <a:outerShdw blurRad="46785" rotWithShape="0" algn="bl" dir="5400000" dist="15595">
              <a:srgbClr val="000000">
                <a:alpha val="49410"/>
              </a:srgbClr>
            </a:outerShdw>
          </a:effectLst>
        </p:spPr>
        <p:txBody>
          <a:bodyPr anchorCtr="0" anchor="ctr" bIns="74825" lIns="74825" spcFirstLastPara="1" rIns="74825" wrap="square" tIns="74825">
            <a:noAutofit/>
          </a:bodyPr>
          <a:lstStyle/>
          <a:p>
            <a:pPr indent="0" lvl="0" marL="0" marR="0" rtl="0" algn="ctr">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174" name="Google Shape;174;p27"/>
          <p:cNvSpPr txBox="1"/>
          <p:nvPr/>
        </p:nvSpPr>
        <p:spPr>
          <a:xfrm>
            <a:off x="2068737" y="1611576"/>
            <a:ext cx="528600" cy="277200"/>
          </a:xfrm>
          <a:prstGeom prst="rect">
            <a:avLst/>
          </a:prstGeom>
          <a:noFill/>
          <a:ln cap="flat" cmpd="sng" w="7775">
            <a:solidFill>
              <a:schemeClr val="lt1"/>
            </a:solidFill>
            <a:prstDash val="solid"/>
            <a:round/>
            <a:headEnd len="sm" w="sm" type="none"/>
            <a:tailEnd len="sm" w="sm" type="none"/>
          </a:ln>
        </p:spPr>
        <p:txBody>
          <a:bodyPr anchorCtr="0" anchor="t" bIns="74825" lIns="74825" spcFirstLastPara="1" rIns="74825" wrap="square" tIns="74825">
            <a:spAutoFit/>
          </a:bodyPr>
          <a:lstStyle/>
          <a:p>
            <a:pPr indent="0" lvl="0" marL="0" marR="0" rtl="0" algn="l">
              <a:lnSpc>
                <a:spcPct val="115000"/>
              </a:lnSpc>
              <a:spcBef>
                <a:spcPts val="982"/>
              </a:spcBef>
              <a:spcAft>
                <a:spcPts val="0"/>
              </a:spcAft>
              <a:buNone/>
            </a:pPr>
            <a:r>
              <a:rPr lang="en" sz="818">
                <a:solidFill>
                  <a:srgbClr val="00205B"/>
                </a:solidFill>
                <a:latin typeface="Lexend Medium"/>
                <a:ea typeface="Lexend Medium"/>
                <a:cs typeface="Lexend Medium"/>
                <a:sym typeface="Lexend Medium"/>
              </a:rPr>
              <a:t>Crop </a:t>
            </a:r>
            <a:endParaRPr sz="818">
              <a:solidFill>
                <a:srgbClr val="00205B"/>
              </a:solidFill>
              <a:latin typeface="Lexend"/>
              <a:ea typeface="Lexend"/>
              <a:cs typeface="Lexend"/>
              <a:sym typeface="Lexend"/>
            </a:endParaRPr>
          </a:p>
        </p:txBody>
      </p:sp>
      <p:pic>
        <p:nvPicPr>
          <p:cNvPr id="175" name="Google Shape;175;p27"/>
          <p:cNvPicPr preferRelativeResize="0"/>
          <p:nvPr/>
        </p:nvPicPr>
        <p:blipFill rotWithShape="1">
          <a:blip r:embed="rId6">
            <a:alphaModFix amt="29000"/>
          </a:blip>
          <a:srcRect b="23757" l="18238" r="19343" t="36863"/>
          <a:stretch/>
        </p:blipFill>
        <p:spPr>
          <a:xfrm>
            <a:off x="2915428" y="1700403"/>
            <a:ext cx="1218273" cy="1062272"/>
          </a:xfrm>
          <a:prstGeom prst="rect">
            <a:avLst/>
          </a:prstGeom>
          <a:noFill/>
          <a:ln>
            <a:noFill/>
          </a:ln>
          <a:effectLst>
            <a:outerShdw blurRad="59403" rotWithShape="0" algn="bl" dir="5400000" dist="19801">
              <a:srgbClr val="000000">
                <a:alpha val="50000"/>
              </a:srgbClr>
            </a:outerShdw>
          </a:effectLst>
        </p:spPr>
      </p:pic>
      <p:sp>
        <p:nvSpPr>
          <p:cNvPr id="176" name="Google Shape;176;p27"/>
          <p:cNvSpPr/>
          <p:nvPr/>
        </p:nvSpPr>
        <p:spPr>
          <a:xfrm>
            <a:off x="3390908" y="1737953"/>
            <a:ext cx="64500" cy="714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177" name="Google Shape;177;p27"/>
          <p:cNvSpPr/>
          <p:nvPr/>
        </p:nvSpPr>
        <p:spPr>
          <a:xfrm>
            <a:off x="3541589" y="1737959"/>
            <a:ext cx="64500" cy="714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178" name="Google Shape;178;p27"/>
          <p:cNvSpPr txBox="1"/>
          <p:nvPr/>
        </p:nvSpPr>
        <p:spPr>
          <a:xfrm>
            <a:off x="131690" y="1086741"/>
            <a:ext cx="855600" cy="248400"/>
          </a:xfrm>
          <a:prstGeom prst="rect">
            <a:avLst/>
          </a:prstGeom>
          <a:noFill/>
          <a:ln>
            <a:noFill/>
          </a:ln>
        </p:spPr>
        <p:txBody>
          <a:bodyPr anchorCtr="0" anchor="t" bIns="78375" lIns="78375" spcFirstLastPara="1" rIns="78375" wrap="square" tIns="78375">
            <a:noAutofit/>
          </a:bodyPr>
          <a:lstStyle/>
          <a:p>
            <a:pPr indent="0" lvl="0" marL="0" marR="0" rtl="0" algn="l">
              <a:lnSpc>
                <a:spcPct val="100000"/>
              </a:lnSpc>
              <a:spcBef>
                <a:spcPts val="0"/>
              </a:spcBef>
              <a:spcAft>
                <a:spcPts val="0"/>
              </a:spcAft>
              <a:buClr>
                <a:srgbClr val="000000"/>
              </a:buClr>
              <a:buSzPts val="1200"/>
              <a:buFont typeface="Arial"/>
              <a:buNone/>
            </a:pPr>
            <a:r>
              <a:rPr b="1" lang="en" sz="666">
                <a:solidFill>
                  <a:srgbClr val="C00000"/>
                </a:solidFill>
                <a:latin typeface="Lexend"/>
                <a:ea typeface="Lexend"/>
                <a:cs typeface="Lexend"/>
                <a:sym typeface="Lexend"/>
              </a:rPr>
              <a:t>The problem …</a:t>
            </a:r>
            <a:endParaRPr b="0" i="0" sz="666" u="none" cap="none" strike="noStrike">
              <a:solidFill>
                <a:srgbClr val="C00000"/>
              </a:solidFill>
              <a:latin typeface="Lexend"/>
              <a:ea typeface="Lexend"/>
              <a:cs typeface="Lexend"/>
              <a:sym typeface="Lexend"/>
            </a:endParaRPr>
          </a:p>
        </p:txBody>
      </p:sp>
      <p:pic>
        <p:nvPicPr>
          <p:cNvPr id="179" name="Google Shape;179;p27"/>
          <p:cNvPicPr preferRelativeResize="0"/>
          <p:nvPr/>
        </p:nvPicPr>
        <p:blipFill rotWithShape="1">
          <a:blip r:embed="rId6">
            <a:alphaModFix/>
          </a:blip>
          <a:srcRect b="22055" l="18238" r="19343" t="48890"/>
          <a:stretch/>
        </p:blipFill>
        <p:spPr>
          <a:xfrm>
            <a:off x="2915428" y="2019680"/>
            <a:ext cx="1218282" cy="783764"/>
          </a:xfrm>
          <a:prstGeom prst="rect">
            <a:avLst/>
          </a:prstGeom>
          <a:noFill/>
          <a:ln>
            <a:noFill/>
          </a:ln>
          <a:effectLst>
            <a:outerShdw blurRad="59403" rotWithShape="0" algn="bl" dir="5400000" dist="19801">
              <a:srgbClr val="000000">
                <a:alpha val="50000"/>
              </a:srgbClr>
            </a:outerShdw>
          </a:effectLst>
        </p:spPr>
      </p:pic>
      <p:sp>
        <p:nvSpPr>
          <p:cNvPr id="180" name="Google Shape;180;p27"/>
          <p:cNvSpPr/>
          <p:nvPr/>
        </p:nvSpPr>
        <p:spPr>
          <a:xfrm>
            <a:off x="2959853" y="2584253"/>
            <a:ext cx="105600" cy="1050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181" name="Google Shape;181;p27"/>
          <p:cNvSpPr/>
          <p:nvPr/>
        </p:nvSpPr>
        <p:spPr>
          <a:xfrm>
            <a:off x="3944340" y="2583317"/>
            <a:ext cx="105600" cy="1050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cxnSp>
        <p:nvCxnSpPr>
          <p:cNvPr id="182" name="Google Shape;182;p27"/>
          <p:cNvCxnSpPr/>
          <p:nvPr/>
        </p:nvCxnSpPr>
        <p:spPr>
          <a:xfrm>
            <a:off x="3371815" y="1730958"/>
            <a:ext cx="104100" cy="85500"/>
          </a:xfrm>
          <a:prstGeom prst="straightConnector1">
            <a:avLst/>
          </a:prstGeom>
          <a:noFill/>
          <a:ln cap="flat" cmpd="sng" w="11900">
            <a:solidFill>
              <a:srgbClr val="C00000"/>
            </a:solidFill>
            <a:prstDash val="solid"/>
            <a:round/>
            <a:headEnd len="med" w="med" type="none"/>
            <a:tailEnd len="med" w="med" type="none"/>
          </a:ln>
        </p:spPr>
      </p:cxnSp>
      <p:cxnSp>
        <p:nvCxnSpPr>
          <p:cNvPr id="183" name="Google Shape;183;p27"/>
          <p:cNvCxnSpPr/>
          <p:nvPr/>
        </p:nvCxnSpPr>
        <p:spPr>
          <a:xfrm flipH="1">
            <a:off x="3370399" y="1730708"/>
            <a:ext cx="97200" cy="86100"/>
          </a:xfrm>
          <a:prstGeom prst="straightConnector1">
            <a:avLst/>
          </a:prstGeom>
          <a:noFill/>
          <a:ln cap="flat" cmpd="sng" w="11900">
            <a:solidFill>
              <a:srgbClr val="C00000"/>
            </a:solidFill>
            <a:prstDash val="solid"/>
            <a:round/>
            <a:headEnd len="med" w="med" type="none"/>
            <a:tailEnd len="med" w="med" type="none"/>
          </a:ln>
        </p:spPr>
      </p:cxnSp>
      <p:cxnSp>
        <p:nvCxnSpPr>
          <p:cNvPr id="184" name="Google Shape;184;p27"/>
          <p:cNvCxnSpPr/>
          <p:nvPr/>
        </p:nvCxnSpPr>
        <p:spPr>
          <a:xfrm>
            <a:off x="3522492" y="1730958"/>
            <a:ext cx="104100" cy="85500"/>
          </a:xfrm>
          <a:prstGeom prst="straightConnector1">
            <a:avLst/>
          </a:prstGeom>
          <a:noFill/>
          <a:ln cap="flat" cmpd="sng" w="11900">
            <a:solidFill>
              <a:srgbClr val="C00000"/>
            </a:solidFill>
            <a:prstDash val="solid"/>
            <a:round/>
            <a:headEnd len="med" w="med" type="none"/>
            <a:tailEnd len="med" w="med" type="none"/>
          </a:ln>
        </p:spPr>
      </p:cxnSp>
      <p:cxnSp>
        <p:nvCxnSpPr>
          <p:cNvPr id="185" name="Google Shape;185;p27"/>
          <p:cNvCxnSpPr/>
          <p:nvPr/>
        </p:nvCxnSpPr>
        <p:spPr>
          <a:xfrm flipH="1">
            <a:off x="3521077" y="1730708"/>
            <a:ext cx="97200" cy="86100"/>
          </a:xfrm>
          <a:prstGeom prst="straightConnector1">
            <a:avLst/>
          </a:prstGeom>
          <a:noFill/>
          <a:ln cap="flat" cmpd="sng" w="11900">
            <a:solidFill>
              <a:srgbClr val="C00000"/>
            </a:solidFill>
            <a:prstDash val="solid"/>
            <a:round/>
            <a:headEnd len="med" w="med" type="none"/>
            <a:tailEnd len="med" w="med" type="none"/>
          </a:ln>
        </p:spPr>
      </p:cxnSp>
      <p:sp>
        <p:nvSpPr>
          <p:cNvPr id="186" name="Google Shape;186;p27"/>
          <p:cNvSpPr txBox="1"/>
          <p:nvPr/>
        </p:nvSpPr>
        <p:spPr>
          <a:xfrm>
            <a:off x="4999665" y="1752480"/>
            <a:ext cx="3924600" cy="717000"/>
          </a:xfrm>
          <a:prstGeom prst="rect">
            <a:avLst/>
          </a:prstGeom>
          <a:noFill/>
          <a:ln>
            <a:noFill/>
          </a:ln>
        </p:spPr>
        <p:txBody>
          <a:bodyPr anchorCtr="0" anchor="t" bIns="62525" lIns="62525" spcFirstLastPara="1" rIns="62525" wrap="square" tIns="62525">
            <a:spAutoFit/>
          </a:bodyPr>
          <a:lstStyle/>
          <a:p>
            <a:pPr indent="0" lvl="0" marL="0" marR="0" rtl="0" algn="l">
              <a:lnSpc>
                <a:spcPct val="115000"/>
              </a:lnSpc>
              <a:spcBef>
                <a:spcPts val="821"/>
              </a:spcBef>
              <a:spcAft>
                <a:spcPts val="821"/>
              </a:spcAft>
              <a:buClr>
                <a:srgbClr val="000000"/>
              </a:buClr>
              <a:buSzPts val="1163"/>
              <a:buFont typeface="Arial"/>
              <a:buNone/>
            </a:pPr>
            <a:r>
              <a:rPr lang="en" sz="1162">
                <a:solidFill>
                  <a:srgbClr val="00205B"/>
                </a:solidFill>
                <a:latin typeface="Lexend"/>
                <a:ea typeface="Lexend"/>
                <a:cs typeface="Lexend"/>
                <a:sym typeface="Lexend"/>
              </a:rPr>
              <a:t>If the bounding box </a:t>
            </a:r>
            <a:r>
              <a:rPr b="1" lang="en" sz="1162">
                <a:solidFill>
                  <a:srgbClr val="00205B"/>
                </a:solidFill>
                <a:latin typeface="Lexend"/>
                <a:ea typeface="Lexend"/>
                <a:cs typeface="Lexend"/>
                <a:sym typeface="Lexend"/>
              </a:rPr>
              <a:t>does not fully contain</a:t>
            </a:r>
            <a:r>
              <a:rPr lang="en" sz="1162">
                <a:solidFill>
                  <a:srgbClr val="00205B"/>
                </a:solidFill>
                <a:latin typeface="Lexend"/>
                <a:ea typeface="Lexend"/>
                <a:cs typeface="Lexend"/>
                <a:sym typeface="Lexend"/>
              </a:rPr>
              <a:t> the ground truth and thus misses </a:t>
            </a:r>
            <a:r>
              <a:rPr b="1" lang="en" sz="1162">
                <a:solidFill>
                  <a:srgbClr val="00205B"/>
                </a:solidFill>
                <a:latin typeface="Lexend"/>
                <a:ea typeface="Lexend"/>
                <a:cs typeface="Lexend"/>
                <a:sym typeface="Lexend"/>
              </a:rPr>
              <a:t>at least 3 key points </a:t>
            </a:r>
            <a:r>
              <a:rPr i="1" lang="en" sz="1162">
                <a:solidFill>
                  <a:schemeClr val="dk1"/>
                </a:solidFill>
                <a:latin typeface="Lexend"/>
                <a:ea typeface="Lexend"/>
                <a:cs typeface="Lexend"/>
                <a:sym typeface="Lexend"/>
              </a:rPr>
              <a:t>⇒  </a:t>
            </a:r>
            <a:r>
              <a:rPr b="1" i="1" lang="en" sz="1162">
                <a:solidFill>
                  <a:srgbClr val="C00000"/>
                </a:solidFill>
                <a:latin typeface="Lexend"/>
                <a:ea typeface="Lexend"/>
                <a:cs typeface="Lexend"/>
                <a:sym typeface="Lexend"/>
              </a:rPr>
              <a:t>the VLS fails.</a:t>
            </a:r>
            <a:endParaRPr b="1" sz="1162" u="none" cap="none" strike="noStrike">
              <a:solidFill>
                <a:srgbClr val="C00000"/>
              </a:solidFill>
              <a:latin typeface="Lexend"/>
              <a:ea typeface="Lexend"/>
              <a:cs typeface="Lexend"/>
              <a:sym typeface="Lexend"/>
            </a:endParaRPr>
          </a:p>
        </p:txBody>
      </p:sp>
      <p:sp>
        <p:nvSpPr>
          <p:cNvPr id="187" name="Google Shape;187;p27"/>
          <p:cNvSpPr txBox="1"/>
          <p:nvPr/>
        </p:nvSpPr>
        <p:spPr>
          <a:xfrm>
            <a:off x="4621440" y="1877519"/>
            <a:ext cx="302100" cy="407700"/>
          </a:xfrm>
          <a:prstGeom prst="rect">
            <a:avLst/>
          </a:prstGeom>
          <a:noFill/>
          <a:ln>
            <a:noFill/>
          </a:ln>
        </p:spPr>
        <p:txBody>
          <a:bodyPr anchorCtr="0" anchor="t" bIns="62525" lIns="62525" spcFirstLastPara="1" rIns="62525" wrap="square" tIns="62525">
            <a:noAutofit/>
          </a:bodyPr>
          <a:lstStyle/>
          <a:p>
            <a:pPr indent="0" lvl="0" marL="0" marR="0" rtl="0" algn="l">
              <a:lnSpc>
                <a:spcPct val="100000"/>
              </a:lnSpc>
              <a:spcBef>
                <a:spcPts val="0"/>
              </a:spcBef>
              <a:spcAft>
                <a:spcPts val="0"/>
              </a:spcAft>
              <a:buClr>
                <a:srgbClr val="000000"/>
              </a:buClr>
              <a:buSzPts val="2120"/>
              <a:buFont typeface="Arial"/>
              <a:buNone/>
            </a:pPr>
            <a:r>
              <a:rPr b="0" i="0" lang="en" sz="2120" u="none" cap="none" strike="noStrike">
                <a:solidFill>
                  <a:schemeClr val="dk2"/>
                </a:solidFill>
                <a:latin typeface="Arial"/>
                <a:ea typeface="Arial"/>
                <a:cs typeface="Arial"/>
                <a:sym typeface="Arial"/>
              </a:rPr>
              <a:t>🚨</a:t>
            </a:r>
            <a:endParaRPr b="0" i="0" sz="2120" u="none" cap="none" strike="noStrike">
              <a:solidFill>
                <a:schemeClr val="dk2"/>
              </a:solidFill>
              <a:latin typeface="Arial"/>
              <a:ea typeface="Arial"/>
              <a:cs typeface="Arial"/>
              <a:sym typeface="Arial"/>
            </a:endParaRPr>
          </a:p>
        </p:txBody>
      </p:sp>
      <p:sp>
        <p:nvSpPr>
          <p:cNvPr id="188" name="Google Shape;188;p27"/>
          <p:cNvSpPr txBox="1"/>
          <p:nvPr/>
        </p:nvSpPr>
        <p:spPr>
          <a:xfrm>
            <a:off x="538250" y="4909200"/>
            <a:ext cx="4946400" cy="1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lang="en" sz="800">
                <a:latin typeface="Lexend ExtraLight"/>
                <a:ea typeface="Lexend ExtraLight"/>
                <a:cs typeface="Lexend ExtraLight"/>
                <a:sym typeface="Lexend ExtraLight"/>
              </a:rPr>
              <a:t>De Grancey et al</a:t>
            </a:r>
            <a:r>
              <a:rPr lang="en" sz="800">
                <a:latin typeface="Lexend ExtraLight"/>
                <a:ea typeface="Lexend ExtraLight"/>
                <a:cs typeface="Lexend ExtraLight"/>
                <a:sym typeface="Lexend ExtraLight"/>
              </a:rPr>
              <a:t>, WAISE 2022</a:t>
            </a:r>
            <a:endParaRPr sz="800">
              <a:latin typeface="Lexend ExtraLight"/>
              <a:ea typeface="Lexend ExtraLight"/>
              <a:cs typeface="Lexend ExtraLight"/>
              <a:sym typeface="Lexend ExtraLight"/>
            </a:endParaRPr>
          </a:p>
        </p:txBody>
      </p:sp>
      <p:sp>
        <p:nvSpPr>
          <p:cNvPr id="189" name="Google Shape;189;p27"/>
          <p:cNvSpPr txBox="1"/>
          <p:nvPr/>
        </p:nvSpPr>
        <p:spPr>
          <a:xfrm>
            <a:off x="3903169" y="3151955"/>
            <a:ext cx="5073600" cy="648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1700"/>
              <a:buFont typeface="Arial"/>
              <a:buNone/>
            </a:pPr>
            <a:r>
              <a:rPr b="1" i="0" lang="en" u="none" cap="none" strike="noStrike">
                <a:solidFill>
                  <a:srgbClr val="00205B"/>
                </a:solidFill>
                <a:latin typeface="Lexend"/>
                <a:ea typeface="Lexend"/>
                <a:cs typeface="Lexend"/>
                <a:sym typeface="Lexend"/>
              </a:rPr>
              <a:t>But HOW ? </a:t>
            </a:r>
            <a:r>
              <a:rPr b="0" i="0" lang="en" sz="1000" u="none" cap="none" strike="noStrike">
                <a:solidFill>
                  <a:srgbClr val="00205B"/>
                </a:solidFill>
                <a:latin typeface="Lexend"/>
                <a:ea typeface="Lexend"/>
                <a:cs typeface="Lexend"/>
                <a:sym typeface="Lexend"/>
              </a:rPr>
              <a:t>by applying Conformal Prediction to the output of object detection models.</a:t>
            </a:r>
            <a:r>
              <a:rPr b="0" i="0" lang="en" u="none" cap="none" strike="noStrike">
                <a:solidFill>
                  <a:srgbClr val="00205B"/>
                </a:solidFill>
                <a:latin typeface="Lexend Light"/>
                <a:ea typeface="Lexend Light"/>
                <a:cs typeface="Lexend Light"/>
                <a:sym typeface="Lexend Light"/>
              </a:rPr>
              <a:t> </a:t>
            </a:r>
            <a:endParaRPr b="0" i="0" u="none" cap="none" strike="noStrike">
              <a:solidFill>
                <a:srgbClr val="00205B"/>
              </a:solidFill>
              <a:latin typeface="Lexend Light"/>
              <a:ea typeface="Lexend Light"/>
              <a:cs typeface="Lexend Light"/>
              <a:sym typeface="Lexend Light"/>
            </a:endParaRPr>
          </a:p>
        </p:txBody>
      </p:sp>
      <p:grpSp>
        <p:nvGrpSpPr>
          <p:cNvPr id="190" name="Google Shape;190;p27"/>
          <p:cNvGrpSpPr/>
          <p:nvPr/>
        </p:nvGrpSpPr>
        <p:grpSpPr>
          <a:xfrm>
            <a:off x="1014725" y="647150"/>
            <a:ext cx="6625587" cy="400800"/>
            <a:chOff x="-1501008" y="673634"/>
            <a:chExt cx="9981300" cy="400800"/>
          </a:xfrm>
        </p:grpSpPr>
        <p:sp>
          <p:nvSpPr>
            <p:cNvPr id="191" name="Google Shape;191;p27"/>
            <p:cNvSpPr txBox="1"/>
            <p:nvPr/>
          </p:nvSpPr>
          <p:spPr>
            <a:xfrm>
              <a:off x="-1501008" y="673634"/>
              <a:ext cx="9981300" cy="40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C00000"/>
                  </a:solidFill>
                  <a:latin typeface="Lexend"/>
                  <a:ea typeface="Lexend"/>
                  <a:cs typeface="Lexend"/>
                  <a:sym typeface="Lexend"/>
                </a:rPr>
                <a:t>GOAL</a:t>
              </a:r>
              <a:r>
                <a:rPr b="0" i="0" lang="en" sz="1200" u="none" cap="none" strike="noStrike">
                  <a:solidFill>
                    <a:schemeClr val="dk1"/>
                  </a:solidFill>
                  <a:latin typeface="Lexend"/>
                  <a:ea typeface="Lexend"/>
                  <a:cs typeface="Lexend"/>
                  <a:sym typeface="Lexend"/>
                </a:rPr>
                <a:t> = </a:t>
              </a:r>
              <a:r>
                <a:rPr b="0" i="0" lang="en" sz="1100" u="none" cap="none" strike="noStrike">
                  <a:solidFill>
                    <a:schemeClr val="dk1"/>
                  </a:solidFill>
                  <a:latin typeface="Lexend"/>
                  <a:ea typeface="Lexend"/>
                  <a:cs typeface="Lexend"/>
                  <a:sym typeface="Lexend"/>
                </a:rPr>
                <a:t> Predict bounding box that </a:t>
              </a:r>
              <a:r>
                <a:rPr b="1" i="0" lang="en" sz="1100" u="none" cap="none" strike="noStrike">
                  <a:solidFill>
                    <a:schemeClr val="dk1"/>
                  </a:solidFill>
                  <a:latin typeface="Lexend"/>
                  <a:ea typeface="Lexend"/>
                  <a:cs typeface="Lexend"/>
                  <a:sym typeface="Lexend"/>
                </a:rPr>
                <a:t>covers </a:t>
              </a:r>
              <a:r>
                <a:rPr b="0" i="0" lang="en" sz="1100" u="none" cap="none" strike="noStrike">
                  <a:solidFill>
                    <a:schemeClr val="dk1"/>
                  </a:solidFill>
                  <a:latin typeface="Lexend"/>
                  <a:ea typeface="Lexend"/>
                  <a:cs typeface="Lexend"/>
                  <a:sym typeface="Lexend"/>
                </a:rPr>
                <a:t>the true object </a:t>
              </a:r>
              <a:r>
                <a:rPr lang="en" sz="1100">
                  <a:solidFill>
                    <a:schemeClr val="dk1"/>
                  </a:solidFill>
                  <a:latin typeface="Lexend"/>
                  <a:ea typeface="Lexend"/>
                  <a:cs typeface="Lexend"/>
                  <a:sym typeface="Lexend"/>
                </a:rPr>
                <a:t>under </a:t>
              </a:r>
              <a:r>
                <a:rPr b="0" i="0" lang="en" sz="1100" u="none" cap="none" strike="noStrike">
                  <a:solidFill>
                    <a:schemeClr val="dk1"/>
                  </a:solidFill>
                  <a:latin typeface="Lexend"/>
                  <a:ea typeface="Lexend"/>
                  <a:cs typeface="Lexend"/>
                  <a:sym typeface="Lexend"/>
                </a:rPr>
                <a:t>a certain level of </a:t>
              </a:r>
              <a:r>
                <a:rPr lang="en" sz="1100">
                  <a:solidFill>
                    <a:schemeClr val="dk1"/>
                  </a:solidFill>
                  <a:latin typeface="Lexend"/>
                  <a:ea typeface="Lexend"/>
                  <a:cs typeface="Lexend"/>
                  <a:sym typeface="Lexend"/>
                </a:rPr>
                <a:t>risk</a:t>
              </a:r>
              <a:endParaRPr b="0" i="0" sz="11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chemeClr val="dk1"/>
                  </a:solidFill>
                  <a:latin typeface="Lexend"/>
                  <a:ea typeface="Lexend"/>
                  <a:cs typeface="Lexend"/>
                  <a:sym typeface="Lexend"/>
                </a:rPr>
                <a:t>    </a:t>
              </a:r>
              <a:endParaRPr b="0" i="0" sz="1200" u="none" cap="none" strike="noStrike">
                <a:solidFill>
                  <a:schemeClr val="dk1"/>
                </a:solidFill>
                <a:latin typeface="Lexend"/>
                <a:ea typeface="Lexend"/>
                <a:cs typeface="Lexend"/>
                <a:sym typeface="Lexend"/>
              </a:endParaRPr>
            </a:p>
          </p:txBody>
        </p:sp>
        <p:pic>
          <p:nvPicPr>
            <p:cNvPr descr="%5Calpha" id="192" name="Google Shape;192;p27"/>
            <p:cNvPicPr preferRelativeResize="0"/>
            <p:nvPr/>
          </p:nvPicPr>
          <p:blipFill rotWithShape="1">
            <a:blip r:embed="rId7">
              <a:alphaModFix/>
            </a:blip>
            <a:srcRect b="-11856" l="-25793" r="-15849" t="0"/>
            <a:stretch/>
          </p:blipFill>
          <p:spPr>
            <a:xfrm>
              <a:off x="7938433" y="749834"/>
              <a:ext cx="253568" cy="2484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p:nvPr/>
        </p:nvSpPr>
        <p:spPr>
          <a:xfrm>
            <a:off x="1497950" y="686178"/>
            <a:ext cx="6394500" cy="700800"/>
          </a:xfrm>
          <a:prstGeom prst="roundRect">
            <a:avLst>
              <a:gd fmla="val 16667" name="adj"/>
            </a:avLst>
          </a:prstGeom>
          <a:gradFill>
            <a:gsLst>
              <a:gs pos="0">
                <a:srgbClr val="CC4125"/>
              </a:gs>
              <a:gs pos="100000">
                <a:srgbClr val="E6B8AF"/>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8"/>
          <p:cNvSpPr txBox="1"/>
          <p:nvPr/>
        </p:nvSpPr>
        <p:spPr>
          <a:xfrm>
            <a:off x="288425" y="72250"/>
            <a:ext cx="66552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How does CP work for Object Detection ? </a:t>
            </a:r>
            <a:endParaRPr sz="1800">
              <a:solidFill>
                <a:srgbClr val="00205B"/>
              </a:solidFill>
              <a:latin typeface="Lexend Medium"/>
              <a:ea typeface="Lexend Medium"/>
              <a:cs typeface="Lexend Medium"/>
              <a:sym typeface="Lexend Medium"/>
            </a:endParaRPr>
          </a:p>
        </p:txBody>
      </p:sp>
      <p:cxnSp>
        <p:nvCxnSpPr>
          <p:cNvPr id="199" name="Google Shape;199;p28"/>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200" name="Google Shape;200;p28"/>
          <p:cNvPicPr preferRelativeResize="0"/>
          <p:nvPr/>
        </p:nvPicPr>
        <p:blipFill rotWithShape="1">
          <a:blip r:embed="rId3">
            <a:alphaModFix/>
          </a:blip>
          <a:srcRect b="0" l="0" r="0" t="0"/>
          <a:stretch/>
        </p:blipFill>
        <p:spPr>
          <a:xfrm>
            <a:off x="8266150" y="91401"/>
            <a:ext cx="703375" cy="351675"/>
          </a:xfrm>
          <a:prstGeom prst="rect">
            <a:avLst/>
          </a:prstGeom>
          <a:noFill/>
          <a:ln>
            <a:noFill/>
          </a:ln>
        </p:spPr>
      </p:pic>
      <p:cxnSp>
        <p:nvCxnSpPr>
          <p:cNvPr id="201" name="Google Shape;201;p28"/>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202" name="Google Shape;202;p28"/>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graphicFrame>
        <p:nvGraphicFramePr>
          <p:cNvPr id="203" name="Google Shape;203;p28"/>
          <p:cNvGraphicFramePr/>
          <p:nvPr/>
        </p:nvGraphicFramePr>
        <p:xfrm>
          <a:off x="3986250" y="1676900"/>
          <a:ext cx="3000000" cy="3000000"/>
        </p:xfrm>
        <a:graphic>
          <a:graphicData uri="http://schemas.openxmlformats.org/drawingml/2006/table">
            <a:tbl>
              <a:tblPr>
                <a:noFill/>
                <a:tableStyleId>{C5D82071-8FC1-4E9F-818D-5FCD9D01816F}</a:tableStyleId>
              </a:tblPr>
              <a:tblGrid>
                <a:gridCol w="972025"/>
                <a:gridCol w="992825"/>
                <a:gridCol w="982425"/>
                <a:gridCol w="982425"/>
                <a:gridCol w="982425"/>
              </a:tblGrid>
              <a:tr h="691625">
                <a:tc>
                  <a:txBody>
                    <a:bodyPr/>
                    <a:lstStyle/>
                    <a:p>
                      <a:pPr indent="0" lvl="0" marL="0" marR="0" rtl="0" algn="l">
                        <a:lnSpc>
                          <a:spcPct val="100000"/>
                        </a:lnSpc>
                        <a:spcBef>
                          <a:spcPts val="0"/>
                        </a:spcBef>
                        <a:spcAft>
                          <a:spcPts val="0"/>
                        </a:spcAft>
                        <a:buClr>
                          <a:srgbClr val="000000"/>
                        </a:buClr>
                        <a:buSzPts val="1100"/>
                        <a:buFont typeface="Arial"/>
                        <a:buNone/>
                      </a:pPr>
                      <a:r>
                        <a:rPr lang="en" sz="1100">
                          <a:latin typeface="Lexend"/>
                          <a:ea typeface="Lexend"/>
                          <a:cs typeface="Lexend"/>
                          <a:sym typeface="Lexend"/>
                        </a:rPr>
                        <a:t>Calibration</a:t>
                      </a:r>
                      <a:endParaRPr sz="1100">
                        <a:latin typeface="Lexend"/>
                        <a:ea typeface="Lexend"/>
                        <a:cs typeface="Lexend"/>
                        <a:sym typeface="Lexend"/>
                      </a:endParaRPr>
                    </a:p>
                    <a:p>
                      <a:pPr indent="0" lvl="0" marL="0" marR="0" rtl="0" algn="l">
                        <a:lnSpc>
                          <a:spcPct val="100000"/>
                        </a:lnSpc>
                        <a:spcBef>
                          <a:spcPts val="0"/>
                        </a:spcBef>
                        <a:spcAft>
                          <a:spcPts val="0"/>
                        </a:spcAft>
                        <a:buClr>
                          <a:srgbClr val="000000"/>
                        </a:buClr>
                        <a:buSzPts val="1100"/>
                        <a:buFont typeface="Arial"/>
                        <a:buNone/>
                      </a:pPr>
                      <a:r>
                        <a:rPr lang="en" sz="1100">
                          <a:latin typeface="Lexend"/>
                          <a:ea typeface="Lexend"/>
                          <a:cs typeface="Lexend"/>
                          <a:sym typeface="Lexend"/>
                        </a:rPr>
                        <a:t>Item</a:t>
                      </a:r>
                      <a:endParaRPr sz="1100">
                        <a:latin typeface="Lexend"/>
                        <a:ea typeface="Lexend"/>
                        <a:cs typeface="Lexend"/>
                        <a:sym typeface="Lexe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562925">
                <a:tc>
                  <a:txBody>
                    <a:bodyPr/>
                    <a:lstStyle/>
                    <a:p>
                      <a:pPr indent="0" lvl="0" marL="0" marR="0" rtl="0" algn="l">
                        <a:lnSpc>
                          <a:spcPct val="100000"/>
                        </a:lnSpc>
                        <a:spcBef>
                          <a:spcPts val="0"/>
                        </a:spcBef>
                        <a:spcAft>
                          <a:spcPts val="0"/>
                        </a:spcAft>
                        <a:buClr>
                          <a:srgbClr val="000000"/>
                        </a:buClr>
                        <a:buSzPts val="1100"/>
                        <a:buFont typeface="Arial"/>
                        <a:buNone/>
                      </a:pPr>
                      <a:r>
                        <a:rPr lang="en" sz="1100">
                          <a:latin typeface="Lexend"/>
                          <a:ea typeface="Lexend"/>
                          <a:cs typeface="Lexend"/>
                          <a:sym typeface="Lexend"/>
                        </a:rPr>
                        <a:t>True Positive </a:t>
                      </a:r>
                      <a:r>
                        <a:rPr lang="en" sz="1100" u="none" cap="none" strike="noStrike">
                          <a:latin typeface="Lexend"/>
                          <a:ea typeface="Lexend"/>
                          <a:cs typeface="Lexend"/>
                          <a:sym typeface="Lexend"/>
                        </a:rPr>
                        <a:t>? </a:t>
                      </a:r>
                      <a:endParaRPr sz="1100" u="none" cap="none" strike="noStrike">
                        <a:latin typeface="Lexend"/>
                        <a:ea typeface="Lexend"/>
                        <a:cs typeface="Lexend"/>
                        <a:sym typeface="Lexe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Lexend"/>
                        <a:ea typeface="Lexend"/>
                        <a:cs typeface="Lexend"/>
                        <a:sym typeface="Lexe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pic>
        <p:nvPicPr>
          <p:cNvPr id="204" name="Google Shape;204;p28"/>
          <p:cNvPicPr preferRelativeResize="0"/>
          <p:nvPr/>
        </p:nvPicPr>
        <p:blipFill rotWithShape="1">
          <a:blip r:embed="rId4">
            <a:alphaModFix amt="79000"/>
          </a:blip>
          <a:srcRect b="6213" l="0" r="0" t="25508"/>
          <a:stretch/>
        </p:blipFill>
        <p:spPr>
          <a:xfrm>
            <a:off x="5585773" y="3175820"/>
            <a:ext cx="1666724" cy="1554656"/>
          </a:xfrm>
          <a:prstGeom prst="rect">
            <a:avLst/>
          </a:prstGeom>
          <a:noFill/>
          <a:ln>
            <a:noFill/>
          </a:ln>
        </p:spPr>
      </p:pic>
      <p:sp>
        <p:nvSpPr>
          <p:cNvPr id="205" name="Google Shape;205;p28"/>
          <p:cNvSpPr/>
          <p:nvPr/>
        </p:nvSpPr>
        <p:spPr>
          <a:xfrm>
            <a:off x="5826086" y="3355204"/>
            <a:ext cx="1106700" cy="956700"/>
          </a:xfrm>
          <a:prstGeom prst="rect">
            <a:avLst/>
          </a:prstGeom>
          <a:noFill/>
          <a:ln cap="flat" cmpd="sng" w="16300">
            <a:solidFill>
              <a:srgbClr val="FE8F00"/>
            </a:solidFill>
            <a:prstDash val="solid"/>
            <a:round/>
            <a:headEnd len="sm" w="sm" type="none"/>
            <a:tailEnd len="sm" w="sm" type="none"/>
          </a:ln>
          <a:effectLst>
            <a:outerShdw blurRad="48899" rotWithShape="0" algn="bl" dir="5400000" dist="16300">
              <a:srgbClr val="000000">
                <a:alpha val="49410"/>
              </a:srgbClr>
            </a:outerShdw>
          </a:effectLst>
        </p:spPr>
        <p:txBody>
          <a:bodyPr anchorCtr="0" anchor="ctr" bIns="78225" lIns="78225" spcFirstLastPara="1" rIns="78225" wrap="square" tIns="78225">
            <a:noAutofit/>
          </a:bodyPr>
          <a:lstStyle/>
          <a:p>
            <a:pPr indent="0" lvl="0" marL="0" marR="0" rtl="0" algn="ctr">
              <a:lnSpc>
                <a:spcPct val="100000"/>
              </a:lnSpc>
              <a:spcBef>
                <a:spcPts val="0"/>
              </a:spcBef>
              <a:spcAft>
                <a:spcPts val="0"/>
              </a:spcAft>
              <a:buClr>
                <a:srgbClr val="000000"/>
              </a:buClr>
              <a:buSzPts val="1198"/>
              <a:buFont typeface="Arial"/>
              <a:buNone/>
            </a:pPr>
            <a:r>
              <a:t/>
            </a:r>
            <a:endParaRPr b="0" i="0" sz="1197" u="none" cap="none" strike="noStrike">
              <a:solidFill>
                <a:srgbClr val="000000"/>
              </a:solidFill>
              <a:latin typeface="Arial"/>
              <a:ea typeface="Arial"/>
              <a:cs typeface="Arial"/>
              <a:sym typeface="Arial"/>
            </a:endParaRPr>
          </a:p>
        </p:txBody>
      </p:sp>
      <p:sp>
        <p:nvSpPr>
          <p:cNvPr id="206" name="Google Shape;206;p28"/>
          <p:cNvSpPr/>
          <p:nvPr/>
        </p:nvSpPr>
        <p:spPr>
          <a:xfrm>
            <a:off x="5925786" y="3458030"/>
            <a:ext cx="940500" cy="781500"/>
          </a:xfrm>
          <a:prstGeom prst="rect">
            <a:avLst/>
          </a:prstGeom>
          <a:noFill/>
          <a:ln cap="flat" cmpd="sng" w="16300">
            <a:solidFill>
              <a:srgbClr val="00FFFF"/>
            </a:solidFill>
            <a:prstDash val="solid"/>
            <a:round/>
            <a:headEnd len="sm" w="sm" type="none"/>
            <a:tailEnd len="sm" w="sm" type="none"/>
          </a:ln>
          <a:effectLst>
            <a:outerShdw blurRad="48899" rotWithShape="0" algn="bl" dir="5400000" dist="16300">
              <a:srgbClr val="000000">
                <a:alpha val="49410"/>
              </a:srgbClr>
            </a:outerShdw>
          </a:effectLst>
        </p:spPr>
        <p:txBody>
          <a:bodyPr anchorCtr="0" anchor="ctr" bIns="78225" lIns="78225" spcFirstLastPara="1" rIns="78225" wrap="square" tIns="78225">
            <a:noAutofit/>
          </a:bodyPr>
          <a:lstStyle/>
          <a:p>
            <a:pPr indent="0" lvl="0" marL="0" marR="0" rtl="0" algn="ctr">
              <a:lnSpc>
                <a:spcPct val="100000"/>
              </a:lnSpc>
              <a:spcBef>
                <a:spcPts val="0"/>
              </a:spcBef>
              <a:spcAft>
                <a:spcPts val="0"/>
              </a:spcAft>
              <a:buClr>
                <a:srgbClr val="000000"/>
              </a:buClr>
              <a:buSzPts val="1198"/>
              <a:buFont typeface="Arial"/>
              <a:buNone/>
            </a:pPr>
            <a:r>
              <a:t/>
            </a:r>
            <a:endParaRPr b="0" i="0" sz="1197" u="none" cap="none" strike="noStrike">
              <a:solidFill>
                <a:srgbClr val="000000"/>
              </a:solidFill>
              <a:latin typeface="Arial"/>
              <a:ea typeface="Arial"/>
              <a:cs typeface="Arial"/>
              <a:sym typeface="Arial"/>
            </a:endParaRPr>
          </a:p>
        </p:txBody>
      </p:sp>
      <p:cxnSp>
        <p:nvCxnSpPr>
          <p:cNvPr id="207" name="Google Shape;207;p28"/>
          <p:cNvCxnSpPr/>
          <p:nvPr/>
        </p:nvCxnSpPr>
        <p:spPr>
          <a:xfrm>
            <a:off x="6866357" y="4239435"/>
            <a:ext cx="70500" cy="78900"/>
          </a:xfrm>
          <a:prstGeom prst="straightConnector1">
            <a:avLst/>
          </a:prstGeom>
          <a:noFill/>
          <a:ln cap="flat" cmpd="sng" w="8150">
            <a:solidFill>
              <a:srgbClr val="E69138"/>
            </a:solidFill>
            <a:prstDash val="dash"/>
            <a:round/>
            <a:headEnd len="sm" w="sm" type="none"/>
            <a:tailEnd len="med" w="med" type="stealth"/>
          </a:ln>
          <a:effectLst>
            <a:outerShdw blurRad="48899" rotWithShape="0" algn="bl" dir="5400000" dist="16300">
              <a:srgbClr val="000000">
                <a:alpha val="49410"/>
              </a:srgbClr>
            </a:outerShdw>
          </a:effectLst>
        </p:spPr>
      </p:cxnSp>
      <p:cxnSp>
        <p:nvCxnSpPr>
          <p:cNvPr id="208" name="Google Shape;208;p28"/>
          <p:cNvCxnSpPr/>
          <p:nvPr/>
        </p:nvCxnSpPr>
        <p:spPr>
          <a:xfrm rot="10800000">
            <a:off x="5826023" y="3355288"/>
            <a:ext cx="87000" cy="83700"/>
          </a:xfrm>
          <a:prstGeom prst="straightConnector1">
            <a:avLst/>
          </a:prstGeom>
          <a:noFill/>
          <a:ln cap="flat" cmpd="sng" w="8150">
            <a:solidFill>
              <a:srgbClr val="E69138"/>
            </a:solidFill>
            <a:prstDash val="dash"/>
            <a:round/>
            <a:headEnd len="sm" w="sm" type="none"/>
            <a:tailEnd len="med" w="med" type="stealth"/>
          </a:ln>
          <a:effectLst>
            <a:outerShdw blurRad="48899" rotWithShape="0" algn="bl" dir="5400000" dist="16300">
              <a:srgbClr val="000000">
                <a:alpha val="49410"/>
              </a:srgbClr>
            </a:outerShdw>
          </a:effectLst>
        </p:spPr>
      </p:cxnSp>
      <p:sp>
        <p:nvSpPr>
          <p:cNvPr id="209" name="Google Shape;209;p28"/>
          <p:cNvSpPr txBox="1"/>
          <p:nvPr/>
        </p:nvSpPr>
        <p:spPr>
          <a:xfrm>
            <a:off x="6759114" y="3125125"/>
            <a:ext cx="804600" cy="201900"/>
          </a:xfrm>
          <a:prstGeom prst="rect">
            <a:avLst/>
          </a:prstGeom>
          <a:solidFill>
            <a:schemeClr val="lt2"/>
          </a:solidFill>
          <a:ln cap="flat" cmpd="sng" w="8150">
            <a:solidFill>
              <a:schemeClr val="dk1"/>
            </a:solidFill>
            <a:prstDash val="solid"/>
            <a:round/>
            <a:headEnd len="sm" w="sm" type="none"/>
            <a:tailEnd len="sm" w="sm" type="none"/>
          </a:ln>
        </p:spPr>
        <p:txBody>
          <a:bodyPr anchorCtr="0" anchor="t" bIns="78225" lIns="78225" spcFirstLastPara="1" rIns="78225" wrap="square" tIns="78225">
            <a:noAutofit/>
          </a:bodyPr>
          <a:lstStyle/>
          <a:p>
            <a:pPr indent="0" lvl="0" marL="0" marR="0" rtl="0" algn="l">
              <a:lnSpc>
                <a:spcPct val="100000"/>
              </a:lnSpc>
              <a:spcBef>
                <a:spcPts val="0"/>
              </a:spcBef>
              <a:spcAft>
                <a:spcPts val="0"/>
              </a:spcAft>
              <a:buClr>
                <a:srgbClr val="000000"/>
              </a:buClr>
              <a:buSzPts val="685"/>
              <a:buFont typeface="Arial"/>
              <a:buNone/>
            </a:pPr>
            <a:r>
              <a:rPr b="0" i="0" lang="en" sz="684" u="none" cap="none" strike="noStrike">
                <a:solidFill>
                  <a:schemeClr val="dk1"/>
                </a:solidFill>
                <a:latin typeface="Lexend"/>
                <a:ea typeface="Lexend"/>
                <a:cs typeface="Lexend"/>
                <a:sym typeface="Lexend"/>
              </a:rPr>
              <a:t>(xmax , Ymax)</a:t>
            </a:r>
            <a:endParaRPr b="0" i="0" sz="684" u="none" cap="none" strike="noStrike">
              <a:solidFill>
                <a:schemeClr val="dk1"/>
              </a:solidFill>
              <a:latin typeface="Lexend"/>
              <a:ea typeface="Lexend"/>
              <a:cs typeface="Lexend"/>
              <a:sym typeface="Lexend"/>
            </a:endParaRPr>
          </a:p>
        </p:txBody>
      </p:sp>
      <p:sp>
        <p:nvSpPr>
          <p:cNvPr id="210" name="Google Shape;210;p28"/>
          <p:cNvSpPr txBox="1"/>
          <p:nvPr/>
        </p:nvSpPr>
        <p:spPr>
          <a:xfrm>
            <a:off x="5327950" y="4509190"/>
            <a:ext cx="832800" cy="221400"/>
          </a:xfrm>
          <a:prstGeom prst="rect">
            <a:avLst/>
          </a:prstGeom>
          <a:solidFill>
            <a:schemeClr val="lt2"/>
          </a:solidFill>
          <a:ln cap="flat" cmpd="sng" w="8150">
            <a:solidFill>
              <a:schemeClr val="dk1"/>
            </a:solidFill>
            <a:prstDash val="solid"/>
            <a:round/>
            <a:headEnd len="sm" w="sm" type="none"/>
            <a:tailEnd len="sm" w="sm" type="none"/>
          </a:ln>
        </p:spPr>
        <p:txBody>
          <a:bodyPr anchorCtr="0" anchor="t" bIns="78225" lIns="78225" spcFirstLastPara="1" rIns="78225" wrap="square" tIns="78225">
            <a:noAutofit/>
          </a:bodyPr>
          <a:lstStyle/>
          <a:p>
            <a:pPr indent="0" lvl="0" marL="0" marR="0" rtl="0" algn="l">
              <a:lnSpc>
                <a:spcPct val="100000"/>
              </a:lnSpc>
              <a:spcBef>
                <a:spcPts val="0"/>
              </a:spcBef>
              <a:spcAft>
                <a:spcPts val="0"/>
              </a:spcAft>
              <a:buClr>
                <a:srgbClr val="000000"/>
              </a:buClr>
              <a:buSzPts val="685"/>
              <a:buFont typeface="Arial"/>
              <a:buNone/>
            </a:pPr>
            <a:r>
              <a:rPr b="0" i="0" lang="en" sz="684" u="none" cap="none" strike="noStrike">
                <a:solidFill>
                  <a:schemeClr val="dk1"/>
                </a:solidFill>
                <a:latin typeface="Lexend"/>
                <a:ea typeface="Lexend"/>
                <a:cs typeface="Lexend"/>
                <a:sym typeface="Lexend"/>
              </a:rPr>
              <a:t>(xmin , Ymin)</a:t>
            </a:r>
            <a:endParaRPr b="0" i="0" sz="684" u="none" cap="none" strike="noStrike">
              <a:solidFill>
                <a:schemeClr val="dk1"/>
              </a:solidFill>
              <a:latin typeface="Lexend"/>
              <a:ea typeface="Lexend"/>
              <a:cs typeface="Lexend"/>
              <a:sym typeface="Lexend"/>
            </a:endParaRPr>
          </a:p>
        </p:txBody>
      </p:sp>
      <p:cxnSp>
        <p:nvCxnSpPr>
          <p:cNvPr id="211" name="Google Shape;211;p28"/>
          <p:cNvCxnSpPr>
            <a:stCxn id="210" idx="0"/>
          </p:cNvCxnSpPr>
          <p:nvPr/>
        </p:nvCxnSpPr>
        <p:spPr>
          <a:xfrm flipH="1" rot="10800000">
            <a:off x="5744350" y="4247590"/>
            <a:ext cx="183300" cy="261600"/>
          </a:xfrm>
          <a:prstGeom prst="straightConnector1">
            <a:avLst/>
          </a:prstGeom>
          <a:noFill/>
          <a:ln cap="flat" cmpd="sng" w="8150">
            <a:solidFill>
              <a:schemeClr val="dk1"/>
            </a:solidFill>
            <a:prstDash val="solid"/>
            <a:round/>
            <a:headEnd len="sm" w="sm" type="none"/>
            <a:tailEnd len="med" w="med" type="stealth"/>
          </a:ln>
        </p:spPr>
      </p:cxnSp>
      <p:cxnSp>
        <p:nvCxnSpPr>
          <p:cNvPr id="212" name="Google Shape;212;p28"/>
          <p:cNvCxnSpPr>
            <a:stCxn id="209" idx="2"/>
          </p:cNvCxnSpPr>
          <p:nvPr/>
        </p:nvCxnSpPr>
        <p:spPr>
          <a:xfrm flipH="1">
            <a:off x="6957414" y="3327025"/>
            <a:ext cx="204000" cy="144300"/>
          </a:xfrm>
          <a:prstGeom prst="straightConnector1">
            <a:avLst/>
          </a:prstGeom>
          <a:noFill/>
          <a:ln cap="flat" cmpd="sng" w="8150">
            <a:solidFill>
              <a:schemeClr val="dk1"/>
            </a:solidFill>
            <a:prstDash val="solid"/>
            <a:round/>
            <a:headEnd len="sm" w="sm" type="none"/>
            <a:tailEnd len="med" w="med" type="stealth"/>
          </a:ln>
        </p:spPr>
      </p:cxnSp>
      <p:sp>
        <p:nvSpPr>
          <p:cNvPr id="213" name="Google Shape;213;p28"/>
          <p:cNvSpPr txBox="1"/>
          <p:nvPr/>
        </p:nvSpPr>
        <p:spPr>
          <a:xfrm>
            <a:off x="288425" y="1676899"/>
            <a:ext cx="3541500" cy="30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u="sng">
                <a:solidFill>
                  <a:srgbClr val="00205B"/>
                </a:solidFill>
                <a:latin typeface="Lexend"/>
                <a:ea typeface="Lexend"/>
                <a:cs typeface="Lexend"/>
                <a:sym typeface="Lexend"/>
              </a:rPr>
              <a:t>Key Steps in Conformal Object Detection with </a:t>
            </a:r>
            <a:r>
              <a:rPr b="1" lang="en" sz="1100" u="sng">
                <a:solidFill>
                  <a:srgbClr val="00205B"/>
                </a:solidFill>
                <a:latin typeface="Lexend"/>
                <a:ea typeface="Lexend"/>
                <a:cs typeface="Lexend"/>
                <a:sym typeface="Lexend"/>
              </a:rPr>
              <a:t>PUNCC</a:t>
            </a:r>
            <a:r>
              <a:rPr b="1" lang="en" sz="1100" u="sng">
                <a:solidFill>
                  <a:srgbClr val="00205B"/>
                </a:solidFill>
                <a:latin typeface="Lexend"/>
                <a:ea typeface="Lexend"/>
                <a:cs typeface="Lexend"/>
                <a:sym typeface="Lexend"/>
              </a:rPr>
              <a:t> : </a:t>
            </a:r>
            <a:endParaRPr b="1" sz="1100" u="sng">
              <a:solidFill>
                <a:srgbClr val="00205B"/>
              </a:solidFill>
              <a:latin typeface="Lexend"/>
              <a:ea typeface="Lexend"/>
              <a:cs typeface="Lexend"/>
              <a:sym typeface="Lexend"/>
            </a:endParaRPr>
          </a:p>
          <a:p>
            <a:pPr indent="0" lvl="0" marL="0" rtl="0" algn="l">
              <a:spcBef>
                <a:spcPts val="0"/>
              </a:spcBef>
              <a:spcAft>
                <a:spcPts val="0"/>
              </a:spcAft>
              <a:buNone/>
            </a:pPr>
            <a:r>
              <a:t/>
            </a:r>
            <a:endParaRPr b="1" sz="1000" u="sng">
              <a:solidFill>
                <a:srgbClr val="00205B"/>
              </a:solidFill>
              <a:latin typeface="Lexend"/>
              <a:ea typeface="Lexend"/>
              <a:cs typeface="Lexend"/>
              <a:sym typeface="Lexend"/>
            </a:endParaRPr>
          </a:p>
          <a:p>
            <a:pPr indent="-292100" lvl="0" marL="457200" rtl="0" algn="l">
              <a:spcBef>
                <a:spcPts val="0"/>
              </a:spcBef>
              <a:spcAft>
                <a:spcPts val="0"/>
              </a:spcAft>
              <a:buClr>
                <a:srgbClr val="00205B"/>
              </a:buClr>
              <a:buSzPts val="1000"/>
              <a:buFont typeface="Lexend"/>
              <a:buAutoNum type="arabicPeriod"/>
            </a:pPr>
            <a:r>
              <a:rPr b="1" lang="en" sz="1000">
                <a:solidFill>
                  <a:srgbClr val="00205B"/>
                </a:solidFill>
                <a:latin typeface="Lexend"/>
                <a:ea typeface="Lexend"/>
                <a:cs typeface="Lexend"/>
                <a:sym typeface="Lexend"/>
              </a:rPr>
              <a:t>Train a </a:t>
            </a:r>
            <a:r>
              <a:rPr b="1" lang="en" sz="1000">
                <a:solidFill>
                  <a:srgbClr val="C00000"/>
                </a:solidFill>
                <a:latin typeface="Lexend"/>
                <a:ea typeface="Lexend"/>
                <a:cs typeface="Lexend"/>
                <a:sym typeface="Lexend"/>
              </a:rPr>
              <a:t>Base Predictor</a:t>
            </a:r>
            <a:r>
              <a:rPr lang="en" sz="1000">
                <a:solidFill>
                  <a:srgbClr val="00205B"/>
                </a:solidFill>
                <a:latin typeface="Lexend"/>
                <a:ea typeface="Lexend"/>
                <a:cs typeface="Lexend"/>
                <a:sym typeface="Lexend"/>
              </a:rPr>
              <a:t> → YOLO</a:t>
            </a:r>
            <a:endParaRPr sz="1000">
              <a:solidFill>
                <a:srgbClr val="00205B"/>
              </a:solidFill>
              <a:latin typeface="Lexend"/>
              <a:ea typeface="Lexend"/>
              <a:cs typeface="Lexend"/>
              <a:sym typeface="Lexend"/>
            </a:endParaRPr>
          </a:p>
          <a:p>
            <a:pPr indent="0" lvl="0" marL="457200" rtl="0" algn="l">
              <a:spcBef>
                <a:spcPts val="0"/>
              </a:spcBef>
              <a:spcAft>
                <a:spcPts val="0"/>
              </a:spcAft>
              <a:buNone/>
            </a:pPr>
            <a:r>
              <a:t/>
            </a:r>
            <a:endParaRPr sz="1000">
              <a:solidFill>
                <a:srgbClr val="00205B"/>
              </a:solidFill>
              <a:latin typeface="Lexend"/>
              <a:ea typeface="Lexend"/>
              <a:cs typeface="Lexend"/>
              <a:sym typeface="Lexend"/>
            </a:endParaRPr>
          </a:p>
          <a:p>
            <a:pPr indent="-292100" lvl="0" marL="457200" rtl="0" algn="l">
              <a:spcBef>
                <a:spcPts val="0"/>
              </a:spcBef>
              <a:spcAft>
                <a:spcPts val="0"/>
              </a:spcAft>
              <a:buClr>
                <a:srgbClr val="00205B"/>
              </a:buClr>
              <a:buSzPts val="1000"/>
              <a:buFont typeface="Lexend"/>
              <a:buAutoNum type="arabicPeriod"/>
            </a:pPr>
            <a:r>
              <a:rPr b="1" lang="en" sz="1000">
                <a:solidFill>
                  <a:srgbClr val="00205B"/>
                </a:solidFill>
                <a:latin typeface="Lexend"/>
                <a:ea typeface="Lexend"/>
                <a:cs typeface="Lexend"/>
                <a:sym typeface="Lexend"/>
              </a:rPr>
              <a:t>Consider a </a:t>
            </a:r>
            <a:r>
              <a:rPr b="1" lang="en" sz="1000">
                <a:solidFill>
                  <a:srgbClr val="C00000"/>
                </a:solidFill>
                <a:latin typeface="Lexend"/>
                <a:ea typeface="Lexend"/>
                <a:cs typeface="Lexend"/>
                <a:sym typeface="Lexend"/>
              </a:rPr>
              <a:t>Calibration Set</a:t>
            </a:r>
            <a:r>
              <a:rPr b="1" lang="en" sz="1000">
                <a:solidFill>
                  <a:srgbClr val="00205B"/>
                </a:solidFill>
                <a:latin typeface="Lexend"/>
                <a:ea typeface="Lexend"/>
                <a:cs typeface="Lexend"/>
                <a:sym typeface="Lexend"/>
              </a:rPr>
              <a:t> → </a:t>
            </a:r>
            <a:r>
              <a:rPr lang="en" sz="1000">
                <a:solidFill>
                  <a:srgbClr val="00205B"/>
                </a:solidFill>
                <a:latin typeface="Lexend"/>
                <a:ea typeface="Lexend"/>
                <a:cs typeface="Lexend"/>
                <a:sym typeface="Lexend"/>
              </a:rPr>
              <a:t>independent from Training Set</a:t>
            </a:r>
            <a:endParaRPr sz="1000">
              <a:solidFill>
                <a:srgbClr val="00205B"/>
              </a:solidFill>
              <a:latin typeface="Lexend"/>
              <a:ea typeface="Lexend"/>
              <a:cs typeface="Lexend"/>
              <a:sym typeface="Lexend"/>
            </a:endParaRPr>
          </a:p>
          <a:p>
            <a:pPr indent="0" lvl="0" marL="0" rtl="0" algn="l">
              <a:spcBef>
                <a:spcPts val="0"/>
              </a:spcBef>
              <a:spcAft>
                <a:spcPts val="0"/>
              </a:spcAft>
              <a:buNone/>
            </a:pPr>
            <a:r>
              <a:t/>
            </a:r>
            <a:endParaRPr sz="1000">
              <a:solidFill>
                <a:srgbClr val="00205B"/>
              </a:solidFill>
              <a:latin typeface="Lexend"/>
              <a:ea typeface="Lexend"/>
              <a:cs typeface="Lexend"/>
              <a:sym typeface="Lexend"/>
            </a:endParaRPr>
          </a:p>
          <a:p>
            <a:pPr indent="-292100" lvl="0" marL="457200" rtl="0" algn="l">
              <a:spcBef>
                <a:spcPts val="0"/>
              </a:spcBef>
              <a:spcAft>
                <a:spcPts val="0"/>
              </a:spcAft>
              <a:buClr>
                <a:srgbClr val="00205B"/>
              </a:buClr>
              <a:buSzPts val="1000"/>
              <a:buFont typeface="Lexend"/>
              <a:buAutoNum type="arabicPeriod"/>
            </a:pPr>
            <a:r>
              <a:rPr b="1" lang="en" sz="1000">
                <a:solidFill>
                  <a:srgbClr val="00205B"/>
                </a:solidFill>
                <a:latin typeface="Lexend"/>
                <a:ea typeface="Lexend"/>
                <a:cs typeface="Lexend"/>
                <a:sym typeface="Lexend"/>
              </a:rPr>
              <a:t>Keep only </a:t>
            </a:r>
            <a:r>
              <a:rPr b="1" lang="en" sz="1000">
                <a:solidFill>
                  <a:srgbClr val="C00000"/>
                </a:solidFill>
                <a:latin typeface="Lexend"/>
                <a:ea typeface="Lexend"/>
                <a:cs typeface="Lexend"/>
                <a:sym typeface="Lexend"/>
              </a:rPr>
              <a:t>true positive</a:t>
            </a:r>
            <a:r>
              <a:rPr b="1" lang="en" sz="1000">
                <a:solidFill>
                  <a:srgbClr val="00205B"/>
                </a:solidFill>
                <a:latin typeface="Lexend"/>
                <a:ea typeface="Lexend"/>
                <a:cs typeface="Lexend"/>
                <a:sym typeface="Lexend"/>
              </a:rPr>
              <a:t> </a:t>
            </a:r>
            <a:r>
              <a:rPr lang="en" sz="1000">
                <a:solidFill>
                  <a:srgbClr val="00205B"/>
                </a:solidFill>
                <a:latin typeface="Lexend"/>
                <a:ea typeface="Lexend"/>
                <a:cs typeface="Lexend"/>
                <a:sym typeface="Lexend"/>
              </a:rPr>
              <a:t>based on IoU</a:t>
            </a:r>
            <a:endParaRPr sz="1000">
              <a:solidFill>
                <a:srgbClr val="00205B"/>
              </a:solidFill>
              <a:latin typeface="Lexend"/>
              <a:ea typeface="Lexend"/>
              <a:cs typeface="Lexend"/>
              <a:sym typeface="Lexend"/>
            </a:endParaRPr>
          </a:p>
          <a:p>
            <a:pPr indent="0" lvl="0" marL="0" rtl="0" algn="l">
              <a:spcBef>
                <a:spcPts val="0"/>
              </a:spcBef>
              <a:spcAft>
                <a:spcPts val="0"/>
              </a:spcAft>
              <a:buNone/>
            </a:pPr>
            <a:r>
              <a:t/>
            </a:r>
            <a:endParaRPr sz="1000">
              <a:solidFill>
                <a:srgbClr val="00205B"/>
              </a:solidFill>
              <a:latin typeface="Lexend"/>
              <a:ea typeface="Lexend"/>
              <a:cs typeface="Lexend"/>
              <a:sym typeface="Lexend"/>
            </a:endParaRPr>
          </a:p>
          <a:p>
            <a:pPr indent="0" lvl="0" marL="0" rtl="0" algn="l">
              <a:spcBef>
                <a:spcPts val="0"/>
              </a:spcBef>
              <a:spcAft>
                <a:spcPts val="0"/>
              </a:spcAft>
              <a:buNone/>
            </a:pPr>
            <a:r>
              <a:t/>
            </a:r>
            <a:endParaRPr sz="1000">
              <a:solidFill>
                <a:srgbClr val="00205B"/>
              </a:solidFill>
              <a:latin typeface="Lexend"/>
              <a:ea typeface="Lexend"/>
              <a:cs typeface="Lexend"/>
              <a:sym typeface="Lexend"/>
            </a:endParaRPr>
          </a:p>
          <a:p>
            <a:pPr indent="-292100" lvl="0" marL="457200" rtl="0" algn="l">
              <a:spcBef>
                <a:spcPts val="0"/>
              </a:spcBef>
              <a:spcAft>
                <a:spcPts val="0"/>
              </a:spcAft>
              <a:buClr>
                <a:srgbClr val="00205B"/>
              </a:buClr>
              <a:buSzPts val="1000"/>
              <a:buFont typeface="Lexend"/>
              <a:buAutoNum type="arabicPeriod"/>
            </a:pPr>
            <a:r>
              <a:rPr b="1" lang="en" sz="1000">
                <a:solidFill>
                  <a:srgbClr val="00205B"/>
                </a:solidFill>
                <a:latin typeface="Lexend"/>
                <a:ea typeface="Lexend"/>
                <a:cs typeface="Lexend"/>
                <a:sym typeface="Lexend"/>
              </a:rPr>
              <a:t>Compute </a:t>
            </a:r>
            <a:r>
              <a:rPr b="1" lang="en" sz="1000">
                <a:solidFill>
                  <a:srgbClr val="C00000"/>
                </a:solidFill>
                <a:latin typeface="Lexend"/>
                <a:ea typeface="Lexend"/>
                <a:cs typeface="Lexend"/>
                <a:sym typeface="Lexend"/>
              </a:rPr>
              <a:t>4 Nonconformity Scores</a:t>
            </a:r>
            <a:r>
              <a:rPr lang="en" sz="1000">
                <a:solidFill>
                  <a:srgbClr val="00205B"/>
                </a:solidFill>
                <a:latin typeface="Lexend"/>
                <a:ea typeface="Lexend"/>
                <a:cs typeface="Lexend"/>
                <a:sym typeface="Lexend"/>
              </a:rPr>
              <a:t> </a:t>
            </a:r>
            <a:endParaRPr sz="1000">
              <a:solidFill>
                <a:srgbClr val="00205B"/>
              </a:solidFill>
              <a:latin typeface="Lexend"/>
              <a:ea typeface="Lexend"/>
              <a:cs typeface="Lexend"/>
              <a:sym typeface="Lexend"/>
            </a:endParaRPr>
          </a:p>
          <a:p>
            <a:pPr indent="0" lvl="0" marL="0" rtl="0" algn="l">
              <a:spcBef>
                <a:spcPts val="0"/>
              </a:spcBef>
              <a:spcAft>
                <a:spcPts val="0"/>
              </a:spcAft>
              <a:buNone/>
            </a:pPr>
            <a:r>
              <a:t/>
            </a:r>
            <a:endParaRPr sz="1000">
              <a:solidFill>
                <a:srgbClr val="00205B"/>
              </a:solidFill>
              <a:latin typeface="Lexend"/>
              <a:ea typeface="Lexend"/>
              <a:cs typeface="Lexend"/>
              <a:sym typeface="Lexend"/>
            </a:endParaRPr>
          </a:p>
          <a:p>
            <a:pPr indent="0" lvl="0" marL="0" rtl="0" algn="l">
              <a:spcBef>
                <a:spcPts val="0"/>
              </a:spcBef>
              <a:spcAft>
                <a:spcPts val="0"/>
              </a:spcAft>
              <a:buNone/>
            </a:pPr>
            <a:r>
              <a:t/>
            </a:r>
            <a:endParaRPr sz="1000">
              <a:solidFill>
                <a:srgbClr val="00205B"/>
              </a:solidFill>
              <a:latin typeface="Lexend"/>
              <a:ea typeface="Lexend"/>
              <a:cs typeface="Lexend"/>
              <a:sym typeface="Lexend"/>
            </a:endParaRPr>
          </a:p>
          <a:p>
            <a:pPr indent="-292100" lvl="0" marL="457200" rtl="0" algn="l">
              <a:spcBef>
                <a:spcPts val="0"/>
              </a:spcBef>
              <a:spcAft>
                <a:spcPts val="0"/>
              </a:spcAft>
              <a:buClr>
                <a:srgbClr val="00205B"/>
              </a:buClr>
              <a:buSzPts val="1000"/>
              <a:buFont typeface="Lexend"/>
              <a:buAutoNum type="arabicPeriod"/>
            </a:pPr>
            <a:r>
              <a:rPr b="1" lang="en" sz="1000">
                <a:solidFill>
                  <a:srgbClr val="00205B"/>
                </a:solidFill>
                <a:latin typeface="Lexend"/>
                <a:ea typeface="Lexend"/>
                <a:cs typeface="Lexend"/>
                <a:sym typeface="Lexend"/>
              </a:rPr>
              <a:t>Expand </a:t>
            </a:r>
            <a:r>
              <a:rPr lang="en" sz="1000">
                <a:solidFill>
                  <a:srgbClr val="00205B"/>
                </a:solidFill>
                <a:latin typeface="Lexend"/>
                <a:ea typeface="Lexend"/>
                <a:cs typeface="Lexend"/>
                <a:sym typeface="Lexend"/>
              </a:rPr>
              <a:t>the </a:t>
            </a:r>
            <a:r>
              <a:rPr b="1" lang="en" sz="1000">
                <a:solidFill>
                  <a:srgbClr val="C00000"/>
                </a:solidFill>
                <a:latin typeface="Lexend"/>
                <a:ea typeface="Lexend"/>
                <a:cs typeface="Lexend"/>
                <a:sym typeface="Lexend"/>
              </a:rPr>
              <a:t>predicted bounded box</a:t>
            </a:r>
            <a:r>
              <a:rPr lang="en" sz="1000">
                <a:solidFill>
                  <a:srgbClr val="00205B"/>
                </a:solidFill>
                <a:latin typeface="Lexend"/>
                <a:ea typeface="Lexend"/>
                <a:cs typeface="Lexend"/>
                <a:sym typeface="Lexend"/>
              </a:rPr>
              <a:t>. </a:t>
            </a:r>
            <a:endParaRPr sz="1000">
              <a:solidFill>
                <a:srgbClr val="00205B"/>
              </a:solidFill>
              <a:latin typeface="Lexend"/>
              <a:ea typeface="Lexend"/>
              <a:cs typeface="Lexend"/>
              <a:sym typeface="Lexend"/>
            </a:endParaRPr>
          </a:p>
          <a:p>
            <a:pPr indent="0" lvl="0" marL="457200" rtl="0" algn="l">
              <a:spcBef>
                <a:spcPts val="0"/>
              </a:spcBef>
              <a:spcAft>
                <a:spcPts val="0"/>
              </a:spcAft>
              <a:buNone/>
            </a:pPr>
            <a:r>
              <a:t/>
            </a:r>
            <a:endParaRPr b="1" sz="1100" u="sng">
              <a:solidFill>
                <a:srgbClr val="00205B"/>
              </a:solidFill>
              <a:latin typeface="Lexend"/>
              <a:ea typeface="Lexend"/>
              <a:cs typeface="Lexend"/>
              <a:sym typeface="Lexend"/>
            </a:endParaRPr>
          </a:p>
          <a:p>
            <a:pPr indent="0" lvl="0" marL="0" marR="0" rtl="0" algn="l">
              <a:lnSpc>
                <a:spcPct val="100000"/>
              </a:lnSpc>
              <a:spcBef>
                <a:spcPts val="0"/>
              </a:spcBef>
              <a:spcAft>
                <a:spcPts val="0"/>
              </a:spcAft>
              <a:buNone/>
            </a:pPr>
            <a:r>
              <a:t/>
            </a:r>
            <a:endParaRPr b="1" sz="1100">
              <a:solidFill>
                <a:srgbClr val="00205B"/>
              </a:solidFill>
              <a:latin typeface="Lexend"/>
              <a:ea typeface="Lexend"/>
              <a:cs typeface="Lexend"/>
              <a:sym typeface="Lexend"/>
            </a:endParaRPr>
          </a:p>
        </p:txBody>
      </p:sp>
      <p:grpSp>
        <p:nvGrpSpPr>
          <p:cNvPr id="214" name="Google Shape;214;p28"/>
          <p:cNvGrpSpPr/>
          <p:nvPr/>
        </p:nvGrpSpPr>
        <p:grpSpPr>
          <a:xfrm>
            <a:off x="7203364" y="1782943"/>
            <a:ext cx="513340" cy="466480"/>
            <a:chOff x="1534750" y="3089950"/>
            <a:chExt cx="576075" cy="479375"/>
          </a:xfrm>
        </p:grpSpPr>
        <p:grpSp>
          <p:nvGrpSpPr>
            <p:cNvPr id="215" name="Google Shape;215;p28"/>
            <p:cNvGrpSpPr/>
            <p:nvPr/>
          </p:nvGrpSpPr>
          <p:grpSpPr>
            <a:xfrm>
              <a:off x="1534750" y="3089950"/>
              <a:ext cx="576075" cy="479375"/>
              <a:chOff x="1534750" y="3089950"/>
              <a:chExt cx="576075" cy="479375"/>
            </a:xfrm>
          </p:grpSpPr>
          <p:sp>
            <p:nvSpPr>
              <p:cNvPr id="216" name="Google Shape;216;p28"/>
              <p:cNvSpPr/>
              <p:nvPr/>
            </p:nvSpPr>
            <p:spPr>
              <a:xfrm>
                <a:off x="1534750" y="3089950"/>
                <a:ext cx="367800" cy="390000"/>
              </a:xfrm>
              <a:prstGeom prst="rect">
                <a:avLst/>
              </a:prstGeom>
              <a:noFill/>
              <a:ln cap="flat" cmpd="sng" w="19050">
                <a:solidFill>
                  <a:srgbClr val="C00000"/>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8"/>
              <p:cNvSpPr/>
              <p:nvPr/>
            </p:nvSpPr>
            <p:spPr>
              <a:xfrm>
                <a:off x="1743025" y="3179325"/>
                <a:ext cx="367800" cy="390000"/>
              </a:xfrm>
              <a:prstGeom prst="rect">
                <a:avLst/>
              </a:prstGeom>
              <a:noFill/>
              <a:ln cap="flat" cmpd="sng" w="19050">
                <a:solidFill>
                  <a:srgbClr val="00FFFF"/>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8" name="Google Shape;218;p28"/>
            <p:cNvSpPr/>
            <p:nvPr/>
          </p:nvSpPr>
          <p:spPr>
            <a:xfrm>
              <a:off x="1758175" y="3192575"/>
              <a:ext cx="129900" cy="271500"/>
            </a:xfrm>
            <a:prstGeom prst="rect">
              <a:avLst/>
            </a:prstGeom>
            <a:solidFill>
              <a:srgbClr val="38761D"/>
            </a:solidFill>
            <a:ln cap="flat" cmpd="sng" w="9525">
              <a:solidFill>
                <a:srgbClr val="38761D"/>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p28"/>
          <p:cNvGrpSpPr/>
          <p:nvPr/>
        </p:nvGrpSpPr>
        <p:grpSpPr>
          <a:xfrm>
            <a:off x="5306619" y="1762683"/>
            <a:ext cx="477760" cy="506991"/>
            <a:chOff x="1534750" y="3089950"/>
            <a:chExt cx="422946" cy="422563"/>
          </a:xfrm>
        </p:grpSpPr>
        <p:grpSp>
          <p:nvGrpSpPr>
            <p:cNvPr id="220" name="Google Shape;220;p28"/>
            <p:cNvGrpSpPr/>
            <p:nvPr/>
          </p:nvGrpSpPr>
          <p:grpSpPr>
            <a:xfrm>
              <a:off x="1534750" y="3089950"/>
              <a:ext cx="422946" cy="422563"/>
              <a:chOff x="1534750" y="3089950"/>
              <a:chExt cx="422946" cy="422563"/>
            </a:xfrm>
          </p:grpSpPr>
          <p:sp>
            <p:nvSpPr>
              <p:cNvPr id="221" name="Google Shape;221;p28"/>
              <p:cNvSpPr/>
              <p:nvPr/>
            </p:nvSpPr>
            <p:spPr>
              <a:xfrm>
                <a:off x="1534750" y="3089950"/>
                <a:ext cx="367800" cy="390000"/>
              </a:xfrm>
              <a:prstGeom prst="rect">
                <a:avLst/>
              </a:prstGeom>
              <a:noFill/>
              <a:ln cap="flat" cmpd="sng" w="19050">
                <a:solidFill>
                  <a:srgbClr val="C00000"/>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8"/>
              <p:cNvSpPr/>
              <p:nvPr/>
            </p:nvSpPr>
            <p:spPr>
              <a:xfrm>
                <a:off x="1589896" y="3122513"/>
                <a:ext cx="367800" cy="390000"/>
              </a:xfrm>
              <a:prstGeom prst="rect">
                <a:avLst/>
              </a:prstGeom>
              <a:noFill/>
              <a:ln cap="flat" cmpd="sng" w="19050">
                <a:solidFill>
                  <a:srgbClr val="00FFFF"/>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3" name="Google Shape;223;p28"/>
            <p:cNvSpPr/>
            <p:nvPr/>
          </p:nvSpPr>
          <p:spPr>
            <a:xfrm>
              <a:off x="1607218" y="3139008"/>
              <a:ext cx="280800" cy="325200"/>
            </a:xfrm>
            <a:prstGeom prst="rect">
              <a:avLst/>
            </a:prstGeom>
            <a:solidFill>
              <a:srgbClr val="38761D"/>
            </a:solidFill>
            <a:ln cap="flat" cmpd="sng" w="9525">
              <a:solidFill>
                <a:srgbClr val="38761D"/>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4" name="Google Shape;224;p28"/>
          <p:cNvGrpSpPr/>
          <p:nvPr/>
        </p:nvGrpSpPr>
        <p:grpSpPr>
          <a:xfrm rot="10800000">
            <a:off x="6263752" y="1782931"/>
            <a:ext cx="433985" cy="466510"/>
            <a:chOff x="1534750" y="3089950"/>
            <a:chExt cx="422946" cy="422563"/>
          </a:xfrm>
        </p:grpSpPr>
        <p:grpSp>
          <p:nvGrpSpPr>
            <p:cNvPr id="225" name="Google Shape;225;p28"/>
            <p:cNvGrpSpPr/>
            <p:nvPr/>
          </p:nvGrpSpPr>
          <p:grpSpPr>
            <a:xfrm>
              <a:off x="1534750" y="3089950"/>
              <a:ext cx="422946" cy="422563"/>
              <a:chOff x="1534750" y="3089950"/>
              <a:chExt cx="422946" cy="422563"/>
            </a:xfrm>
          </p:grpSpPr>
          <p:sp>
            <p:nvSpPr>
              <p:cNvPr id="226" name="Google Shape;226;p28"/>
              <p:cNvSpPr/>
              <p:nvPr/>
            </p:nvSpPr>
            <p:spPr>
              <a:xfrm>
                <a:off x="1534750" y="3089950"/>
                <a:ext cx="367800" cy="390000"/>
              </a:xfrm>
              <a:prstGeom prst="rect">
                <a:avLst/>
              </a:prstGeom>
              <a:noFill/>
              <a:ln cap="flat" cmpd="sng" w="19050">
                <a:solidFill>
                  <a:srgbClr val="C00000"/>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8"/>
              <p:cNvSpPr/>
              <p:nvPr/>
            </p:nvSpPr>
            <p:spPr>
              <a:xfrm>
                <a:off x="1589896" y="3122513"/>
                <a:ext cx="367800" cy="390000"/>
              </a:xfrm>
              <a:prstGeom prst="rect">
                <a:avLst/>
              </a:prstGeom>
              <a:noFill/>
              <a:ln cap="flat" cmpd="sng" w="19050">
                <a:solidFill>
                  <a:srgbClr val="00FFFF"/>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8" name="Google Shape;228;p28"/>
            <p:cNvSpPr/>
            <p:nvPr/>
          </p:nvSpPr>
          <p:spPr>
            <a:xfrm>
              <a:off x="1607218" y="3139008"/>
              <a:ext cx="280800" cy="325200"/>
            </a:xfrm>
            <a:prstGeom prst="rect">
              <a:avLst/>
            </a:prstGeom>
            <a:solidFill>
              <a:srgbClr val="38761D"/>
            </a:solidFill>
            <a:ln cap="flat" cmpd="sng" w="9525">
              <a:solidFill>
                <a:srgbClr val="38761D"/>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9" name="Google Shape;229;p28"/>
          <p:cNvGrpSpPr/>
          <p:nvPr/>
        </p:nvGrpSpPr>
        <p:grpSpPr>
          <a:xfrm rot="10800000">
            <a:off x="8222315" y="1782943"/>
            <a:ext cx="433985" cy="466510"/>
            <a:chOff x="1534750" y="3089950"/>
            <a:chExt cx="422946" cy="422563"/>
          </a:xfrm>
        </p:grpSpPr>
        <p:grpSp>
          <p:nvGrpSpPr>
            <p:cNvPr id="230" name="Google Shape;230;p28"/>
            <p:cNvGrpSpPr/>
            <p:nvPr/>
          </p:nvGrpSpPr>
          <p:grpSpPr>
            <a:xfrm>
              <a:off x="1534750" y="3089950"/>
              <a:ext cx="422946" cy="422563"/>
              <a:chOff x="1534750" y="3089950"/>
              <a:chExt cx="422946" cy="422563"/>
            </a:xfrm>
          </p:grpSpPr>
          <p:sp>
            <p:nvSpPr>
              <p:cNvPr id="231" name="Google Shape;231;p28"/>
              <p:cNvSpPr/>
              <p:nvPr/>
            </p:nvSpPr>
            <p:spPr>
              <a:xfrm>
                <a:off x="1534750" y="3089950"/>
                <a:ext cx="367800" cy="390000"/>
              </a:xfrm>
              <a:prstGeom prst="rect">
                <a:avLst/>
              </a:prstGeom>
              <a:noFill/>
              <a:ln cap="flat" cmpd="sng" w="19050">
                <a:solidFill>
                  <a:srgbClr val="C00000"/>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8"/>
              <p:cNvSpPr/>
              <p:nvPr/>
            </p:nvSpPr>
            <p:spPr>
              <a:xfrm>
                <a:off x="1589896" y="3122513"/>
                <a:ext cx="367800" cy="390000"/>
              </a:xfrm>
              <a:prstGeom prst="rect">
                <a:avLst/>
              </a:prstGeom>
              <a:noFill/>
              <a:ln cap="flat" cmpd="sng" w="19050">
                <a:solidFill>
                  <a:srgbClr val="00FFFF"/>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3" name="Google Shape;233;p28"/>
            <p:cNvSpPr/>
            <p:nvPr/>
          </p:nvSpPr>
          <p:spPr>
            <a:xfrm>
              <a:off x="1607218" y="3139008"/>
              <a:ext cx="280800" cy="325200"/>
            </a:xfrm>
            <a:prstGeom prst="rect">
              <a:avLst/>
            </a:prstGeom>
            <a:solidFill>
              <a:srgbClr val="38761D"/>
            </a:solidFill>
            <a:ln cap="flat" cmpd="sng" w="9525">
              <a:solidFill>
                <a:srgbClr val="38761D"/>
              </a:solidFill>
              <a:prstDash val="solid"/>
              <a:round/>
              <a:headEnd len="sm" w="sm" type="none"/>
              <a:tailEnd len="sm" w="sm" type="none"/>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 name="Google Shape;234;p28"/>
          <p:cNvGrpSpPr/>
          <p:nvPr/>
        </p:nvGrpSpPr>
        <p:grpSpPr>
          <a:xfrm>
            <a:off x="5228922" y="2408964"/>
            <a:ext cx="477711" cy="466463"/>
            <a:chOff x="4151848" y="2173198"/>
            <a:chExt cx="840300" cy="797100"/>
          </a:xfrm>
        </p:grpSpPr>
        <p:sp>
          <p:nvSpPr>
            <p:cNvPr id="235" name="Google Shape;235;p28"/>
            <p:cNvSpPr/>
            <p:nvPr/>
          </p:nvSpPr>
          <p:spPr>
            <a:xfrm>
              <a:off x="4151848" y="2173198"/>
              <a:ext cx="840300" cy="797100"/>
            </a:xfrm>
            <a:prstGeom prst="star5">
              <a:avLst>
                <a:gd fmla="val 28831" name="adj"/>
                <a:gd fmla="val 105146" name="hf"/>
                <a:gd fmla="val 110557" name="vf"/>
              </a:avLst>
            </a:prstGeom>
            <a:solidFill>
              <a:srgbClr val="FFFF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8"/>
            <p:cNvSpPr/>
            <p:nvPr/>
          </p:nvSpPr>
          <p:spPr>
            <a:xfrm>
              <a:off x="4217203" y="2243818"/>
              <a:ext cx="708300" cy="672000"/>
            </a:xfrm>
            <a:prstGeom prst="star5">
              <a:avLst>
                <a:gd fmla="val 28831" name="adj"/>
                <a:gd fmla="val 105146" name="hf"/>
                <a:gd fmla="val 110557" name="vf"/>
              </a:avLst>
            </a:prstGeom>
            <a:solidFill>
              <a:srgbClr val="0F9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8"/>
            <p:cNvSpPr/>
            <p:nvPr/>
          </p:nvSpPr>
          <p:spPr>
            <a:xfrm rot="-900458">
              <a:off x="4517870" y="2530485"/>
              <a:ext cx="188841" cy="202523"/>
            </a:xfrm>
            <a:prstGeom prst="roundRect">
              <a:avLst>
                <a:gd fmla="val 16565"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8"/>
            <p:cNvSpPr/>
            <p:nvPr/>
          </p:nvSpPr>
          <p:spPr>
            <a:xfrm flipH="1" rot="-3108409">
              <a:off x="4500985" y="2448459"/>
              <a:ext cx="80541" cy="80541"/>
            </a:xfrm>
            <a:prstGeom prst="pie">
              <a:avLst>
                <a:gd fmla="val 5730646" name="adj1"/>
                <a:gd fmla="val 16200000" name="adj2"/>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8"/>
            <p:cNvSpPr/>
            <p:nvPr/>
          </p:nvSpPr>
          <p:spPr>
            <a:xfrm rot="-899905">
              <a:off x="4487644" y="2458757"/>
              <a:ext cx="97721" cy="103389"/>
            </a:xfrm>
            <a:custGeom>
              <a:rect b="b" l="l" r="r" t="t"/>
              <a:pathLst>
                <a:path extrusionOk="0" h="10724" w="10136">
                  <a:moveTo>
                    <a:pt x="0" y="10724"/>
                  </a:moveTo>
                  <a:lnTo>
                    <a:pt x="3397" y="3691"/>
                  </a:lnTo>
                  <a:lnTo>
                    <a:pt x="3612" y="0"/>
                  </a:lnTo>
                  <a:lnTo>
                    <a:pt x="10136" y="4334"/>
                  </a:lnTo>
                  <a:lnTo>
                    <a:pt x="8839" y="10572"/>
                  </a:lnTo>
                  <a:close/>
                </a:path>
              </a:pathLst>
            </a:custGeom>
            <a:solidFill>
              <a:srgbClr val="FFFFFF"/>
            </a:solidFill>
            <a:ln>
              <a:noFill/>
            </a:ln>
          </p:spPr>
        </p:sp>
        <p:sp>
          <p:nvSpPr>
            <p:cNvPr id="240" name="Google Shape;240;p28"/>
            <p:cNvSpPr/>
            <p:nvPr/>
          </p:nvSpPr>
          <p:spPr>
            <a:xfrm rot="-903522">
              <a:off x="4586407" y="2517549"/>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8"/>
            <p:cNvSpPr/>
            <p:nvPr/>
          </p:nvSpPr>
          <p:spPr>
            <a:xfrm rot="-903522">
              <a:off x="4589058" y="2562486"/>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8"/>
            <p:cNvSpPr/>
            <p:nvPr/>
          </p:nvSpPr>
          <p:spPr>
            <a:xfrm rot="-903522">
              <a:off x="4591710" y="2607423"/>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8"/>
            <p:cNvSpPr/>
            <p:nvPr/>
          </p:nvSpPr>
          <p:spPr>
            <a:xfrm rot="-903522">
              <a:off x="4594362" y="2652361"/>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8"/>
            <p:cNvSpPr/>
            <p:nvPr/>
          </p:nvSpPr>
          <p:spPr>
            <a:xfrm rot="-900746">
              <a:off x="4439193" y="2567707"/>
              <a:ext cx="68332" cy="202523"/>
            </a:xfrm>
            <a:prstGeom prst="roundRect">
              <a:avLst>
                <a:gd fmla="val 17316"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 name="Google Shape;245;p28"/>
          <p:cNvGrpSpPr/>
          <p:nvPr/>
        </p:nvGrpSpPr>
        <p:grpSpPr>
          <a:xfrm>
            <a:off x="6203459" y="2408964"/>
            <a:ext cx="477711" cy="466463"/>
            <a:chOff x="4151848" y="2173198"/>
            <a:chExt cx="840300" cy="797100"/>
          </a:xfrm>
        </p:grpSpPr>
        <p:sp>
          <p:nvSpPr>
            <p:cNvPr id="246" name="Google Shape;246;p28"/>
            <p:cNvSpPr/>
            <p:nvPr/>
          </p:nvSpPr>
          <p:spPr>
            <a:xfrm>
              <a:off x="4151848" y="2173198"/>
              <a:ext cx="840300" cy="797100"/>
            </a:xfrm>
            <a:prstGeom prst="star5">
              <a:avLst>
                <a:gd fmla="val 28831" name="adj"/>
                <a:gd fmla="val 105146" name="hf"/>
                <a:gd fmla="val 110557" name="vf"/>
              </a:avLst>
            </a:prstGeom>
            <a:solidFill>
              <a:srgbClr val="FFFF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8"/>
            <p:cNvSpPr/>
            <p:nvPr/>
          </p:nvSpPr>
          <p:spPr>
            <a:xfrm>
              <a:off x="4217203" y="2243818"/>
              <a:ext cx="708300" cy="672000"/>
            </a:xfrm>
            <a:prstGeom prst="star5">
              <a:avLst>
                <a:gd fmla="val 28831" name="adj"/>
                <a:gd fmla="val 105146" name="hf"/>
                <a:gd fmla="val 110557" name="vf"/>
              </a:avLst>
            </a:prstGeom>
            <a:solidFill>
              <a:srgbClr val="0F9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8"/>
            <p:cNvSpPr/>
            <p:nvPr/>
          </p:nvSpPr>
          <p:spPr>
            <a:xfrm rot="-900458">
              <a:off x="4517870" y="2530485"/>
              <a:ext cx="188841" cy="202523"/>
            </a:xfrm>
            <a:prstGeom prst="roundRect">
              <a:avLst>
                <a:gd fmla="val 16565"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8"/>
            <p:cNvSpPr/>
            <p:nvPr/>
          </p:nvSpPr>
          <p:spPr>
            <a:xfrm flipH="1" rot="-3108409">
              <a:off x="4500985" y="2448459"/>
              <a:ext cx="80541" cy="80541"/>
            </a:xfrm>
            <a:prstGeom prst="pie">
              <a:avLst>
                <a:gd fmla="val 5730646" name="adj1"/>
                <a:gd fmla="val 16200000" name="adj2"/>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8"/>
            <p:cNvSpPr/>
            <p:nvPr/>
          </p:nvSpPr>
          <p:spPr>
            <a:xfrm rot="-899905">
              <a:off x="4487644" y="2458757"/>
              <a:ext cx="97721" cy="103389"/>
            </a:xfrm>
            <a:custGeom>
              <a:rect b="b" l="l" r="r" t="t"/>
              <a:pathLst>
                <a:path extrusionOk="0" h="10724" w="10136">
                  <a:moveTo>
                    <a:pt x="0" y="10724"/>
                  </a:moveTo>
                  <a:lnTo>
                    <a:pt x="3397" y="3691"/>
                  </a:lnTo>
                  <a:lnTo>
                    <a:pt x="3612" y="0"/>
                  </a:lnTo>
                  <a:lnTo>
                    <a:pt x="10136" y="4334"/>
                  </a:lnTo>
                  <a:lnTo>
                    <a:pt x="8839" y="10572"/>
                  </a:lnTo>
                  <a:close/>
                </a:path>
              </a:pathLst>
            </a:custGeom>
            <a:solidFill>
              <a:srgbClr val="FFFFFF"/>
            </a:solidFill>
            <a:ln>
              <a:noFill/>
            </a:ln>
          </p:spPr>
        </p:sp>
        <p:sp>
          <p:nvSpPr>
            <p:cNvPr id="251" name="Google Shape;251;p28"/>
            <p:cNvSpPr/>
            <p:nvPr/>
          </p:nvSpPr>
          <p:spPr>
            <a:xfrm rot="-903522">
              <a:off x="4586407" y="2517549"/>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8"/>
            <p:cNvSpPr/>
            <p:nvPr/>
          </p:nvSpPr>
          <p:spPr>
            <a:xfrm rot="-903522">
              <a:off x="4589058" y="2562486"/>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8"/>
            <p:cNvSpPr/>
            <p:nvPr/>
          </p:nvSpPr>
          <p:spPr>
            <a:xfrm rot="-903522">
              <a:off x="4591710" y="2607423"/>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8"/>
            <p:cNvSpPr/>
            <p:nvPr/>
          </p:nvSpPr>
          <p:spPr>
            <a:xfrm rot="-903522">
              <a:off x="4594362" y="2652361"/>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8"/>
            <p:cNvSpPr/>
            <p:nvPr/>
          </p:nvSpPr>
          <p:spPr>
            <a:xfrm rot="-900746">
              <a:off x="4439193" y="2567707"/>
              <a:ext cx="68332" cy="202523"/>
            </a:xfrm>
            <a:prstGeom prst="roundRect">
              <a:avLst>
                <a:gd fmla="val 17316"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28"/>
          <p:cNvGrpSpPr/>
          <p:nvPr/>
        </p:nvGrpSpPr>
        <p:grpSpPr>
          <a:xfrm>
            <a:off x="8261097" y="2408964"/>
            <a:ext cx="477711" cy="466463"/>
            <a:chOff x="4151848" y="2173198"/>
            <a:chExt cx="840300" cy="797100"/>
          </a:xfrm>
        </p:grpSpPr>
        <p:sp>
          <p:nvSpPr>
            <p:cNvPr id="257" name="Google Shape;257;p28"/>
            <p:cNvSpPr/>
            <p:nvPr/>
          </p:nvSpPr>
          <p:spPr>
            <a:xfrm>
              <a:off x="4151848" y="2173198"/>
              <a:ext cx="840300" cy="797100"/>
            </a:xfrm>
            <a:prstGeom prst="star5">
              <a:avLst>
                <a:gd fmla="val 28831" name="adj"/>
                <a:gd fmla="val 105146" name="hf"/>
                <a:gd fmla="val 110557" name="vf"/>
              </a:avLst>
            </a:prstGeom>
            <a:solidFill>
              <a:srgbClr val="FFFF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8"/>
            <p:cNvSpPr/>
            <p:nvPr/>
          </p:nvSpPr>
          <p:spPr>
            <a:xfrm>
              <a:off x="4217203" y="2243818"/>
              <a:ext cx="708300" cy="672000"/>
            </a:xfrm>
            <a:prstGeom prst="star5">
              <a:avLst>
                <a:gd fmla="val 28831" name="adj"/>
                <a:gd fmla="val 105146" name="hf"/>
                <a:gd fmla="val 110557" name="vf"/>
              </a:avLst>
            </a:prstGeom>
            <a:solidFill>
              <a:srgbClr val="0F9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8"/>
            <p:cNvSpPr/>
            <p:nvPr/>
          </p:nvSpPr>
          <p:spPr>
            <a:xfrm rot="-900458">
              <a:off x="4517870" y="2530485"/>
              <a:ext cx="188841" cy="202523"/>
            </a:xfrm>
            <a:prstGeom prst="roundRect">
              <a:avLst>
                <a:gd fmla="val 16565"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8"/>
            <p:cNvSpPr/>
            <p:nvPr/>
          </p:nvSpPr>
          <p:spPr>
            <a:xfrm flipH="1" rot="-3108409">
              <a:off x="4500985" y="2448459"/>
              <a:ext cx="80541" cy="80541"/>
            </a:xfrm>
            <a:prstGeom prst="pie">
              <a:avLst>
                <a:gd fmla="val 5730646" name="adj1"/>
                <a:gd fmla="val 16200000" name="adj2"/>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8"/>
            <p:cNvSpPr/>
            <p:nvPr/>
          </p:nvSpPr>
          <p:spPr>
            <a:xfrm rot="-899905">
              <a:off x="4487644" y="2458757"/>
              <a:ext cx="97721" cy="103389"/>
            </a:xfrm>
            <a:custGeom>
              <a:rect b="b" l="l" r="r" t="t"/>
              <a:pathLst>
                <a:path extrusionOk="0" h="10724" w="10136">
                  <a:moveTo>
                    <a:pt x="0" y="10724"/>
                  </a:moveTo>
                  <a:lnTo>
                    <a:pt x="3397" y="3691"/>
                  </a:lnTo>
                  <a:lnTo>
                    <a:pt x="3612" y="0"/>
                  </a:lnTo>
                  <a:lnTo>
                    <a:pt x="10136" y="4334"/>
                  </a:lnTo>
                  <a:lnTo>
                    <a:pt x="8839" y="10572"/>
                  </a:lnTo>
                  <a:close/>
                </a:path>
              </a:pathLst>
            </a:custGeom>
            <a:solidFill>
              <a:srgbClr val="FFFFFF"/>
            </a:solidFill>
            <a:ln>
              <a:noFill/>
            </a:ln>
          </p:spPr>
        </p:sp>
        <p:sp>
          <p:nvSpPr>
            <p:cNvPr id="262" name="Google Shape;262;p28"/>
            <p:cNvSpPr/>
            <p:nvPr/>
          </p:nvSpPr>
          <p:spPr>
            <a:xfrm rot="-903522">
              <a:off x="4586407" y="2517549"/>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8"/>
            <p:cNvSpPr/>
            <p:nvPr/>
          </p:nvSpPr>
          <p:spPr>
            <a:xfrm rot="-903522">
              <a:off x="4589058" y="2562486"/>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8"/>
            <p:cNvSpPr/>
            <p:nvPr/>
          </p:nvSpPr>
          <p:spPr>
            <a:xfrm rot="-903522">
              <a:off x="4591710" y="2607423"/>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8"/>
            <p:cNvSpPr/>
            <p:nvPr/>
          </p:nvSpPr>
          <p:spPr>
            <a:xfrm rot="-903522">
              <a:off x="4594362" y="2652361"/>
              <a:ext cx="130481" cy="7022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8"/>
            <p:cNvSpPr/>
            <p:nvPr/>
          </p:nvSpPr>
          <p:spPr>
            <a:xfrm rot="-900746">
              <a:off x="4439193" y="2567707"/>
              <a:ext cx="68332" cy="202523"/>
            </a:xfrm>
            <a:prstGeom prst="roundRect">
              <a:avLst>
                <a:gd fmla="val 17316"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67" name="Google Shape;267;p28"/>
          <p:cNvPicPr preferRelativeResize="0"/>
          <p:nvPr/>
        </p:nvPicPr>
        <p:blipFill rotWithShape="1">
          <a:blip r:embed="rId5">
            <a:alphaModFix/>
          </a:blip>
          <a:srcRect b="0" l="0" r="0" t="0"/>
          <a:stretch/>
        </p:blipFill>
        <p:spPr>
          <a:xfrm>
            <a:off x="7256175" y="2466399"/>
            <a:ext cx="434000" cy="434031"/>
          </a:xfrm>
          <a:prstGeom prst="rect">
            <a:avLst/>
          </a:prstGeom>
          <a:noFill/>
          <a:ln>
            <a:noFill/>
          </a:ln>
        </p:spPr>
      </p:pic>
      <p:cxnSp>
        <p:nvCxnSpPr>
          <p:cNvPr id="268" name="Google Shape;268;p28"/>
          <p:cNvCxnSpPr/>
          <p:nvPr/>
        </p:nvCxnSpPr>
        <p:spPr>
          <a:xfrm flipH="1" rot="10800000">
            <a:off x="7125525" y="1745850"/>
            <a:ext cx="577800" cy="556800"/>
          </a:xfrm>
          <a:prstGeom prst="straightConnector1">
            <a:avLst/>
          </a:prstGeom>
          <a:noFill/>
          <a:ln cap="flat" cmpd="sng" w="19050">
            <a:solidFill>
              <a:srgbClr val="C00000"/>
            </a:solidFill>
            <a:prstDash val="solid"/>
            <a:round/>
            <a:headEnd len="sm" w="sm" type="none"/>
            <a:tailEnd len="sm" w="sm" type="none"/>
          </a:ln>
        </p:spPr>
      </p:cxnSp>
      <p:cxnSp>
        <p:nvCxnSpPr>
          <p:cNvPr id="269" name="Google Shape;269;p28"/>
          <p:cNvCxnSpPr/>
          <p:nvPr/>
        </p:nvCxnSpPr>
        <p:spPr>
          <a:xfrm>
            <a:off x="7125525" y="1745725"/>
            <a:ext cx="593400" cy="567300"/>
          </a:xfrm>
          <a:prstGeom prst="straightConnector1">
            <a:avLst/>
          </a:prstGeom>
          <a:noFill/>
          <a:ln cap="flat" cmpd="sng" w="19050">
            <a:solidFill>
              <a:srgbClr val="C00000"/>
            </a:solidFill>
            <a:prstDash val="solid"/>
            <a:round/>
            <a:headEnd len="sm" w="sm" type="none"/>
            <a:tailEnd len="sm" w="sm" type="none"/>
          </a:ln>
        </p:spPr>
      </p:cxnSp>
      <p:pic>
        <p:nvPicPr>
          <p:cNvPr id="270" name="Google Shape;270;p28"/>
          <p:cNvPicPr preferRelativeResize="0"/>
          <p:nvPr/>
        </p:nvPicPr>
        <p:blipFill rotWithShape="1">
          <a:blip r:embed="rId6">
            <a:alphaModFix/>
          </a:blip>
          <a:srcRect b="22117" l="2512" r="17977" t="-3944"/>
          <a:stretch/>
        </p:blipFill>
        <p:spPr>
          <a:xfrm>
            <a:off x="6847027" y="0"/>
            <a:ext cx="1392197" cy="462250"/>
          </a:xfrm>
          <a:prstGeom prst="rect">
            <a:avLst/>
          </a:prstGeom>
          <a:noFill/>
          <a:ln>
            <a:noFill/>
          </a:ln>
          <a:effectLst>
            <a:outerShdw blurRad="57150" rotWithShape="0" algn="bl" dir="5400000" dist="19050">
              <a:srgbClr val="000000">
                <a:alpha val="49020"/>
              </a:srgbClr>
            </a:outerShdw>
          </a:effectLst>
        </p:spPr>
      </p:pic>
      <p:sp>
        <p:nvSpPr>
          <p:cNvPr id="271" name="Google Shape;271;p28"/>
          <p:cNvSpPr txBox="1"/>
          <p:nvPr/>
        </p:nvSpPr>
        <p:spPr>
          <a:xfrm>
            <a:off x="3023400" y="713337"/>
            <a:ext cx="5044200" cy="646500"/>
          </a:xfrm>
          <a:prstGeom prst="rect">
            <a:avLst/>
          </a:prstGeom>
          <a:noFill/>
          <a:ln>
            <a:noFill/>
          </a:ln>
        </p:spPr>
        <p:txBody>
          <a:bodyPr anchorCtr="0" anchor="t" bIns="91425" lIns="91425" spcFirstLastPara="1" rIns="91425" wrap="square" tIns="91425">
            <a:spAutoFit/>
          </a:bodyPr>
          <a:lstStyle/>
          <a:p>
            <a:pPr indent="-292100" lvl="0" marL="457200" rtl="0" algn="l">
              <a:lnSpc>
                <a:spcPct val="100000"/>
              </a:lnSpc>
              <a:spcBef>
                <a:spcPts val="1200"/>
              </a:spcBef>
              <a:spcAft>
                <a:spcPts val="0"/>
              </a:spcAft>
              <a:buClr>
                <a:schemeClr val="lt1"/>
              </a:buClr>
              <a:buSzPts val="1000"/>
              <a:buFont typeface="Lexend"/>
              <a:buChar char="●"/>
            </a:pPr>
            <a:r>
              <a:rPr lang="en" sz="1000">
                <a:solidFill>
                  <a:schemeClr val="lt1"/>
                </a:solidFill>
                <a:latin typeface="Lexend"/>
                <a:ea typeface="Lexend"/>
                <a:cs typeface="Lexend"/>
                <a:sym typeface="Lexend"/>
              </a:rPr>
              <a:t>⇒ Test data i.i.d. with respect to calibration</a:t>
            </a:r>
            <a:endParaRPr sz="1000">
              <a:solidFill>
                <a:schemeClr val="lt1"/>
              </a:solidFill>
              <a:latin typeface="Lexend"/>
              <a:ea typeface="Lexend"/>
              <a:cs typeface="Lexend"/>
              <a:sym typeface="Lexend"/>
            </a:endParaRPr>
          </a:p>
          <a:p>
            <a:pPr indent="-292100" lvl="0" marL="457200" rtl="0" algn="l">
              <a:lnSpc>
                <a:spcPct val="100000"/>
              </a:lnSpc>
              <a:spcBef>
                <a:spcPts val="0"/>
              </a:spcBef>
              <a:spcAft>
                <a:spcPts val="0"/>
              </a:spcAft>
              <a:buClr>
                <a:schemeClr val="lt1"/>
              </a:buClr>
              <a:buSzPts val="1000"/>
              <a:buFont typeface="Lexend"/>
              <a:buChar char="●"/>
            </a:pPr>
            <a:r>
              <a:rPr b="1" lang="en" sz="1000">
                <a:solidFill>
                  <a:schemeClr val="lt1"/>
                </a:solidFill>
                <a:latin typeface="Lexend"/>
                <a:ea typeface="Lexend"/>
                <a:cs typeface="Lexend"/>
                <a:sym typeface="Lexend"/>
              </a:rPr>
              <a:t>Independence: </a:t>
            </a:r>
            <a:r>
              <a:rPr lang="en" sz="1000">
                <a:solidFill>
                  <a:schemeClr val="lt1"/>
                </a:solidFill>
                <a:latin typeface="Lexend"/>
                <a:ea typeface="Lexend"/>
                <a:cs typeface="Lexend"/>
                <a:sym typeface="Lexend"/>
              </a:rPr>
              <a:t>each image </a:t>
            </a:r>
            <a:r>
              <a:rPr lang="en" sz="1000">
                <a:solidFill>
                  <a:schemeClr val="lt1"/>
                </a:solidFill>
                <a:latin typeface="Lexend"/>
                <a:ea typeface="Lexend"/>
                <a:cs typeface="Lexend"/>
                <a:sym typeface="Lexend"/>
              </a:rPr>
              <a:t>does</a:t>
            </a:r>
            <a:r>
              <a:rPr lang="en" sz="1000">
                <a:solidFill>
                  <a:schemeClr val="lt1"/>
                </a:solidFill>
                <a:latin typeface="Lexend"/>
                <a:ea typeface="Lexend"/>
                <a:cs typeface="Lexend"/>
                <a:sym typeface="Lexend"/>
              </a:rPr>
              <a:t> not depend on the others</a:t>
            </a:r>
            <a:endParaRPr sz="1000">
              <a:solidFill>
                <a:schemeClr val="lt1"/>
              </a:solidFill>
              <a:latin typeface="Lexend"/>
              <a:ea typeface="Lexend"/>
              <a:cs typeface="Lexend"/>
              <a:sym typeface="Lexend"/>
            </a:endParaRPr>
          </a:p>
          <a:p>
            <a:pPr indent="-292100" lvl="0" marL="457200" rtl="0" algn="l">
              <a:lnSpc>
                <a:spcPct val="100000"/>
              </a:lnSpc>
              <a:spcBef>
                <a:spcPts val="0"/>
              </a:spcBef>
              <a:spcAft>
                <a:spcPts val="0"/>
              </a:spcAft>
              <a:buClr>
                <a:schemeClr val="lt1"/>
              </a:buClr>
              <a:buSzPts val="1000"/>
              <a:buFont typeface="Lexend"/>
              <a:buChar char="●"/>
            </a:pPr>
            <a:r>
              <a:rPr b="1" lang="en" sz="1000">
                <a:solidFill>
                  <a:schemeClr val="lt1"/>
                </a:solidFill>
                <a:latin typeface="Lexend"/>
                <a:ea typeface="Lexend"/>
                <a:cs typeface="Lexend"/>
                <a:sym typeface="Lexend"/>
              </a:rPr>
              <a:t>Identical distribution:</a:t>
            </a:r>
            <a:r>
              <a:rPr lang="en" sz="1000">
                <a:solidFill>
                  <a:schemeClr val="lt1"/>
                </a:solidFill>
                <a:latin typeface="Lexend"/>
                <a:ea typeface="Lexend"/>
                <a:cs typeface="Lexend"/>
                <a:sym typeface="Lexend"/>
              </a:rPr>
              <a:t> same distribution for test and calibration</a:t>
            </a:r>
            <a:endParaRPr sz="1000">
              <a:solidFill>
                <a:schemeClr val="lt1"/>
              </a:solidFill>
              <a:latin typeface="Lexend"/>
              <a:ea typeface="Lexend"/>
              <a:cs typeface="Lexend"/>
              <a:sym typeface="Lexend"/>
            </a:endParaRPr>
          </a:p>
        </p:txBody>
      </p:sp>
      <p:sp>
        <p:nvSpPr>
          <p:cNvPr id="272" name="Google Shape;272;p28"/>
          <p:cNvSpPr txBox="1"/>
          <p:nvPr/>
        </p:nvSpPr>
        <p:spPr>
          <a:xfrm>
            <a:off x="1683925" y="844128"/>
            <a:ext cx="1697400" cy="384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1200"/>
              </a:spcAft>
              <a:buNone/>
            </a:pPr>
            <a:r>
              <a:rPr b="1" lang="en" sz="1300">
                <a:solidFill>
                  <a:srgbClr val="CC0000"/>
                </a:solidFill>
                <a:latin typeface="Lexend"/>
                <a:ea typeface="Lexend"/>
                <a:cs typeface="Lexend"/>
                <a:sym typeface="Lexend"/>
              </a:rPr>
              <a:t>HYPOTHESIS</a:t>
            </a:r>
            <a:r>
              <a:rPr b="1" lang="en" sz="1300">
                <a:solidFill>
                  <a:schemeClr val="dk1"/>
                </a:solidFill>
                <a:latin typeface="Lexend"/>
                <a:ea typeface="Lexend"/>
                <a:cs typeface="Lexend"/>
                <a:sym typeface="Lexend"/>
              </a:rPr>
              <a:t> :</a:t>
            </a:r>
            <a:endParaRPr b="1" sz="1300">
              <a:solidFill>
                <a:schemeClr val="dk1"/>
              </a:solidFill>
            </a:endParaRPr>
          </a:p>
        </p:txBody>
      </p:sp>
      <p:sp>
        <p:nvSpPr>
          <p:cNvPr id="273" name="Google Shape;273;p28"/>
          <p:cNvSpPr txBox="1"/>
          <p:nvPr/>
        </p:nvSpPr>
        <p:spPr>
          <a:xfrm>
            <a:off x="538250" y="4909200"/>
            <a:ext cx="4946400" cy="1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lang="en" sz="800">
                <a:latin typeface="Lexend ExtraLight"/>
                <a:ea typeface="Lexend ExtraLight"/>
                <a:cs typeface="Lexend ExtraLight"/>
                <a:sym typeface="Lexend ExtraLight"/>
              </a:rPr>
              <a:t>Mendil </a:t>
            </a:r>
            <a:r>
              <a:rPr lang="en" sz="800">
                <a:latin typeface="Lexend ExtraLight"/>
                <a:ea typeface="Lexend ExtraLight"/>
                <a:cs typeface="Lexend ExtraLight"/>
                <a:sym typeface="Lexend ExtraLight"/>
              </a:rPr>
              <a:t>et al, PLMR 2023</a:t>
            </a:r>
            <a:endParaRPr sz="800">
              <a:latin typeface="Lexend ExtraLight"/>
              <a:ea typeface="Lexend ExtraLight"/>
              <a:cs typeface="Lexend ExtraLight"/>
              <a:sym typeface="Lexend Extra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9"/>
          <p:cNvSpPr txBox="1"/>
          <p:nvPr/>
        </p:nvSpPr>
        <p:spPr>
          <a:xfrm>
            <a:off x="288425" y="72250"/>
            <a:ext cx="66552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But how to expand a box ? </a:t>
            </a:r>
            <a:endParaRPr i="0" sz="1800" u="none" cap="none" strike="noStrike">
              <a:solidFill>
                <a:srgbClr val="00205B"/>
              </a:solidFill>
              <a:latin typeface="Lexend Medium"/>
              <a:ea typeface="Lexend Medium"/>
              <a:cs typeface="Lexend Medium"/>
              <a:sym typeface="Lexend Medium"/>
            </a:endParaRPr>
          </a:p>
        </p:txBody>
      </p:sp>
      <p:cxnSp>
        <p:nvCxnSpPr>
          <p:cNvPr id="279" name="Google Shape;279;p29"/>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280" name="Google Shape;280;p29"/>
          <p:cNvPicPr preferRelativeResize="0"/>
          <p:nvPr/>
        </p:nvPicPr>
        <p:blipFill rotWithShape="1">
          <a:blip r:embed="rId3">
            <a:alphaModFix/>
          </a:blip>
          <a:srcRect b="0" l="0" r="0" t="0"/>
          <a:stretch/>
        </p:blipFill>
        <p:spPr>
          <a:xfrm>
            <a:off x="8266150" y="91401"/>
            <a:ext cx="703375" cy="351675"/>
          </a:xfrm>
          <a:prstGeom prst="rect">
            <a:avLst/>
          </a:prstGeom>
          <a:noFill/>
          <a:ln>
            <a:noFill/>
          </a:ln>
        </p:spPr>
      </p:pic>
      <p:sp>
        <p:nvSpPr>
          <p:cNvPr id="281" name="Google Shape;281;p29"/>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grpSp>
        <p:nvGrpSpPr>
          <p:cNvPr id="282" name="Google Shape;282;p29"/>
          <p:cNvGrpSpPr/>
          <p:nvPr/>
        </p:nvGrpSpPr>
        <p:grpSpPr>
          <a:xfrm>
            <a:off x="105008" y="1127729"/>
            <a:ext cx="2491562" cy="3135484"/>
            <a:chOff x="148200" y="663321"/>
            <a:chExt cx="3262061" cy="4137614"/>
          </a:xfrm>
        </p:grpSpPr>
        <p:pic>
          <p:nvPicPr>
            <p:cNvPr id="283" name="Google Shape;283;p29"/>
            <p:cNvPicPr preferRelativeResize="0"/>
            <p:nvPr/>
          </p:nvPicPr>
          <p:blipFill rotWithShape="1">
            <a:blip r:embed="rId4">
              <a:alphaModFix/>
            </a:blip>
            <a:srcRect b="0" l="0" r="0" t="0"/>
            <a:stretch/>
          </p:blipFill>
          <p:spPr>
            <a:xfrm>
              <a:off x="148200" y="663321"/>
              <a:ext cx="3254027" cy="3303000"/>
            </a:xfrm>
            <a:prstGeom prst="rect">
              <a:avLst/>
            </a:prstGeom>
            <a:noFill/>
            <a:ln>
              <a:noFill/>
            </a:ln>
          </p:spPr>
        </p:pic>
        <p:sp>
          <p:nvSpPr>
            <p:cNvPr id="284" name="Google Shape;284;p29"/>
            <p:cNvSpPr txBox="1"/>
            <p:nvPr/>
          </p:nvSpPr>
          <p:spPr>
            <a:xfrm>
              <a:off x="160940" y="3966306"/>
              <a:ext cx="1581900" cy="583500"/>
            </a:xfrm>
            <a:prstGeom prst="rect">
              <a:avLst/>
            </a:prstGeom>
            <a:noFill/>
            <a:ln cap="flat" cmpd="sng" w="7850">
              <a:solidFill>
                <a:schemeClr val="dk1"/>
              </a:solidFill>
              <a:prstDash val="solid"/>
              <a:round/>
              <a:headEnd len="sm" w="sm" type="none"/>
              <a:tailEnd len="sm" w="sm" type="none"/>
            </a:ln>
            <a:effectLst>
              <a:outerShdw blurRad="47089" rotWithShape="0" algn="bl" dir="5400000" dist="15696">
                <a:srgbClr val="000000">
                  <a:alpha val="49410"/>
                </a:srgbClr>
              </a:outerShdw>
            </a:effectLst>
          </p:spPr>
          <p:txBody>
            <a:bodyPr anchorCtr="0" anchor="t" bIns="75325" lIns="75325" spcFirstLastPara="1" rIns="75325" wrap="square" tIns="75325">
              <a:noAutofit/>
            </a:bodyPr>
            <a:lstStyle/>
            <a:p>
              <a:pPr indent="0" lvl="0" marL="0" marR="0" rtl="0" algn="l">
                <a:lnSpc>
                  <a:spcPct val="100000"/>
                </a:lnSpc>
                <a:spcBef>
                  <a:spcPts val="0"/>
                </a:spcBef>
                <a:spcAft>
                  <a:spcPts val="0"/>
                </a:spcAft>
                <a:buClr>
                  <a:srgbClr val="000000"/>
                </a:buClr>
                <a:buSzPts val="989"/>
                <a:buFont typeface="Arial"/>
                <a:buNone/>
              </a:pPr>
              <a:r>
                <a:rPr lang="en" sz="900">
                  <a:solidFill>
                    <a:schemeClr val="dk1"/>
                  </a:solidFill>
                  <a:latin typeface="Lexend"/>
                  <a:ea typeface="Lexend"/>
                  <a:cs typeface="Lexend"/>
                  <a:sym typeface="Lexend"/>
                </a:rPr>
                <a:t>Great for similar size object</a:t>
              </a:r>
              <a:endParaRPr b="0" i="0" sz="900" u="none" cap="none" strike="noStrike">
                <a:solidFill>
                  <a:schemeClr val="dk1"/>
                </a:solidFill>
                <a:latin typeface="Lexend"/>
                <a:ea typeface="Lexend"/>
                <a:cs typeface="Lexend"/>
                <a:sym typeface="Lexend"/>
              </a:endParaRPr>
            </a:p>
          </p:txBody>
        </p:sp>
        <p:sp>
          <p:nvSpPr>
            <p:cNvPr id="285" name="Google Shape;285;p29"/>
            <p:cNvSpPr txBox="1"/>
            <p:nvPr/>
          </p:nvSpPr>
          <p:spPr>
            <a:xfrm>
              <a:off x="1961861" y="3966335"/>
              <a:ext cx="1448400" cy="834600"/>
            </a:xfrm>
            <a:prstGeom prst="rect">
              <a:avLst/>
            </a:prstGeom>
            <a:noFill/>
            <a:ln cap="flat" cmpd="sng" w="7850">
              <a:solidFill>
                <a:schemeClr val="dk1"/>
              </a:solidFill>
              <a:prstDash val="solid"/>
              <a:round/>
              <a:headEnd len="sm" w="sm" type="none"/>
              <a:tailEnd len="sm" w="sm" type="none"/>
            </a:ln>
            <a:effectLst>
              <a:outerShdw blurRad="47089" rotWithShape="0" algn="bl" dir="5400000" dist="15696">
                <a:srgbClr val="000000">
                  <a:alpha val="49410"/>
                </a:srgbClr>
              </a:outerShdw>
            </a:effectLst>
          </p:spPr>
          <p:txBody>
            <a:bodyPr anchorCtr="0" anchor="t" bIns="75325" lIns="75325" spcFirstLastPara="1" rIns="75325" wrap="square" tIns="75325">
              <a:noAutofit/>
            </a:bodyPr>
            <a:lstStyle/>
            <a:p>
              <a:pPr indent="0" lvl="0" marL="0" marR="0" rtl="0" algn="l">
                <a:lnSpc>
                  <a:spcPct val="100000"/>
                </a:lnSpc>
                <a:spcBef>
                  <a:spcPts val="0"/>
                </a:spcBef>
                <a:spcAft>
                  <a:spcPts val="0"/>
                </a:spcAft>
                <a:buClr>
                  <a:srgbClr val="000000"/>
                </a:buClr>
                <a:buSzPts val="989"/>
                <a:buFont typeface="Arial"/>
                <a:buNone/>
              </a:pPr>
              <a:r>
                <a:rPr lang="en" sz="900">
                  <a:solidFill>
                    <a:schemeClr val="dk1"/>
                  </a:solidFill>
                  <a:latin typeface="Lexend"/>
                  <a:ea typeface="Lexend"/>
                  <a:cs typeface="Lexend"/>
                  <a:sym typeface="Lexend"/>
                </a:rPr>
                <a:t>Great for differents size object</a:t>
              </a:r>
              <a:r>
                <a:rPr lang="en" sz="900">
                  <a:solidFill>
                    <a:schemeClr val="dk1"/>
                  </a:solidFill>
                  <a:latin typeface="Lexend"/>
                  <a:ea typeface="Lexend"/>
                  <a:cs typeface="Lexend"/>
                  <a:sym typeface="Lexend"/>
                </a:rPr>
                <a:t> </a:t>
              </a:r>
              <a:endParaRPr b="0" i="0" sz="900" u="none" cap="none" strike="noStrike">
                <a:solidFill>
                  <a:schemeClr val="dk1"/>
                </a:solidFill>
                <a:latin typeface="Lexend"/>
                <a:ea typeface="Lexend"/>
                <a:cs typeface="Lexend"/>
                <a:sym typeface="Lexend"/>
              </a:endParaRPr>
            </a:p>
          </p:txBody>
        </p:sp>
      </p:grpSp>
      <p:sp>
        <p:nvSpPr>
          <p:cNvPr id="286" name="Google Shape;286;p29"/>
          <p:cNvSpPr txBox="1"/>
          <p:nvPr/>
        </p:nvSpPr>
        <p:spPr>
          <a:xfrm>
            <a:off x="2803025" y="952924"/>
            <a:ext cx="5162700" cy="39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lang="en" sz="1100" u="sng">
                <a:solidFill>
                  <a:schemeClr val="dk1"/>
                </a:solidFill>
                <a:latin typeface="Lexend"/>
                <a:ea typeface="Lexend"/>
                <a:cs typeface="Lexend"/>
                <a:sym typeface="Lexend"/>
              </a:rPr>
              <a:t>For example, for additive nonconformity measure:</a:t>
            </a:r>
            <a:r>
              <a:rPr i="0" lang="en" sz="1100" u="sng" cap="none" strike="noStrike">
                <a:solidFill>
                  <a:schemeClr val="dk1"/>
                </a:solidFill>
                <a:latin typeface="Lexend"/>
                <a:ea typeface="Lexend"/>
                <a:cs typeface="Lexend"/>
                <a:sym typeface="Lexend"/>
              </a:rPr>
              <a:t> </a:t>
            </a:r>
            <a:endParaRPr i="0" sz="1600" u="none" cap="none" strike="noStrike">
              <a:solidFill>
                <a:schemeClr val="dk2"/>
              </a:solidFill>
            </a:endParaRPr>
          </a:p>
        </p:txBody>
      </p:sp>
      <p:grpSp>
        <p:nvGrpSpPr>
          <p:cNvPr id="287" name="Google Shape;287;p29"/>
          <p:cNvGrpSpPr/>
          <p:nvPr/>
        </p:nvGrpSpPr>
        <p:grpSpPr>
          <a:xfrm>
            <a:off x="2936375" y="1302450"/>
            <a:ext cx="6137100" cy="577869"/>
            <a:chOff x="2783975" y="845250"/>
            <a:chExt cx="6137100" cy="577869"/>
          </a:xfrm>
        </p:grpSpPr>
        <p:sp>
          <p:nvSpPr>
            <p:cNvPr id="288" name="Google Shape;288;p29"/>
            <p:cNvSpPr/>
            <p:nvPr/>
          </p:nvSpPr>
          <p:spPr>
            <a:xfrm>
              <a:off x="2783975" y="885819"/>
              <a:ext cx="6137100" cy="53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9" name="Google Shape;289;p29"/>
            <p:cNvPicPr preferRelativeResize="0"/>
            <p:nvPr/>
          </p:nvPicPr>
          <p:blipFill>
            <a:blip r:embed="rId5">
              <a:alphaModFix/>
            </a:blip>
            <a:stretch>
              <a:fillRect/>
            </a:stretch>
          </p:blipFill>
          <p:spPr>
            <a:xfrm>
              <a:off x="4865217" y="1017375"/>
              <a:ext cx="4004656" cy="275825"/>
            </a:xfrm>
            <a:prstGeom prst="rect">
              <a:avLst/>
            </a:prstGeom>
            <a:noFill/>
            <a:ln>
              <a:noFill/>
            </a:ln>
          </p:spPr>
        </p:pic>
        <p:sp>
          <p:nvSpPr>
            <p:cNvPr id="290" name="Google Shape;290;p29"/>
            <p:cNvSpPr txBox="1"/>
            <p:nvPr/>
          </p:nvSpPr>
          <p:spPr>
            <a:xfrm>
              <a:off x="2845650" y="845250"/>
              <a:ext cx="1763400" cy="53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700">
                  <a:solidFill>
                    <a:srgbClr val="00205B"/>
                  </a:solidFill>
                  <a:latin typeface="Lexend"/>
                  <a:ea typeface="Lexend"/>
                  <a:cs typeface="Lexend"/>
                  <a:sym typeface="Lexend"/>
                </a:rPr>
                <a:t>1.</a:t>
              </a:r>
              <a:r>
                <a:rPr lang="en" sz="1000">
                  <a:solidFill>
                    <a:srgbClr val="00205B"/>
                  </a:solidFill>
                  <a:latin typeface="Lexend"/>
                  <a:ea typeface="Lexend"/>
                  <a:cs typeface="Lexend"/>
                  <a:sym typeface="Lexend"/>
                </a:rPr>
                <a:t> Computation of non-conformity scores </a:t>
              </a:r>
              <a:endParaRPr sz="1000">
                <a:solidFill>
                  <a:srgbClr val="00205B"/>
                </a:solidFill>
                <a:latin typeface="Lexend"/>
                <a:ea typeface="Lexend"/>
                <a:cs typeface="Lexend"/>
                <a:sym typeface="Lexend"/>
              </a:endParaRPr>
            </a:p>
          </p:txBody>
        </p:sp>
      </p:grpSp>
      <p:sp>
        <p:nvSpPr>
          <p:cNvPr id="291" name="Google Shape;291;p29"/>
          <p:cNvSpPr txBox="1"/>
          <p:nvPr/>
        </p:nvSpPr>
        <p:spPr>
          <a:xfrm>
            <a:off x="3048130" y="2069375"/>
            <a:ext cx="4914900" cy="3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100">
                <a:solidFill>
                  <a:srgbClr val="C00000"/>
                </a:solidFill>
                <a:latin typeface="Lexend"/>
                <a:ea typeface="Lexend"/>
                <a:cs typeface="Lexend"/>
                <a:sym typeface="Lexend"/>
              </a:rPr>
              <a:t>4 </a:t>
            </a:r>
            <a:r>
              <a:rPr lang="en" sz="1100">
                <a:solidFill>
                  <a:srgbClr val="C00000"/>
                </a:solidFill>
                <a:latin typeface="Lexend"/>
                <a:ea typeface="Lexend"/>
                <a:cs typeface="Lexend"/>
                <a:sym typeface="Lexend"/>
              </a:rPr>
              <a:t>independent </a:t>
            </a:r>
            <a:r>
              <a:rPr lang="en" sz="1100">
                <a:solidFill>
                  <a:srgbClr val="C00000"/>
                </a:solidFill>
                <a:latin typeface="Lexend"/>
                <a:ea typeface="Lexend"/>
                <a:cs typeface="Lexend"/>
                <a:sym typeface="Lexend"/>
              </a:rPr>
              <a:t>distributions </a:t>
            </a:r>
            <a:r>
              <a:rPr lang="en" sz="1100">
                <a:solidFill>
                  <a:schemeClr val="dk1"/>
                </a:solidFill>
                <a:latin typeface="Lexend"/>
                <a:ea typeface="Lexend"/>
                <a:cs typeface="Lexend"/>
                <a:sym typeface="Lexend"/>
              </a:rPr>
              <a:t>… </a:t>
            </a:r>
            <a:r>
              <a:rPr lang="en" sz="1100">
                <a:solidFill>
                  <a:schemeClr val="dk1"/>
                </a:solidFill>
                <a:latin typeface="Lexend"/>
                <a:ea typeface="Lexend"/>
                <a:cs typeface="Lexend"/>
                <a:sym typeface="Lexend"/>
              </a:rPr>
              <a:t>but is the risk       actually respected</a:t>
            </a:r>
            <a:r>
              <a:rPr lang="en" sz="1100">
                <a:solidFill>
                  <a:schemeClr val="dk1"/>
                </a:solidFill>
                <a:latin typeface="Lexend"/>
                <a:ea typeface="Lexend"/>
                <a:cs typeface="Lexend"/>
                <a:sym typeface="Lexend"/>
              </a:rPr>
              <a:t> ? </a:t>
            </a:r>
            <a:endParaRPr i="0" sz="1100" cap="none" strike="noStrike">
              <a:solidFill>
                <a:schemeClr val="dk1"/>
              </a:solidFill>
              <a:latin typeface="Lexend"/>
              <a:ea typeface="Lexend"/>
              <a:cs typeface="Lexend"/>
              <a:sym typeface="Lexend"/>
            </a:endParaRPr>
          </a:p>
        </p:txBody>
      </p:sp>
      <p:pic>
        <p:nvPicPr>
          <p:cNvPr descr="%5Calpha" id="292" name="Google Shape;292;p29"/>
          <p:cNvPicPr preferRelativeResize="0"/>
          <p:nvPr/>
        </p:nvPicPr>
        <p:blipFill rotWithShape="1">
          <a:blip r:embed="rId6">
            <a:alphaModFix/>
          </a:blip>
          <a:srcRect b="0" l="0" r="0" t="0"/>
          <a:stretch/>
        </p:blipFill>
        <p:spPr>
          <a:xfrm>
            <a:off x="6121150" y="2090250"/>
            <a:ext cx="158150" cy="309845"/>
          </a:xfrm>
          <a:prstGeom prst="rect">
            <a:avLst/>
          </a:prstGeom>
          <a:noFill/>
          <a:ln>
            <a:noFill/>
          </a:ln>
        </p:spPr>
      </p:pic>
      <p:pic>
        <p:nvPicPr>
          <p:cNvPr descr="a cat holding a sign that says no on it (Provided by Tenor)" id="293" name="Google Shape;293;p29"/>
          <p:cNvPicPr preferRelativeResize="0"/>
          <p:nvPr/>
        </p:nvPicPr>
        <p:blipFill>
          <a:blip r:embed="rId7">
            <a:alphaModFix/>
          </a:blip>
          <a:stretch>
            <a:fillRect/>
          </a:stretch>
        </p:blipFill>
        <p:spPr>
          <a:xfrm>
            <a:off x="8022875" y="1949227"/>
            <a:ext cx="546218" cy="591900"/>
          </a:xfrm>
          <a:prstGeom prst="rect">
            <a:avLst/>
          </a:prstGeom>
          <a:noFill/>
          <a:ln>
            <a:noFill/>
          </a:ln>
        </p:spPr>
      </p:pic>
      <p:grpSp>
        <p:nvGrpSpPr>
          <p:cNvPr id="294" name="Google Shape;294;p29"/>
          <p:cNvGrpSpPr/>
          <p:nvPr/>
        </p:nvGrpSpPr>
        <p:grpSpPr>
          <a:xfrm>
            <a:off x="2936375" y="3928423"/>
            <a:ext cx="6137100" cy="537300"/>
            <a:chOff x="2783975" y="3456150"/>
            <a:chExt cx="6137100" cy="537300"/>
          </a:xfrm>
        </p:grpSpPr>
        <p:sp>
          <p:nvSpPr>
            <p:cNvPr id="295" name="Google Shape;295;p29"/>
            <p:cNvSpPr/>
            <p:nvPr/>
          </p:nvSpPr>
          <p:spPr>
            <a:xfrm>
              <a:off x="2783975" y="3456150"/>
              <a:ext cx="6137100" cy="53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6" name="Google Shape;296;p29"/>
            <p:cNvPicPr preferRelativeResize="0"/>
            <p:nvPr/>
          </p:nvPicPr>
          <p:blipFill>
            <a:blip r:embed="rId8">
              <a:alphaModFix/>
            </a:blip>
            <a:stretch>
              <a:fillRect/>
            </a:stretch>
          </p:blipFill>
          <p:spPr>
            <a:xfrm>
              <a:off x="4817386" y="3618650"/>
              <a:ext cx="3941414" cy="269700"/>
            </a:xfrm>
            <a:prstGeom prst="rect">
              <a:avLst/>
            </a:prstGeom>
            <a:noFill/>
            <a:ln>
              <a:noFill/>
            </a:ln>
          </p:spPr>
        </p:pic>
        <p:sp>
          <p:nvSpPr>
            <p:cNvPr id="297" name="Google Shape;297;p29"/>
            <p:cNvSpPr txBox="1"/>
            <p:nvPr/>
          </p:nvSpPr>
          <p:spPr>
            <a:xfrm>
              <a:off x="2790825" y="3501500"/>
              <a:ext cx="1980000" cy="39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700">
                  <a:solidFill>
                    <a:srgbClr val="00205B"/>
                  </a:solidFill>
                  <a:latin typeface="Lexend"/>
                  <a:ea typeface="Lexend"/>
                  <a:cs typeface="Lexend"/>
                  <a:sym typeface="Lexend"/>
                </a:rPr>
                <a:t>3.</a:t>
              </a:r>
              <a:r>
                <a:rPr lang="en" sz="1000">
                  <a:solidFill>
                    <a:srgbClr val="00205B"/>
                  </a:solidFill>
                  <a:latin typeface="Lexend"/>
                  <a:ea typeface="Lexend"/>
                  <a:cs typeface="Lexend"/>
                  <a:sym typeface="Lexend"/>
                </a:rPr>
                <a:t> </a:t>
              </a:r>
              <a:r>
                <a:rPr lang="en" sz="1000">
                  <a:solidFill>
                    <a:srgbClr val="00205B"/>
                  </a:solidFill>
                  <a:latin typeface="Lexend"/>
                  <a:ea typeface="Lexend"/>
                  <a:cs typeface="Lexend"/>
                  <a:sym typeface="Lexend"/>
                </a:rPr>
                <a:t>Coordinate adjustment</a:t>
              </a:r>
              <a:endParaRPr b="1" i="0" sz="1000" cap="none" strike="noStrike">
                <a:solidFill>
                  <a:srgbClr val="00205B"/>
                </a:solidFill>
                <a:latin typeface="Lexend"/>
                <a:ea typeface="Lexend"/>
                <a:cs typeface="Lexend"/>
                <a:sym typeface="Lexend"/>
              </a:endParaRPr>
            </a:p>
          </p:txBody>
        </p:sp>
      </p:grpSp>
      <p:grpSp>
        <p:nvGrpSpPr>
          <p:cNvPr id="298" name="Google Shape;298;p29"/>
          <p:cNvGrpSpPr/>
          <p:nvPr/>
        </p:nvGrpSpPr>
        <p:grpSpPr>
          <a:xfrm>
            <a:off x="2936375" y="2652664"/>
            <a:ext cx="6137100" cy="1250536"/>
            <a:chOff x="2783975" y="2271664"/>
            <a:chExt cx="6137100" cy="1250536"/>
          </a:xfrm>
        </p:grpSpPr>
        <p:sp>
          <p:nvSpPr>
            <p:cNvPr id="299" name="Google Shape;299;p29"/>
            <p:cNvSpPr/>
            <p:nvPr/>
          </p:nvSpPr>
          <p:spPr>
            <a:xfrm>
              <a:off x="2783975" y="2271664"/>
              <a:ext cx="6137100" cy="115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0" name="Google Shape;300;p29"/>
            <p:cNvPicPr preferRelativeResize="0"/>
            <p:nvPr/>
          </p:nvPicPr>
          <p:blipFill>
            <a:blip r:embed="rId9">
              <a:alphaModFix/>
            </a:blip>
            <a:stretch>
              <a:fillRect/>
            </a:stretch>
          </p:blipFill>
          <p:spPr>
            <a:xfrm>
              <a:off x="5095700" y="2282749"/>
              <a:ext cx="3275851" cy="275825"/>
            </a:xfrm>
            <a:prstGeom prst="rect">
              <a:avLst/>
            </a:prstGeom>
            <a:noFill/>
            <a:ln>
              <a:noFill/>
            </a:ln>
          </p:spPr>
        </p:pic>
        <p:pic>
          <p:nvPicPr>
            <p:cNvPr id="301" name="Google Shape;301;p29"/>
            <p:cNvPicPr preferRelativeResize="0"/>
            <p:nvPr/>
          </p:nvPicPr>
          <p:blipFill>
            <a:blip r:embed="rId10">
              <a:alphaModFix/>
            </a:blip>
            <a:stretch>
              <a:fillRect/>
            </a:stretch>
          </p:blipFill>
          <p:spPr>
            <a:xfrm>
              <a:off x="6006125" y="2621401"/>
              <a:ext cx="1578601" cy="269698"/>
            </a:xfrm>
            <a:prstGeom prst="rect">
              <a:avLst/>
            </a:prstGeom>
            <a:noFill/>
            <a:ln>
              <a:noFill/>
            </a:ln>
          </p:spPr>
        </p:pic>
        <p:pic>
          <p:nvPicPr>
            <p:cNvPr id="302" name="Google Shape;302;p29"/>
            <p:cNvPicPr preferRelativeResize="0"/>
            <p:nvPr/>
          </p:nvPicPr>
          <p:blipFill>
            <a:blip r:embed="rId11">
              <a:alphaModFix/>
            </a:blip>
            <a:stretch>
              <a:fillRect/>
            </a:stretch>
          </p:blipFill>
          <p:spPr>
            <a:xfrm>
              <a:off x="4843200" y="3025125"/>
              <a:ext cx="3889773" cy="220800"/>
            </a:xfrm>
            <a:prstGeom prst="rect">
              <a:avLst/>
            </a:prstGeom>
            <a:noFill/>
            <a:ln>
              <a:noFill/>
            </a:ln>
          </p:spPr>
        </p:pic>
        <p:sp>
          <p:nvSpPr>
            <p:cNvPr id="303" name="Google Shape;303;p29"/>
            <p:cNvSpPr txBox="1"/>
            <p:nvPr/>
          </p:nvSpPr>
          <p:spPr>
            <a:xfrm>
              <a:off x="2783975" y="2482375"/>
              <a:ext cx="1980000" cy="3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700">
                  <a:solidFill>
                    <a:srgbClr val="00205B"/>
                  </a:solidFill>
                  <a:latin typeface="Lexend"/>
                  <a:ea typeface="Lexend"/>
                  <a:cs typeface="Lexend"/>
                  <a:sym typeface="Lexend"/>
                </a:rPr>
                <a:t>2.</a:t>
              </a:r>
              <a:r>
                <a:rPr lang="en" sz="1000">
                  <a:solidFill>
                    <a:srgbClr val="00205B"/>
                  </a:solidFill>
                  <a:latin typeface="Lexend"/>
                  <a:ea typeface="Lexend"/>
                  <a:cs typeface="Lexend"/>
                  <a:sym typeface="Lexend"/>
                </a:rPr>
                <a:t> SOLUTION  = </a:t>
              </a:r>
              <a:r>
                <a:rPr b="1" lang="en" sz="1000">
                  <a:solidFill>
                    <a:srgbClr val="C00000"/>
                  </a:solidFill>
                  <a:latin typeface="Lexend"/>
                  <a:ea typeface="Lexend"/>
                  <a:cs typeface="Lexend"/>
                  <a:sym typeface="Lexend"/>
                </a:rPr>
                <a:t>stricter quantiles</a:t>
              </a:r>
              <a:r>
                <a:rPr b="1" lang="en" sz="1000">
                  <a:solidFill>
                    <a:srgbClr val="C00000"/>
                  </a:solidFill>
                  <a:latin typeface="Lexend"/>
                  <a:ea typeface="Lexend"/>
                  <a:cs typeface="Lexend"/>
                  <a:sym typeface="Lexend"/>
                </a:rPr>
                <a:t> (Bonferroni Correction)</a:t>
              </a:r>
              <a:endParaRPr b="1" i="0" sz="1000" cap="none" strike="noStrike">
                <a:solidFill>
                  <a:srgbClr val="C00000"/>
                </a:solidFill>
                <a:latin typeface="Lexend"/>
                <a:ea typeface="Lexend"/>
                <a:cs typeface="Lexend"/>
                <a:sym typeface="Lexend"/>
              </a:endParaRPr>
            </a:p>
          </p:txBody>
        </p:sp>
        <p:sp>
          <p:nvSpPr>
            <p:cNvPr id="304" name="Google Shape;304;p29"/>
            <p:cNvSpPr txBox="1"/>
            <p:nvPr/>
          </p:nvSpPr>
          <p:spPr>
            <a:xfrm>
              <a:off x="5567205" y="3170600"/>
              <a:ext cx="546300" cy="3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700">
                  <a:solidFill>
                    <a:srgbClr val="38761D"/>
                  </a:solidFill>
                  <a:latin typeface="Lexend"/>
                  <a:ea typeface="Lexend"/>
                  <a:cs typeface="Lexend"/>
                  <a:sym typeface="Lexend"/>
                </a:rPr>
                <a:t>Left</a:t>
              </a:r>
              <a:endParaRPr i="0" sz="1100" cap="none" strike="noStrike">
                <a:solidFill>
                  <a:schemeClr val="dk1"/>
                </a:solidFill>
                <a:latin typeface="Lexend"/>
                <a:ea typeface="Lexend"/>
                <a:cs typeface="Lexend"/>
                <a:sym typeface="Lexend"/>
              </a:endParaRPr>
            </a:p>
          </p:txBody>
        </p:sp>
        <p:sp>
          <p:nvSpPr>
            <p:cNvPr id="305" name="Google Shape;305;p29"/>
            <p:cNvSpPr txBox="1"/>
            <p:nvPr/>
          </p:nvSpPr>
          <p:spPr>
            <a:xfrm>
              <a:off x="7634271" y="3165239"/>
              <a:ext cx="546300" cy="3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700">
                  <a:solidFill>
                    <a:srgbClr val="C00000"/>
                  </a:solidFill>
                  <a:latin typeface="Lexend"/>
                  <a:ea typeface="Lexend"/>
                  <a:cs typeface="Lexend"/>
                  <a:sym typeface="Lexend"/>
                </a:rPr>
                <a:t>Right</a:t>
              </a:r>
              <a:endParaRPr i="0" sz="1100" cap="none" strike="noStrike">
                <a:solidFill>
                  <a:schemeClr val="dk1"/>
                </a:solidFill>
                <a:latin typeface="Lexend"/>
                <a:ea typeface="Lexend"/>
                <a:cs typeface="Lexend"/>
                <a:sym typeface="Lexend"/>
              </a:endParaRPr>
            </a:p>
          </p:txBody>
        </p:sp>
      </p:grpSp>
      <p:sp>
        <p:nvSpPr>
          <p:cNvPr id="306" name="Google Shape;306;p29"/>
          <p:cNvSpPr txBox="1"/>
          <p:nvPr/>
        </p:nvSpPr>
        <p:spPr>
          <a:xfrm>
            <a:off x="538250" y="4909200"/>
            <a:ext cx="4946400" cy="1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lang="en" sz="800">
                <a:latin typeface="Lexend ExtraLight"/>
                <a:ea typeface="Lexend ExtraLight"/>
                <a:cs typeface="Lexend ExtraLight"/>
                <a:sym typeface="Lexend ExtraLight"/>
              </a:rPr>
              <a:t>Andéol</a:t>
            </a:r>
            <a:r>
              <a:rPr lang="en" sz="800">
                <a:latin typeface="Lexend ExtraLight"/>
                <a:ea typeface="Lexend ExtraLight"/>
                <a:cs typeface="Lexend ExtraLight"/>
                <a:sym typeface="Lexend ExtraLight"/>
              </a:rPr>
              <a:t> et al, COPA 2023</a:t>
            </a:r>
            <a:endParaRPr sz="800">
              <a:latin typeface="Lexend ExtraLight"/>
              <a:ea typeface="Lexend ExtraLight"/>
              <a:cs typeface="Lexend ExtraLight"/>
              <a:sym typeface="Lexend ExtraLight"/>
            </a:endParaRPr>
          </a:p>
        </p:txBody>
      </p:sp>
      <p:cxnSp>
        <p:nvCxnSpPr>
          <p:cNvPr id="307" name="Google Shape;307;p29"/>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308" name="Google Shape;308;p29"/>
          <p:cNvSpPr txBox="1"/>
          <p:nvPr/>
        </p:nvSpPr>
        <p:spPr>
          <a:xfrm>
            <a:off x="5992775" y="125338"/>
            <a:ext cx="2030100" cy="11082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rgbClr val="00205B"/>
              </a:buClr>
              <a:buSzPts val="1000"/>
              <a:buFont typeface="Lexend"/>
              <a:buAutoNum type="arabicPeriod"/>
            </a:pPr>
            <a:r>
              <a:rPr lang="en" sz="1000">
                <a:solidFill>
                  <a:srgbClr val="00205B"/>
                </a:solidFill>
                <a:latin typeface="Lexend"/>
                <a:ea typeface="Lexend"/>
                <a:cs typeface="Lexend"/>
                <a:sym typeface="Lexend"/>
              </a:rPr>
              <a:t>differences between predictions &amp; GT - for each of the four coordinates of the bounding box (xmin, ymin, xmax, ymax).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nvSpPr>
        <p:spPr>
          <a:xfrm>
            <a:off x="288425" y="72250"/>
            <a:ext cx="62076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Are IoU &amp; IoA robust metrics </a:t>
            </a:r>
            <a:r>
              <a:rPr lang="en" sz="1800">
                <a:solidFill>
                  <a:srgbClr val="00205B"/>
                </a:solidFill>
                <a:latin typeface="Lexend Medium"/>
                <a:ea typeface="Lexend Medium"/>
                <a:cs typeface="Lexend Medium"/>
                <a:sym typeface="Lexend Medium"/>
              </a:rPr>
              <a:t>for VLS</a:t>
            </a:r>
            <a:r>
              <a:rPr lang="en" sz="1800">
                <a:solidFill>
                  <a:srgbClr val="00205B"/>
                </a:solidFill>
                <a:latin typeface="Lexend Medium"/>
                <a:ea typeface="Lexend Medium"/>
                <a:cs typeface="Lexend Medium"/>
                <a:sym typeface="Lexend Medium"/>
              </a:rPr>
              <a:t> ?</a:t>
            </a:r>
            <a:endParaRPr i="0" sz="1800" u="none" cap="none" strike="noStrike">
              <a:solidFill>
                <a:srgbClr val="00205B"/>
              </a:solidFill>
              <a:latin typeface="Lexend Medium"/>
              <a:ea typeface="Lexend Medium"/>
              <a:cs typeface="Lexend Medium"/>
              <a:sym typeface="Lexend Medium"/>
            </a:endParaRPr>
          </a:p>
        </p:txBody>
      </p:sp>
      <p:cxnSp>
        <p:nvCxnSpPr>
          <p:cNvPr id="314" name="Google Shape;314;p30"/>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315" name="Google Shape;315;p30"/>
          <p:cNvPicPr preferRelativeResize="0"/>
          <p:nvPr/>
        </p:nvPicPr>
        <p:blipFill rotWithShape="1">
          <a:blip r:embed="rId3">
            <a:alphaModFix/>
          </a:blip>
          <a:srcRect b="0" l="0" r="0" t="0"/>
          <a:stretch/>
        </p:blipFill>
        <p:spPr>
          <a:xfrm>
            <a:off x="8266150" y="91401"/>
            <a:ext cx="703375" cy="351675"/>
          </a:xfrm>
          <a:prstGeom prst="rect">
            <a:avLst/>
          </a:prstGeom>
          <a:noFill/>
          <a:ln>
            <a:noFill/>
          </a:ln>
        </p:spPr>
      </p:pic>
      <p:cxnSp>
        <p:nvCxnSpPr>
          <p:cNvPr id="316" name="Google Shape;316;p30"/>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317" name="Google Shape;317;p30"/>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grpSp>
        <p:nvGrpSpPr>
          <p:cNvPr id="318" name="Google Shape;318;p30"/>
          <p:cNvGrpSpPr/>
          <p:nvPr/>
        </p:nvGrpSpPr>
        <p:grpSpPr>
          <a:xfrm>
            <a:off x="1872229" y="929833"/>
            <a:ext cx="1664649" cy="1706207"/>
            <a:chOff x="2378627" y="619887"/>
            <a:chExt cx="1563931" cy="1610237"/>
          </a:xfrm>
        </p:grpSpPr>
        <p:pic>
          <p:nvPicPr>
            <p:cNvPr id="319" name="Google Shape;319;p30"/>
            <p:cNvPicPr preferRelativeResize="0"/>
            <p:nvPr/>
          </p:nvPicPr>
          <p:blipFill rotWithShape="1">
            <a:blip r:embed="rId4">
              <a:alphaModFix/>
            </a:blip>
            <a:srcRect b="0" l="0" r="0" t="25506"/>
            <a:stretch/>
          </p:blipFill>
          <p:spPr>
            <a:xfrm>
              <a:off x="2378627" y="619887"/>
              <a:ext cx="1563931" cy="1610237"/>
            </a:xfrm>
            <a:prstGeom prst="rect">
              <a:avLst/>
            </a:prstGeom>
            <a:noFill/>
            <a:ln>
              <a:noFill/>
            </a:ln>
          </p:spPr>
        </p:pic>
        <p:sp>
          <p:nvSpPr>
            <p:cNvPr id="320" name="Google Shape;320;p30"/>
            <p:cNvSpPr/>
            <p:nvPr/>
          </p:nvSpPr>
          <p:spPr>
            <a:xfrm>
              <a:off x="2698723" y="887996"/>
              <a:ext cx="923700" cy="788700"/>
            </a:xfrm>
            <a:prstGeom prst="rect">
              <a:avLst/>
            </a:prstGeom>
            <a:noFill/>
            <a:ln cap="flat" cmpd="sng" w="16475">
              <a:solidFill>
                <a:srgbClr val="C00000"/>
              </a:solidFill>
              <a:prstDash val="solid"/>
              <a:round/>
              <a:headEnd len="sm" w="sm" type="none"/>
              <a:tailEnd len="sm" w="sm" type="none"/>
            </a:ln>
            <a:effectLst>
              <a:outerShdw blurRad="49368" rotWithShape="0" algn="bl" dir="5400000" dist="16456">
                <a:srgbClr val="000000">
                  <a:alpha val="49410"/>
                </a:srgbClr>
              </a:outerShdw>
            </a:effectLst>
          </p:spPr>
          <p:txBody>
            <a:bodyPr anchorCtr="0" anchor="ctr" bIns="78975" lIns="78975" spcFirstLastPara="1" rIns="78975" wrap="square" tIns="78975">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321" name="Google Shape;321;p30"/>
            <p:cNvSpPr/>
            <p:nvPr/>
          </p:nvSpPr>
          <p:spPr>
            <a:xfrm>
              <a:off x="2427750" y="672325"/>
              <a:ext cx="1416600" cy="1438200"/>
            </a:xfrm>
            <a:prstGeom prst="rect">
              <a:avLst/>
            </a:prstGeom>
            <a:noFill/>
            <a:ln cap="flat" cmpd="sng" w="24675">
              <a:solidFill>
                <a:srgbClr val="FE8F00"/>
              </a:solidFill>
              <a:prstDash val="solid"/>
              <a:round/>
              <a:headEnd len="sm" w="sm" type="none"/>
              <a:tailEnd len="sm" w="sm" type="none"/>
            </a:ln>
            <a:effectLst>
              <a:outerShdw blurRad="49368" rotWithShape="0" algn="bl" dir="5400000" dist="16456">
                <a:srgbClr val="000000">
                  <a:alpha val="49410"/>
                </a:srgbClr>
              </a:outerShdw>
            </a:effectLst>
          </p:spPr>
          <p:txBody>
            <a:bodyPr anchorCtr="0" anchor="ctr" bIns="78975" lIns="78975" spcFirstLastPara="1" rIns="78975" wrap="square" tIns="78975">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grpSp>
      <p:pic>
        <p:nvPicPr>
          <p:cNvPr id="322" name="Google Shape;322;p30"/>
          <p:cNvPicPr preferRelativeResize="0"/>
          <p:nvPr/>
        </p:nvPicPr>
        <p:blipFill rotWithShape="1">
          <a:blip r:embed="rId4">
            <a:alphaModFix/>
          </a:blip>
          <a:srcRect b="0" l="0" r="0" t="25506"/>
          <a:stretch/>
        </p:blipFill>
        <p:spPr>
          <a:xfrm>
            <a:off x="1873157" y="2843782"/>
            <a:ext cx="1664733" cy="1706148"/>
          </a:xfrm>
          <a:prstGeom prst="rect">
            <a:avLst/>
          </a:prstGeom>
          <a:noFill/>
          <a:ln>
            <a:noFill/>
          </a:ln>
        </p:spPr>
      </p:pic>
      <p:sp>
        <p:nvSpPr>
          <p:cNvPr id="323" name="Google Shape;323;p30"/>
          <p:cNvSpPr/>
          <p:nvPr/>
        </p:nvSpPr>
        <p:spPr>
          <a:xfrm>
            <a:off x="2213884" y="3127860"/>
            <a:ext cx="982800" cy="835500"/>
          </a:xfrm>
          <a:prstGeom prst="rect">
            <a:avLst/>
          </a:prstGeom>
          <a:noFill/>
          <a:ln cap="flat" cmpd="sng" w="16475">
            <a:solidFill>
              <a:srgbClr val="C00000"/>
            </a:solidFill>
            <a:prstDash val="solid"/>
            <a:round/>
            <a:headEnd len="sm" w="sm" type="none"/>
            <a:tailEnd len="sm" w="sm" type="none"/>
          </a:ln>
          <a:effectLst>
            <a:outerShdw blurRad="49368" rotWithShape="0" algn="bl" dir="5400000" dist="16456">
              <a:srgbClr val="000000">
                <a:alpha val="49410"/>
              </a:srgbClr>
            </a:outerShdw>
          </a:effectLst>
        </p:spPr>
        <p:txBody>
          <a:bodyPr anchorCtr="0" anchor="ctr" bIns="78975" lIns="78975" spcFirstLastPara="1" rIns="78975" wrap="square" tIns="78975">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324" name="Google Shape;324;p30"/>
          <p:cNvSpPr/>
          <p:nvPr/>
        </p:nvSpPr>
        <p:spPr>
          <a:xfrm>
            <a:off x="2131418" y="3072290"/>
            <a:ext cx="1131000" cy="970200"/>
          </a:xfrm>
          <a:prstGeom prst="rect">
            <a:avLst/>
          </a:prstGeom>
          <a:noFill/>
          <a:ln cap="flat" cmpd="sng" w="24675">
            <a:solidFill>
              <a:srgbClr val="FE8F00"/>
            </a:solidFill>
            <a:prstDash val="solid"/>
            <a:round/>
            <a:headEnd len="sm" w="sm" type="none"/>
            <a:tailEnd len="sm" w="sm" type="none"/>
          </a:ln>
          <a:effectLst>
            <a:outerShdw blurRad="49368" rotWithShape="0" algn="bl" dir="5400000" dist="16456">
              <a:srgbClr val="000000">
                <a:alpha val="49410"/>
              </a:srgbClr>
            </a:outerShdw>
          </a:effectLst>
        </p:spPr>
        <p:txBody>
          <a:bodyPr anchorCtr="0" anchor="ctr" bIns="78975" lIns="78975" spcFirstLastPara="1" rIns="78975" wrap="square" tIns="78975">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325" name="Google Shape;325;p30"/>
          <p:cNvSpPr txBox="1"/>
          <p:nvPr/>
        </p:nvSpPr>
        <p:spPr>
          <a:xfrm>
            <a:off x="3579151" y="1390817"/>
            <a:ext cx="736500" cy="495000"/>
          </a:xfrm>
          <a:prstGeom prst="rect">
            <a:avLst/>
          </a:prstGeom>
          <a:noFill/>
          <a:ln>
            <a:noFill/>
          </a:ln>
        </p:spPr>
        <p:txBody>
          <a:bodyPr anchorCtr="0" anchor="t" bIns="57400" lIns="57400" spcFirstLastPara="1" rIns="57400" wrap="square" tIns="57400">
            <a:noAutofit/>
          </a:bodyPr>
          <a:lstStyle/>
          <a:p>
            <a:pPr indent="0" lvl="0" marL="0" marR="0" rtl="0" algn="ctr">
              <a:lnSpc>
                <a:spcPct val="100000"/>
              </a:lnSpc>
              <a:spcBef>
                <a:spcPts val="0"/>
              </a:spcBef>
              <a:spcAft>
                <a:spcPts val="0"/>
              </a:spcAft>
              <a:buClr>
                <a:srgbClr val="000000"/>
              </a:buClr>
              <a:buSzPts val="879"/>
              <a:buFont typeface="Arial"/>
              <a:buNone/>
            </a:pPr>
            <a:r>
              <a:rPr b="0" i="0" lang="en" sz="941" u="none" cap="none" strike="noStrike">
                <a:solidFill>
                  <a:schemeClr val="dk1"/>
                </a:solidFill>
                <a:latin typeface="Lexend"/>
                <a:ea typeface="Lexend"/>
                <a:cs typeface="Lexend"/>
                <a:sym typeface="Lexend"/>
              </a:rPr>
              <a:t>IoA = 1 </a:t>
            </a:r>
            <a:endParaRPr b="0" i="0" sz="941"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879"/>
              <a:buFont typeface="Arial"/>
              <a:buNone/>
            </a:pPr>
            <a:r>
              <a:rPr b="0" i="0" lang="en" sz="941" u="none" cap="none" strike="noStrike">
                <a:solidFill>
                  <a:schemeClr val="dk1"/>
                </a:solidFill>
                <a:latin typeface="Lexend"/>
                <a:ea typeface="Lexend"/>
                <a:cs typeface="Lexend"/>
                <a:sym typeface="Lexend"/>
              </a:rPr>
              <a:t>&amp;</a:t>
            </a:r>
            <a:endParaRPr b="0" i="0" sz="941"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879"/>
              <a:buFont typeface="Arial"/>
              <a:buNone/>
            </a:pPr>
            <a:r>
              <a:rPr b="0" i="0" lang="en" sz="941" u="none" cap="none" strike="noStrike">
                <a:solidFill>
                  <a:schemeClr val="dk1"/>
                </a:solidFill>
                <a:latin typeface="Lexend"/>
                <a:ea typeface="Lexend"/>
                <a:cs typeface="Lexend"/>
                <a:sym typeface="Lexend"/>
              </a:rPr>
              <a:t>IoU</a:t>
            </a:r>
            <a:r>
              <a:rPr b="0" i="0" lang="en" sz="941" u="none" cap="none" strike="noStrike">
                <a:solidFill>
                  <a:schemeClr val="dk1"/>
                </a:solidFill>
                <a:latin typeface="Lexend"/>
                <a:ea typeface="Lexend"/>
                <a:cs typeface="Lexend"/>
                <a:sym typeface="Lexend"/>
              </a:rPr>
              <a:t> = </a:t>
            </a:r>
            <a:r>
              <a:rPr b="1" i="0" lang="en" sz="941" u="none" cap="none" strike="noStrike">
                <a:solidFill>
                  <a:srgbClr val="C00000"/>
                </a:solidFill>
                <a:latin typeface="Lexend"/>
                <a:ea typeface="Lexend"/>
                <a:cs typeface="Lexend"/>
                <a:sym typeface="Lexend"/>
              </a:rPr>
              <a:t>0.4</a:t>
            </a:r>
            <a:r>
              <a:rPr b="1" i="0" lang="en" sz="941" u="none" cap="none" strike="noStrike">
                <a:solidFill>
                  <a:schemeClr val="dk1"/>
                </a:solidFill>
                <a:latin typeface="Lexend"/>
                <a:ea typeface="Lexend"/>
                <a:cs typeface="Lexend"/>
                <a:sym typeface="Lexend"/>
              </a:rPr>
              <a:t> </a:t>
            </a:r>
            <a:endParaRPr b="1" i="0" sz="941" u="none" cap="none" strike="noStrike">
              <a:solidFill>
                <a:schemeClr val="dk1"/>
              </a:solidFill>
              <a:latin typeface="Lexend"/>
              <a:ea typeface="Lexend"/>
              <a:cs typeface="Lexend"/>
              <a:sym typeface="Lexend"/>
            </a:endParaRPr>
          </a:p>
        </p:txBody>
      </p:sp>
      <p:pic>
        <p:nvPicPr>
          <p:cNvPr id="326" name="Google Shape;326;p30"/>
          <p:cNvPicPr preferRelativeResize="0"/>
          <p:nvPr/>
        </p:nvPicPr>
        <p:blipFill rotWithShape="1">
          <a:blip r:embed="rId5">
            <a:alphaModFix/>
          </a:blip>
          <a:srcRect b="0" l="0" r="0" t="0"/>
          <a:stretch/>
        </p:blipFill>
        <p:spPr>
          <a:xfrm>
            <a:off x="3805223" y="1981565"/>
            <a:ext cx="379450" cy="379450"/>
          </a:xfrm>
          <a:prstGeom prst="rect">
            <a:avLst/>
          </a:prstGeom>
          <a:noFill/>
          <a:ln>
            <a:noFill/>
          </a:ln>
        </p:spPr>
      </p:pic>
      <p:sp>
        <p:nvSpPr>
          <p:cNvPr id="327" name="Google Shape;327;p30"/>
          <p:cNvSpPr txBox="1"/>
          <p:nvPr/>
        </p:nvSpPr>
        <p:spPr>
          <a:xfrm>
            <a:off x="3599766" y="3212284"/>
            <a:ext cx="773400" cy="519900"/>
          </a:xfrm>
          <a:prstGeom prst="rect">
            <a:avLst/>
          </a:prstGeom>
          <a:noFill/>
          <a:ln>
            <a:noFill/>
          </a:ln>
        </p:spPr>
        <p:txBody>
          <a:bodyPr anchorCtr="0" anchor="t"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rPr b="0" i="0" lang="en" sz="988" u="none" cap="none" strike="noStrike">
                <a:solidFill>
                  <a:schemeClr val="dk1"/>
                </a:solidFill>
                <a:latin typeface="Lexend"/>
                <a:ea typeface="Lexend"/>
                <a:cs typeface="Lexend"/>
                <a:sym typeface="Lexend"/>
              </a:rPr>
              <a:t>IoA = 1 </a:t>
            </a:r>
            <a:endParaRPr b="0" i="0" sz="988"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923"/>
              <a:buFont typeface="Arial"/>
              <a:buNone/>
            </a:pPr>
            <a:r>
              <a:rPr b="0" i="0" lang="en" sz="988" u="none" cap="none" strike="noStrike">
                <a:solidFill>
                  <a:schemeClr val="dk1"/>
                </a:solidFill>
                <a:latin typeface="Lexend"/>
                <a:ea typeface="Lexend"/>
                <a:cs typeface="Lexend"/>
                <a:sym typeface="Lexend"/>
              </a:rPr>
              <a:t>&amp;</a:t>
            </a:r>
            <a:endParaRPr b="0" i="0" sz="988"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923"/>
              <a:buFont typeface="Arial"/>
              <a:buNone/>
            </a:pPr>
            <a:r>
              <a:rPr b="0" i="0" lang="en" sz="988" u="none" cap="none" strike="noStrike">
                <a:solidFill>
                  <a:schemeClr val="dk1"/>
                </a:solidFill>
                <a:latin typeface="Lexend"/>
                <a:ea typeface="Lexend"/>
                <a:cs typeface="Lexend"/>
                <a:sym typeface="Lexend"/>
              </a:rPr>
              <a:t>IoU =</a:t>
            </a:r>
            <a:r>
              <a:rPr b="0" i="0" lang="en" sz="988" u="none" cap="none" strike="noStrike">
                <a:solidFill>
                  <a:srgbClr val="1B8F0B"/>
                </a:solidFill>
                <a:latin typeface="Lexend"/>
                <a:ea typeface="Lexend"/>
                <a:cs typeface="Lexend"/>
                <a:sym typeface="Lexend"/>
              </a:rPr>
              <a:t> </a:t>
            </a:r>
            <a:r>
              <a:rPr b="1" i="0" lang="en" sz="988" u="none" cap="none" strike="noStrike">
                <a:solidFill>
                  <a:srgbClr val="1B8F0B"/>
                </a:solidFill>
                <a:latin typeface="Lexend"/>
                <a:ea typeface="Lexend"/>
                <a:cs typeface="Lexend"/>
                <a:sym typeface="Lexend"/>
              </a:rPr>
              <a:t>0.9</a:t>
            </a:r>
            <a:r>
              <a:rPr b="1" i="0" lang="en" sz="988" u="none" cap="none" strike="noStrike">
                <a:solidFill>
                  <a:schemeClr val="dk1"/>
                </a:solidFill>
                <a:latin typeface="Lexend"/>
                <a:ea typeface="Lexend"/>
                <a:cs typeface="Lexend"/>
                <a:sym typeface="Lexend"/>
              </a:rPr>
              <a:t> </a:t>
            </a:r>
            <a:endParaRPr b="1" i="0" sz="988" u="none" cap="none" strike="noStrike">
              <a:solidFill>
                <a:schemeClr val="dk1"/>
              </a:solidFill>
              <a:latin typeface="Lexend"/>
              <a:ea typeface="Lexend"/>
              <a:cs typeface="Lexend"/>
              <a:sym typeface="Lexend"/>
            </a:endParaRPr>
          </a:p>
        </p:txBody>
      </p:sp>
      <p:grpSp>
        <p:nvGrpSpPr>
          <p:cNvPr id="328" name="Google Shape;328;p30"/>
          <p:cNvGrpSpPr/>
          <p:nvPr/>
        </p:nvGrpSpPr>
        <p:grpSpPr>
          <a:xfrm>
            <a:off x="3709528" y="3811141"/>
            <a:ext cx="553926" cy="525448"/>
            <a:chOff x="4151848" y="2173198"/>
            <a:chExt cx="840300" cy="797100"/>
          </a:xfrm>
        </p:grpSpPr>
        <p:sp>
          <p:nvSpPr>
            <p:cNvPr id="329" name="Google Shape;329;p30"/>
            <p:cNvSpPr/>
            <p:nvPr/>
          </p:nvSpPr>
          <p:spPr>
            <a:xfrm>
              <a:off x="4151848" y="2173198"/>
              <a:ext cx="840300" cy="797100"/>
            </a:xfrm>
            <a:prstGeom prst="star5">
              <a:avLst>
                <a:gd fmla="val 28831" name="adj"/>
                <a:gd fmla="val 105146" name="hf"/>
                <a:gd fmla="val 110557" name="vf"/>
              </a:avLst>
            </a:prstGeom>
            <a:solidFill>
              <a:srgbClr val="FFFFFF"/>
            </a:solidFill>
            <a:ln>
              <a:noFill/>
            </a:ln>
            <a:effectLst>
              <a:outerShdw blurRad="37672" rotWithShape="0" algn="bl" dir="5400000" dist="12557">
                <a:srgbClr val="000000">
                  <a:alpha val="20000"/>
                </a:srgbClr>
              </a:outerShdw>
            </a:effectLst>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330" name="Google Shape;330;p30"/>
            <p:cNvSpPr/>
            <p:nvPr/>
          </p:nvSpPr>
          <p:spPr>
            <a:xfrm>
              <a:off x="4217203" y="2243818"/>
              <a:ext cx="708300" cy="672000"/>
            </a:xfrm>
            <a:prstGeom prst="star5">
              <a:avLst>
                <a:gd fmla="val 28831" name="adj"/>
                <a:gd fmla="val 105146" name="hf"/>
                <a:gd fmla="val 110557" name="vf"/>
              </a:avLst>
            </a:prstGeom>
            <a:solidFill>
              <a:srgbClr val="0F9D58"/>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331" name="Google Shape;331;p30"/>
            <p:cNvSpPr/>
            <p:nvPr/>
          </p:nvSpPr>
          <p:spPr>
            <a:xfrm rot="-900458">
              <a:off x="4517870" y="2530485"/>
              <a:ext cx="188841" cy="202523"/>
            </a:xfrm>
            <a:prstGeom prst="roundRect">
              <a:avLst>
                <a:gd fmla="val 16565"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332" name="Google Shape;332;p30"/>
            <p:cNvSpPr/>
            <p:nvPr/>
          </p:nvSpPr>
          <p:spPr>
            <a:xfrm flipH="1" rot="-3108409">
              <a:off x="4500985" y="2448459"/>
              <a:ext cx="80541" cy="80541"/>
            </a:xfrm>
            <a:prstGeom prst="pie">
              <a:avLst>
                <a:gd fmla="val 5730646" name="adj1"/>
                <a:gd fmla="val 16200000" name="adj2"/>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333" name="Google Shape;333;p30"/>
            <p:cNvSpPr/>
            <p:nvPr/>
          </p:nvSpPr>
          <p:spPr>
            <a:xfrm rot="-899905">
              <a:off x="4487644" y="2458757"/>
              <a:ext cx="97721" cy="103389"/>
            </a:xfrm>
            <a:custGeom>
              <a:rect b="b" l="l" r="r" t="t"/>
              <a:pathLst>
                <a:path extrusionOk="0" h="10724" w="10136">
                  <a:moveTo>
                    <a:pt x="0" y="10724"/>
                  </a:moveTo>
                  <a:lnTo>
                    <a:pt x="3397" y="3691"/>
                  </a:lnTo>
                  <a:lnTo>
                    <a:pt x="3612" y="0"/>
                  </a:lnTo>
                  <a:lnTo>
                    <a:pt x="10136" y="4334"/>
                  </a:lnTo>
                  <a:lnTo>
                    <a:pt x="8839" y="10572"/>
                  </a:lnTo>
                  <a:close/>
                </a:path>
              </a:pathLst>
            </a:custGeom>
            <a:solidFill>
              <a:srgbClr val="FFFFFF"/>
            </a:solidFill>
            <a:ln>
              <a:noFill/>
            </a:ln>
          </p:spPr>
        </p:sp>
        <p:sp>
          <p:nvSpPr>
            <p:cNvPr id="334" name="Google Shape;334;p30"/>
            <p:cNvSpPr/>
            <p:nvPr/>
          </p:nvSpPr>
          <p:spPr>
            <a:xfrm rot="-903522">
              <a:off x="4586407" y="2517549"/>
              <a:ext cx="130481" cy="70226"/>
            </a:xfrm>
            <a:prstGeom prst="roundRect">
              <a:avLst>
                <a:gd fmla="val 50000"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335" name="Google Shape;335;p30"/>
            <p:cNvSpPr/>
            <p:nvPr/>
          </p:nvSpPr>
          <p:spPr>
            <a:xfrm rot="-903522">
              <a:off x="4589058" y="2562486"/>
              <a:ext cx="130481" cy="70226"/>
            </a:xfrm>
            <a:prstGeom prst="roundRect">
              <a:avLst>
                <a:gd fmla="val 50000"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336" name="Google Shape;336;p30"/>
            <p:cNvSpPr/>
            <p:nvPr/>
          </p:nvSpPr>
          <p:spPr>
            <a:xfrm rot="-903522">
              <a:off x="4591710" y="2607423"/>
              <a:ext cx="130481" cy="70226"/>
            </a:xfrm>
            <a:prstGeom prst="roundRect">
              <a:avLst>
                <a:gd fmla="val 50000"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337" name="Google Shape;337;p30"/>
            <p:cNvSpPr/>
            <p:nvPr/>
          </p:nvSpPr>
          <p:spPr>
            <a:xfrm rot="-903522">
              <a:off x="4594362" y="2652361"/>
              <a:ext cx="130481" cy="70226"/>
            </a:xfrm>
            <a:prstGeom prst="roundRect">
              <a:avLst>
                <a:gd fmla="val 50000"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338" name="Google Shape;338;p30"/>
            <p:cNvSpPr/>
            <p:nvPr/>
          </p:nvSpPr>
          <p:spPr>
            <a:xfrm rot="-900746">
              <a:off x="4439193" y="2567707"/>
              <a:ext cx="68332" cy="202523"/>
            </a:xfrm>
            <a:prstGeom prst="roundRect">
              <a:avLst>
                <a:gd fmla="val 17316"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grpSp>
      <p:sp>
        <p:nvSpPr>
          <p:cNvPr id="339" name="Google Shape;339;p30"/>
          <p:cNvSpPr txBox="1"/>
          <p:nvPr/>
        </p:nvSpPr>
        <p:spPr>
          <a:xfrm>
            <a:off x="538250" y="4909200"/>
            <a:ext cx="4946400" cy="1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lang="en" sz="800">
                <a:latin typeface="Lexend ExtraLight"/>
                <a:ea typeface="Lexend ExtraLight"/>
                <a:cs typeface="Lexend ExtraLight"/>
                <a:sym typeface="Lexend ExtraLight"/>
              </a:rPr>
              <a:t>Zouzou</a:t>
            </a:r>
            <a:r>
              <a:rPr lang="en" sz="800">
                <a:latin typeface="Lexend ExtraLight"/>
                <a:ea typeface="Lexend ExtraLight"/>
                <a:cs typeface="Lexend ExtraLight"/>
                <a:sym typeface="Lexend ExtraLight"/>
              </a:rPr>
              <a:t> et al, COPA 2025</a:t>
            </a:r>
            <a:endParaRPr sz="800">
              <a:latin typeface="Lexend ExtraLight"/>
              <a:ea typeface="Lexend ExtraLight"/>
              <a:cs typeface="Lexend ExtraLight"/>
              <a:sym typeface="Lexend ExtraLight"/>
            </a:endParaRPr>
          </a:p>
        </p:txBody>
      </p:sp>
      <p:sp>
        <p:nvSpPr>
          <p:cNvPr id="340" name="Google Shape;340;p30"/>
          <p:cNvSpPr/>
          <p:nvPr/>
        </p:nvSpPr>
        <p:spPr>
          <a:xfrm>
            <a:off x="135573" y="1216732"/>
            <a:ext cx="1345500" cy="546900"/>
          </a:xfrm>
          <a:prstGeom prst="wedgeRoundRectCallout">
            <a:avLst>
              <a:gd fmla="val -20833" name="adj1"/>
              <a:gd fmla="val 62500" name="adj2"/>
              <a:gd fmla="val 0" name="adj3"/>
            </a:avLst>
          </a:prstGeom>
          <a:noFill/>
          <a:ln cap="flat" cmpd="sng" w="7325">
            <a:solidFill>
              <a:srgbClr val="000000"/>
            </a:solidFill>
            <a:prstDash val="solid"/>
            <a:round/>
            <a:headEnd len="sm" w="sm" type="none"/>
            <a:tailEnd len="sm" w="sm" type="none"/>
          </a:ln>
        </p:spPr>
        <p:txBody>
          <a:bodyPr anchorCtr="0" anchor="ctr" bIns="70450" lIns="70450" spcFirstLastPara="1" rIns="70450" wrap="square" tIns="70450">
            <a:noAutofit/>
          </a:bodyPr>
          <a:lstStyle/>
          <a:p>
            <a:pPr indent="0" lvl="0" marL="0" marR="0" rtl="0" algn="ctr">
              <a:lnSpc>
                <a:spcPct val="100000"/>
              </a:lnSpc>
              <a:spcBef>
                <a:spcPts val="0"/>
              </a:spcBef>
              <a:spcAft>
                <a:spcPts val="0"/>
              </a:spcAft>
              <a:buClr>
                <a:srgbClr val="000000"/>
              </a:buClr>
              <a:buSzPts val="1079"/>
              <a:buFont typeface="Arial"/>
              <a:buNone/>
            </a:pPr>
            <a:r>
              <a:t/>
            </a:r>
            <a:endParaRPr b="0" i="0" sz="1079" u="none" cap="none" strike="noStrike">
              <a:solidFill>
                <a:srgbClr val="000000"/>
              </a:solidFill>
              <a:latin typeface="Arial"/>
              <a:ea typeface="Arial"/>
              <a:cs typeface="Arial"/>
              <a:sym typeface="Arial"/>
            </a:endParaRPr>
          </a:p>
        </p:txBody>
      </p:sp>
      <p:sp>
        <p:nvSpPr>
          <p:cNvPr id="341" name="Google Shape;341;p30"/>
          <p:cNvSpPr txBox="1"/>
          <p:nvPr/>
        </p:nvSpPr>
        <p:spPr>
          <a:xfrm>
            <a:off x="117750" y="1186543"/>
            <a:ext cx="1345500" cy="578700"/>
          </a:xfrm>
          <a:prstGeom prst="rect">
            <a:avLst/>
          </a:prstGeom>
          <a:noFill/>
          <a:ln>
            <a:noFill/>
          </a:ln>
        </p:spPr>
        <p:txBody>
          <a:bodyPr anchorCtr="0" anchor="t" bIns="70450" lIns="70450" spcFirstLastPara="1" rIns="70450" wrap="square" tIns="70450">
            <a:noAutofit/>
          </a:bodyPr>
          <a:lstStyle/>
          <a:p>
            <a:pPr indent="0" lvl="0" marL="0" marR="0" rtl="0" algn="l">
              <a:lnSpc>
                <a:spcPct val="100000"/>
              </a:lnSpc>
              <a:spcBef>
                <a:spcPts val="0"/>
              </a:spcBef>
              <a:spcAft>
                <a:spcPts val="0"/>
              </a:spcAft>
              <a:buClr>
                <a:srgbClr val="000000"/>
              </a:buClr>
              <a:buSzPts val="925"/>
              <a:buFont typeface="Arial"/>
              <a:buNone/>
            </a:pPr>
            <a:r>
              <a:rPr b="0" i="0" lang="en" sz="1079" u="none" cap="none" strike="noStrike">
                <a:solidFill>
                  <a:schemeClr val="dk1"/>
                </a:solidFill>
                <a:latin typeface="Lexend"/>
                <a:ea typeface="Lexend"/>
                <a:cs typeface="Lexend"/>
                <a:sym typeface="Lexend"/>
              </a:rPr>
              <a:t>How to guarantee  a robust detection ? </a:t>
            </a:r>
            <a:endParaRPr b="0" i="0" sz="1079" u="none" cap="none" strike="noStrike">
              <a:solidFill>
                <a:schemeClr val="dk1"/>
              </a:solidFill>
              <a:latin typeface="Lexend"/>
              <a:ea typeface="Lexend"/>
              <a:cs typeface="Lexend"/>
              <a:sym typeface="Lexend"/>
            </a:endParaRPr>
          </a:p>
        </p:txBody>
      </p:sp>
      <p:sp>
        <p:nvSpPr>
          <p:cNvPr id="342" name="Google Shape;342;p30"/>
          <p:cNvSpPr/>
          <p:nvPr/>
        </p:nvSpPr>
        <p:spPr>
          <a:xfrm flipH="1">
            <a:off x="751598" y="1849628"/>
            <a:ext cx="925200" cy="374400"/>
          </a:xfrm>
          <a:prstGeom prst="wedgeRoundRectCallout">
            <a:avLst>
              <a:gd fmla="val -20833" name="adj1"/>
              <a:gd fmla="val 62500" name="adj2"/>
              <a:gd fmla="val 0" name="adj3"/>
            </a:avLst>
          </a:prstGeom>
          <a:noFill/>
          <a:ln cap="flat" cmpd="sng" w="7325">
            <a:solidFill>
              <a:schemeClr val="dk2"/>
            </a:solidFill>
            <a:prstDash val="solid"/>
            <a:round/>
            <a:headEnd len="sm" w="sm" type="none"/>
            <a:tailEnd len="sm" w="sm" type="none"/>
          </a:ln>
        </p:spPr>
        <p:txBody>
          <a:bodyPr anchorCtr="0" anchor="ctr" bIns="70450" lIns="70450" spcFirstLastPara="1" rIns="70450" wrap="square" tIns="70450">
            <a:noAutofit/>
          </a:bodyPr>
          <a:lstStyle/>
          <a:p>
            <a:pPr indent="0" lvl="0" marL="0" marR="0" rtl="0" algn="ctr">
              <a:lnSpc>
                <a:spcPct val="100000"/>
              </a:lnSpc>
              <a:spcBef>
                <a:spcPts val="0"/>
              </a:spcBef>
              <a:spcAft>
                <a:spcPts val="0"/>
              </a:spcAft>
              <a:buClr>
                <a:srgbClr val="000000"/>
              </a:buClr>
              <a:buSzPts val="1079"/>
              <a:buFont typeface="Arial"/>
              <a:buNone/>
            </a:pPr>
            <a:r>
              <a:t/>
            </a:r>
            <a:endParaRPr b="0" i="0" sz="1079" u="none" cap="none" strike="noStrike">
              <a:solidFill>
                <a:schemeClr val="dk1"/>
              </a:solidFill>
              <a:latin typeface="Arial"/>
              <a:ea typeface="Arial"/>
              <a:cs typeface="Arial"/>
              <a:sym typeface="Arial"/>
            </a:endParaRPr>
          </a:p>
        </p:txBody>
      </p:sp>
      <p:sp>
        <p:nvSpPr>
          <p:cNvPr id="343" name="Google Shape;343;p30"/>
          <p:cNvSpPr txBox="1"/>
          <p:nvPr/>
        </p:nvSpPr>
        <p:spPr>
          <a:xfrm>
            <a:off x="711804" y="1895441"/>
            <a:ext cx="1038900" cy="270900"/>
          </a:xfrm>
          <a:prstGeom prst="rect">
            <a:avLst/>
          </a:prstGeom>
          <a:noFill/>
          <a:ln>
            <a:noFill/>
          </a:ln>
        </p:spPr>
        <p:txBody>
          <a:bodyPr anchorCtr="0" anchor="t" bIns="70450" lIns="70450" spcFirstLastPara="1" rIns="70450" wrap="square" tIns="70450">
            <a:noAutofit/>
          </a:bodyPr>
          <a:lstStyle/>
          <a:p>
            <a:pPr indent="0" lvl="0" marL="0" marR="0" rtl="0" algn="l">
              <a:lnSpc>
                <a:spcPct val="100000"/>
              </a:lnSpc>
              <a:spcBef>
                <a:spcPts val="0"/>
              </a:spcBef>
              <a:spcAft>
                <a:spcPts val="0"/>
              </a:spcAft>
              <a:buClr>
                <a:srgbClr val="000000"/>
              </a:buClr>
              <a:buSzPts val="925"/>
              <a:buFont typeface="Arial"/>
              <a:buNone/>
            </a:pPr>
            <a:r>
              <a:rPr b="0" i="0" lang="en" sz="1079" u="none" cap="none" strike="noStrike">
                <a:solidFill>
                  <a:schemeClr val="dk1"/>
                </a:solidFill>
                <a:latin typeface="Lexend"/>
                <a:ea typeface="Lexend"/>
                <a:cs typeface="Lexend"/>
                <a:sym typeface="Lexend"/>
              </a:rPr>
              <a:t>with IoA = 1 ! </a:t>
            </a:r>
            <a:endParaRPr b="0" i="0" sz="1079" u="none" cap="none" strike="noStrike">
              <a:solidFill>
                <a:schemeClr val="dk1"/>
              </a:solidFill>
              <a:latin typeface="Lexend"/>
              <a:ea typeface="Lexend"/>
              <a:cs typeface="Lexend"/>
              <a:sym typeface="Lexend"/>
            </a:endParaRPr>
          </a:p>
        </p:txBody>
      </p:sp>
      <p:sp>
        <p:nvSpPr>
          <p:cNvPr id="344" name="Google Shape;344;p30"/>
          <p:cNvSpPr/>
          <p:nvPr/>
        </p:nvSpPr>
        <p:spPr>
          <a:xfrm>
            <a:off x="137825" y="3147646"/>
            <a:ext cx="715800" cy="313200"/>
          </a:xfrm>
          <a:prstGeom prst="wedgeRoundRectCallout">
            <a:avLst>
              <a:gd fmla="val -20833" name="adj1"/>
              <a:gd fmla="val 62500" name="adj2"/>
              <a:gd fmla="val 0" name="adj3"/>
            </a:avLst>
          </a:prstGeom>
          <a:noFill/>
          <a:ln cap="flat" cmpd="sng" w="7650">
            <a:solidFill>
              <a:srgbClr val="000000"/>
            </a:solidFill>
            <a:prstDash val="solid"/>
            <a:round/>
            <a:headEnd len="sm" w="sm" type="none"/>
            <a:tailEnd len="sm" w="sm" type="none"/>
          </a:ln>
        </p:spPr>
        <p:txBody>
          <a:bodyPr anchorCtr="0" anchor="ctr" bIns="73450" lIns="73450" spcFirstLastPara="1" rIns="73450" wrap="square" tIns="73450">
            <a:noAutofit/>
          </a:bodyPr>
          <a:lstStyle/>
          <a:p>
            <a:pPr indent="0" lvl="0" marL="0" marR="0" rtl="0" algn="ctr">
              <a:lnSpc>
                <a:spcPct val="100000"/>
              </a:lnSpc>
              <a:spcBef>
                <a:spcPts val="0"/>
              </a:spcBef>
              <a:spcAft>
                <a:spcPts val="0"/>
              </a:spcAft>
              <a:buClr>
                <a:srgbClr val="000000"/>
              </a:buClr>
              <a:buSzPts val="1125"/>
              <a:buFont typeface="Arial"/>
              <a:buNone/>
            </a:pPr>
            <a:r>
              <a:t/>
            </a:r>
            <a:endParaRPr b="0" i="0" sz="1124" u="none" cap="none" strike="noStrike">
              <a:solidFill>
                <a:srgbClr val="000000"/>
              </a:solidFill>
              <a:latin typeface="Arial"/>
              <a:ea typeface="Arial"/>
              <a:cs typeface="Arial"/>
              <a:sym typeface="Arial"/>
            </a:endParaRPr>
          </a:p>
        </p:txBody>
      </p:sp>
      <p:sp>
        <p:nvSpPr>
          <p:cNvPr id="345" name="Google Shape;345;p30"/>
          <p:cNvSpPr txBox="1"/>
          <p:nvPr/>
        </p:nvSpPr>
        <p:spPr>
          <a:xfrm>
            <a:off x="189764" y="3137027"/>
            <a:ext cx="715800" cy="282600"/>
          </a:xfrm>
          <a:prstGeom prst="rect">
            <a:avLst/>
          </a:prstGeom>
          <a:noFill/>
          <a:ln>
            <a:noFill/>
          </a:ln>
        </p:spPr>
        <p:txBody>
          <a:bodyPr anchorCtr="0" anchor="t" bIns="73450" lIns="73450" spcFirstLastPara="1" rIns="73450" wrap="square" tIns="73450">
            <a:noAutofit/>
          </a:bodyPr>
          <a:lstStyle/>
          <a:p>
            <a:pPr indent="0" lvl="0" marL="0" marR="0" rtl="0" algn="l">
              <a:lnSpc>
                <a:spcPct val="100000"/>
              </a:lnSpc>
              <a:spcBef>
                <a:spcPts val="0"/>
              </a:spcBef>
              <a:spcAft>
                <a:spcPts val="0"/>
              </a:spcAft>
              <a:buClr>
                <a:srgbClr val="000000"/>
              </a:buClr>
              <a:buSzPts val="964"/>
              <a:buFont typeface="Arial"/>
              <a:buNone/>
            </a:pPr>
            <a:r>
              <a:rPr b="0" i="0" lang="en" sz="1124" u="none" cap="none" strike="noStrike">
                <a:solidFill>
                  <a:schemeClr val="dk1"/>
                </a:solidFill>
                <a:latin typeface="Lexend"/>
                <a:ea typeface="Lexend"/>
                <a:cs typeface="Lexend"/>
                <a:sym typeface="Lexend"/>
              </a:rPr>
              <a:t>Only ?</a:t>
            </a:r>
            <a:r>
              <a:rPr b="0" i="0" lang="en" sz="964" u="none" cap="none" strike="noStrike">
                <a:solidFill>
                  <a:schemeClr val="dk1"/>
                </a:solidFill>
                <a:latin typeface="Lexend"/>
                <a:ea typeface="Lexend"/>
                <a:cs typeface="Lexend"/>
                <a:sym typeface="Lexend"/>
              </a:rPr>
              <a:t> </a:t>
            </a:r>
            <a:endParaRPr b="0" i="0" sz="964" u="none" cap="none" strike="noStrike">
              <a:solidFill>
                <a:schemeClr val="dk1"/>
              </a:solidFill>
              <a:latin typeface="Lexend"/>
              <a:ea typeface="Lexend"/>
              <a:cs typeface="Lexend"/>
              <a:sym typeface="Lexend"/>
            </a:endParaRPr>
          </a:p>
        </p:txBody>
      </p:sp>
      <p:sp>
        <p:nvSpPr>
          <p:cNvPr id="346" name="Google Shape;346;p30"/>
          <p:cNvSpPr/>
          <p:nvPr/>
        </p:nvSpPr>
        <p:spPr>
          <a:xfrm flipH="1">
            <a:off x="578772" y="3606447"/>
            <a:ext cx="1068300" cy="431100"/>
          </a:xfrm>
          <a:prstGeom prst="wedgeRoundRectCallout">
            <a:avLst>
              <a:gd fmla="val -20833" name="adj1"/>
              <a:gd fmla="val 62500" name="adj2"/>
              <a:gd fmla="val 0" name="adj3"/>
            </a:avLst>
          </a:prstGeom>
          <a:noFill/>
          <a:ln cap="flat" cmpd="sng" w="7650">
            <a:solidFill>
              <a:schemeClr val="dk2"/>
            </a:solidFill>
            <a:prstDash val="solid"/>
            <a:round/>
            <a:headEnd len="sm" w="sm" type="none"/>
            <a:tailEnd len="sm" w="sm" type="none"/>
          </a:ln>
        </p:spPr>
        <p:txBody>
          <a:bodyPr anchorCtr="0" anchor="ctr" bIns="73450" lIns="73450" spcFirstLastPara="1" rIns="73450" wrap="square" tIns="73450">
            <a:noAutofit/>
          </a:bodyPr>
          <a:lstStyle/>
          <a:p>
            <a:pPr indent="0" lvl="0" marL="0" marR="0" rtl="0" algn="ctr">
              <a:lnSpc>
                <a:spcPct val="100000"/>
              </a:lnSpc>
              <a:spcBef>
                <a:spcPts val="0"/>
              </a:spcBef>
              <a:spcAft>
                <a:spcPts val="0"/>
              </a:spcAft>
              <a:buClr>
                <a:srgbClr val="000000"/>
              </a:buClr>
              <a:buSzPts val="1125"/>
              <a:buFont typeface="Arial"/>
              <a:buNone/>
            </a:pPr>
            <a:r>
              <a:t/>
            </a:r>
            <a:endParaRPr b="0" i="0" sz="1124" u="none" cap="none" strike="noStrike">
              <a:solidFill>
                <a:schemeClr val="dk1"/>
              </a:solidFill>
              <a:latin typeface="Arial"/>
              <a:ea typeface="Arial"/>
              <a:cs typeface="Arial"/>
              <a:sym typeface="Arial"/>
            </a:endParaRPr>
          </a:p>
        </p:txBody>
      </p:sp>
      <p:sp>
        <p:nvSpPr>
          <p:cNvPr id="347" name="Google Shape;347;p30"/>
          <p:cNvSpPr txBox="1"/>
          <p:nvPr/>
        </p:nvSpPr>
        <p:spPr>
          <a:xfrm>
            <a:off x="613006" y="3572415"/>
            <a:ext cx="1108800" cy="390300"/>
          </a:xfrm>
          <a:prstGeom prst="rect">
            <a:avLst/>
          </a:prstGeom>
          <a:noFill/>
          <a:ln>
            <a:noFill/>
          </a:ln>
        </p:spPr>
        <p:txBody>
          <a:bodyPr anchorCtr="0" anchor="t" bIns="73450" lIns="73450" spcFirstLastPara="1" rIns="73450" wrap="square" tIns="73450">
            <a:noAutofit/>
          </a:bodyPr>
          <a:lstStyle/>
          <a:p>
            <a:pPr indent="0" lvl="0" marL="0" marR="0" rtl="0" algn="l">
              <a:lnSpc>
                <a:spcPct val="100000"/>
              </a:lnSpc>
              <a:spcBef>
                <a:spcPts val="0"/>
              </a:spcBef>
              <a:spcAft>
                <a:spcPts val="0"/>
              </a:spcAft>
              <a:buClr>
                <a:srgbClr val="000000"/>
              </a:buClr>
              <a:buSzPts val="964"/>
              <a:buFont typeface="Arial"/>
              <a:buNone/>
            </a:pPr>
            <a:r>
              <a:rPr b="0" i="0" lang="en" sz="1124" u="none" cap="none" strike="noStrike">
                <a:solidFill>
                  <a:schemeClr val="dk1"/>
                </a:solidFill>
                <a:latin typeface="Lexend"/>
                <a:ea typeface="Lexend"/>
                <a:cs typeface="Lexend"/>
                <a:sym typeface="Lexend"/>
              </a:rPr>
              <a:t>also with a decent IoU … </a:t>
            </a:r>
            <a:endParaRPr b="0" i="0" sz="1124" u="none" cap="none" strike="noStrike">
              <a:solidFill>
                <a:schemeClr val="dk1"/>
              </a:solidFill>
              <a:latin typeface="Lexend"/>
              <a:ea typeface="Lexend"/>
              <a:cs typeface="Lexend"/>
              <a:sym typeface="Lexend"/>
            </a:endParaRPr>
          </a:p>
        </p:txBody>
      </p:sp>
      <p:pic>
        <p:nvPicPr>
          <p:cNvPr id="348" name="Google Shape;348;p30"/>
          <p:cNvPicPr preferRelativeResize="0"/>
          <p:nvPr/>
        </p:nvPicPr>
        <p:blipFill rotWithShape="1">
          <a:blip r:embed="rId4">
            <a:alphaModFix/>
          </a:blip>
          <a:srcRect b="21048" l="14710" r="15374" t="34834"/>
          <a:stretch/>
        </p:blipFill>
        <p:spPr>
          <a:xfrm>
            <a:off x="5249403" y="2734656"/>
            <a:ext cx="1699225" cy="1475126"/>
          </a:xfrm>
          <a:prstGeom prst="rect">
            <a:avLst/>
          </a:prstGeom>
          <a:noFill/>
          <a:ln>
            <a:noFill/>
          </a:ln>
        </p:spPr>
      </p:pic>
      <p:sp>
        <p:nvSpPr>
          <p:cNvPr id="349" name="Google Shape;349;p30"/>
          <p:cNvSpPr/>
          <p:nvPr/>
        </p:nvSpPr>
        <p:spPr>
          <a:xfrm>
            <a:off x="5268955" y="2756495"/>
            <a:ext cx="1651200" cy="1416300"/>
          </a:xfrm>
          <a:prstGeom prst="rect">
            <a:avLst/>
          </a:prstGeom>
          <a:noFill/>
          <a:ln cap="flat" cmpd="sng" w="36025">
            <a:solidFill>
              <a:srgbClr val="FE8F00"/>
            </a:solidFill>
            <a:prstDash val="solid"/>
            <a:round/>
            <a:headEnd len="sm" w="sm" type="none"/>
            <a:tailEnd len="sm" w="sm" type="none"/>
          </a:ln>
          <a:effectLst>
            <a:outerShdw blurRad="72072" rotWithShape="0" algn="bl" dir="5400000" dist="24024">
              <a:srgbClr val="000000">
                <a:alpha val="49410"/>
              </a:srgbClr>
            </a:outerShdw>
          </a:effectLst>
        </p:spPr>
        <p:txBody>
          <a:bodyPr anchorCtr="0" anchor="ctr" bIns="115300" lIns="115300" spcFirstLastPara="1" rIns="115300" wrap="square" tIns="115300">
            <a:noAutofit/>
          </a:bodyPr>
          <a:lstStyle/>
          <a:p>
            <a:pPr indent="0" lvl="0" marL="0" marR="0" rtl="0" algn="ctr">
              <a:lnSpc>
                <a:spcPct val="100000"/>
              </a:lnSpc>
              <a:spcBef>
                <a:spcPts val="0"/>
              </a:spcBef>
              <a:spcAft>
                <a:spcPts val="0"/>
              </a:spcAft>
              <a:buClr>
                <a:srgbClr val="000000"/>
              </a:buClr>
              <a:buSzPts val="1766"/>
              <a:buFont typeface="Arial"/>
              <a:buNone/>
            </a:pPr>
            <a:r>
              <a:t/>
            </a:r>
            <a:endParaRPr b="0" i="0" sz="1765" u="none" cap="none" strike="noStrike">
              <a:solidFill>
                <a:srgbClr val="000000"/>
              </a:solidFill>
              <a:latin typeface="Arial"/>
              <a:ea typeface="Arial"/>
              <a:cs typeface="Arial"/>
              <a:sym typeface="Arial"/>
            </a:endParaRPr>
          </a:p>
        </p:txBody>
      </p:sp>
      <p:pic>
        <p:nvPicPr>
          <p:cNvPr id="350" name="Google Shape;350;p30"/>
          <p:cNvPicPr preferRelativeResize="0"/>
          <p:nvPr/>
        </p:nvPicPr>
        <p:blipFill rotWithShape="1">
          <a:blip r:embed="rId4">
            <a:alphaModFix/>
          </a:blip>
          <a:srcRect b="4752" l="2101" r="5305" t="27349"/>
          <a:stretch/>
        </p:blipFill>
        <p:spPr>
          <a:xfrm>
            <a:off x="5234723" y="766199"/>
            <a:ext cx="1728604" cy="1744250"/>
          </a:xfrm>
          <a:prstGeom prst="rect">
            <a:avLst/>
          </a:prstGeom>
          <a:noFill/>
          <a:ln>
            <a:noFill/>
          </a:ln>
        </p:spPr>
      </p:pic>
      <p:sp>
        <p:nvSpPr>
          <p:cNvPr id="351" name="Google Shape;351;p30"/>
          <p:cNvSpPr/>
          <p:nvPr/>
        </p:nvSpPr>
        <p:spPr>
          <a:xfrm>
            <a:off x="5254004" y="781098"/>
            <a:ext cx="1691100" cy="1709100"/>
          </a:xfrm>
          <a:prstGeom prst="rect">
            <a:avLst/>
          </a:prstGeom>
          <a:noFill/>
          <a:ln cap="flat" cmpd="sng" w="27675">
            <a:solidFill>
              <a:srgbClr val="FE8F00"/>
            </a:solidFill>
            <a:prstDash val="solid"/>
            <a:round/>
            <a:headEnd len="sm" w="sm" type="none"/>
            <a:tailEnd len="sm" w="sm" type="none"/>
          </a:ln>
          <a:effectLst>
            <a:outerShdw blurRad="55369" rotWithShape="0" algn="bl" dir="5400000" dist="18456">
              <a:srgbClr val="000000">
                <a:alpha val="49410"/>
              </a:srgbClr>
            </a:outerShdw>
          </a:effectLst>
        </p:spPr>
        <p:txBody>
          <a:bodyPr anchorCtr="0" anchor="ctr" bIns="88575" lIns="88575" spcFirstLastPara="1" rIns="88575" wrap="square" tIns="88575">
            <a:noAutofit/>
          </a:bodyPr>
          <a:lstStyle/>
          <a:p>
            <a:pPr indent="0" lvl="0" marL="0" marR="0" rtl="0" algn="ctr">
              <a:lnSpc>
                <a:spcPct val="100000"/>
              </a:lnSpc>
              <a:spcBef>
                <a:spcPts val="0"/>
              </a:spcBef>
              <a:spcAft>
                <a:spcPts val="0"/>
              </a:spcAft>
              <a:buClr>
                <a:srgbClr val="000000"/>
              </a:buClr>
              <a:buSzPts val="1356"/>
              <a:buFont typeface="Arial"/>
              <a:buNone/>
            </a:pPr>
            <a:r>
              <a:t/>
            </a:r>
            <a:endParaRPr b="0" i="0" sz="1356" u="none" cap="none" strike="noStrike">
              <a:solidFill>
                <a:srgbClr val="000000"/>
              </a:solidFill>
              <a:latin typeface="Arial"/>
              <a:ea typeface="Arial"/>
              <a:cs typeface="Arial"/>
              <a:sym typeface="Arial"/>
            </a:endParaRPr>
          </a:p>
        </p:txBody>
      </p:sp>
      <p:sp>
        <p:nvSpPr>
          <p:cNvPr id="352" name="Google Shape;352;p30"/>
          <p:cNvSpPr/>
          <p:nvPr/>
        </p:nvSpPr>
        <p:spPr>
          <a:xfrm>
            <a:off x="5509154" y="1900121"/>
            <a:ext cx="70800" cy="729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353" name="Google Shape;353;p30"/>
          <p:cNvSpPr/>
          <p:nvPr/>
        </p:nvSpPr>
        <p:spPr>
          <a:xfrm>
            <a:off x="6588978" y="1748271"/>
            <a:ext cx="78000" cy="729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354" name="Google Shape;354;p30"/>
          <p:cNvSpPr/>
          <p:nvPr/>
        </p:nvSpPr>
        <p:spPr>
          <a:xfrm>
            <a:off x="6196378" y="1114920"/>
            <a:ext cx="78000" cy="792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355" name="Google Shape;355;p30"/>
          <p:cNvSpPr/>
          <p:nvPr/>
        </p:nvSpPr>
        <p:spPr>
          <a:xfrm>
            <a:off x="5947753" y="1042020"/>
            <a:ext cx="78000" cy="729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356" name="Google Shape;356;p30"/>
          <p:cNvSpPr/>
          <p:nvPr/>
        </p:nvSpPr>
        <p:spPr>
          <a:xfrm>
            <a:off x="5927803" y="2850614"/>
            <a:ext cx="78000" cy="729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357" name="Google Shape;357;p30"/>
          <p:cNvSpPr/>
          <p:nvPr/>
        </p:nvSpPr>
        <p:spPr>
          <a:xfrm>
            <a:off x="5414853" y="3924064"/>
            <a:ext cx="78000" cy="729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358" name="Google Shape;358;p30"/>
          <p:cNvSpPr/>
          <p:nvPr/>
        </p:nvSpPr>
        <p:spPr>
          <a:xfrm>
            <a:off x="6652828" y="3908289"/>
            <a:ext cx="78000" cy="729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sp>
        <p:nvSpPr>
          <p:cNvPr id="359" name="Google Shape;359;p30"/>
          <p:cNvSpPr/>
          <p:nvPr/>
        </p:nvSpPr>
        <p:spPr>
          <a:xfrm>
            <a:off x="6108353" y="2850614"/>
            <a:ext cx="78000" cy="72900"/>
          </a:xfrm>
          <a:prstGeom prst="ellipse">
            <a:avLst/>
          </a:prstGeom>
          <a:solidFill>
            <a:srgbClr val="FFFF00"/>
          </a:solidFill>
          <a:ln cap="flat" cmpd="sng" w="7075">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7"/>
          </a:p>
        </p:txBody>
      </p:sp>
      <p:cxnSp>
        <p:nvCxnSpPr>
          <p:cNvPr id="360" name="Google Shape;360;p30"/>
          <p:cNvCxnSpPr>
            <a:stCxn id="325" idx="3"/>
            <a:endCxn id="351" idx="1"/>
          </p:cNvCxnSpPr>
          <p:nvPr/>
        </p:nvCxnSpPr>
        <p:spPr>
          <a:xfrm flipH="1" rot="10800000">
            <a:off x="4315651" y="1635617"/>
            <a:ext cx="938400" cy="2700"/>
          </a:xfrm>
          <a:prstGeom prst="straightConnector1">
            <a:avLst/>
          </a:prstGeom>
          <a:noFill/>
          <a:ln cap="flat" cmpd="sng" w="28575">
            <a:solidFill>
              <a:srgbClr val="9E9E9E"/>
            </a:solidFill>
            <a:prstDash val="solid"/>
            <a:round/>
            <a:headEnd len="med" w="med" type="none"/>
            <a:tailEnd len="med" w="med" type="stealth"/>
          </a:ln>
        </p:spPr>
      </p:cxnSp>
      <p:cxnSp>
        <p:nvCxnSpPr>
          <p:cNvPr id="361" name="Google Shape;361;p30"/>
          <p:cNvCxnSpPr>
            <a:stCxn id="327" idx="3"/>
            <a:endCxn id="349" idx="1"/>
          </p:cNvCxnSpPr>
          <p:nvPr/>
        </p:nvCxnSpPr>
        <p:spPr>
          <a:xfrm flipH="1" rot="10800000">
            <a:off x="4373166" y="3464734"/>
            <a:ext cx="895800" cy="7500"/>
          </a:xfrm>
          <a:prstGeom prst="straightConnector1">
            <a:avLst/>
          </a:prstGeom>
          <a:noFill/>
          <a:ln cap="flat" cmpd="sng" w="28575">
            <a:solidFill>
              <a:srgbClr val="9E9E9E"/>
            </a:solidFill>
            <a:prstDash val="solid"/>
            <a:round/>
            <a:headEnd len="med" w="med" type="none"/>
            <a:tailEnd len="med" w="med" type="stealth"/>
          </a:ln>
        </p:spPr>
      </p:cxnSp>
      <p:sp>
        <p:nvSpPr>
          <p:cNvPr id="362" name="Google Shape;362;p30"/>
          <p:cNvSpPr txBox="1"/>
          <p:nvPr/>
        </p:nvSpPr>
        <p:spPr>
          <a:xfrm>
            <a:off x="7436050" y="1446204"/>
            <a:ext cx="1345500" cy="970200"/>
          </a:xfrm>
          <a:prstGeom prst="rect">
            <a:avLst/>
          </a:prstGeom>
          <a:noFill/>
          <a:ln>
            <a:noFill/>
          </a:ln>
        </p:spPr>
        <p:txBody>
          <a:bodyPr anchorCtr="0" anchor="t" bIns="70450" lIns="70450" spcFirstLastPara="1" rIns="70450" wrap="square" tIns="70450">
            <a:noAutofit/>
          </a:bodyPr>
          <a:lstStyle/>
          <a:p>
            <a:pPr indent="0" lvl="0" marL="0" marR="0" rtl="0" algn="l">
              <a:lnSpc>
                <a:spcPct val="100000"/>
              </a:lnSpc>
              <a:spcBef>
                <a:spcPts val="0"/>
              </a:spcBef>
              <a:spcAft>
                <a:spcPts val="0"/>
              </a:spcAft>
              <a:buClr>
                <a:srgbClr val="000000"/>
              </a:buClr>
              <a:buSzPts val="925"/>
              <a:buFont typeface="Arial"/>
              <a:buNone/>
            </a:pPr>
            <a:r>
              <a:rPr b="1" lang="en" sz="1079">
                <a:solidFill>
                  <a:schemeClr val="dk1"/>
                </a:solidFill>
                <a:latin typeface="Lexend"/>
                <a:ea typeface="Lexend"/>
                <a:cs typeface="Lexend"/>
                <a:sym typeface="Lexend"/>
              </a:rPr>
              <a:t>Interpolation Error (high resolution images) </a:t>
            </a:r>
            <a:r>
              <a:rPr lang="en" sz="1079">
                <a:solidFill>
                  <a:schemeClr val="dk1"/>
                </a:solidFill>
                <a:latin typeface="Lexend"/>
                <a:ea typeface="Lexend"/>
                <a:cs typeface="Lexend"/>
                <a:sym typeface="Lexend"/>
              </a:rPr>
              <a:t> ⇒ </a:t>
            </a:r>
            <a:r>
              <a:rPr b="1" lang="en" sz="1079">
                <a:solidFill>
                  <a:srgbClr val="C00000"/>
                </a:solidFill>
                <a:latin typeface="Lexend"/>
                <a:ea typeface="Lexend"/>
                <a:cs typeface="Lexend"/>
                <a:sym typeface="Lexend"/>
              </a:rPr>
              <a:t>BAD </a:t>
            </a:r>
            <a:r>
              <a:rPr lang="en" sz="1079">
                <a:solidFill>
                  <a:schemeClr val="dk1"/>
                </a:solidFill>
                <a:latin typeface="Lexend"/>
                <a:ea typeface="Lexend"/>
                <a:cs typeface="Lexend"/>
                <a:sym typeface="Lexend"/>
              </a:rPr>
              <a:t>Pose Estimation ! </a:t>
            </a:r>
            <a:endParaRPr b="0" i="0" sz="1079" u="none" cap="none" strike="noStrike">
              <a:solidFill>
                <a:schemeClr val="dk1"/>
              </a:solidFill>
              <a:latin typeface="Lexend"/>
              <a:ea typeface="Lexend"/>
              <a:cs typeface="Lexend"/>
              <a:sym typeface="Lexend"/>
            </a:endParaRPr>
          </a:p>
        </p:txBody>
      </p:sp>
      <p:sp>
        <p:nvSpPr>
          <p:cNvPr id="363" name="Google Shape;363;p30"/>
          <p:cNvSpPr txBox="1"/>
          <p:nvPr/>
        </p:nvSpPr>
        <p:spPr>
          <a:xfrm>
            <a:off x="7375300" y="3175300"/>
            <a:ext cx="1467000" cy="578700"/>
          </a:xfrm>
          <a:prstGeom prst="rect">
            <a:avLst/>
          </a:prstGeom>
          <a:noFill/>
          <a:ln>
            <a:noFill/>
          </a:ln>
        </p:spPr>
        <p:txBody>
          <a:bodyPr anchorCtr="0" anchor="t" bIns="70450" lIns="70450" spcFirstLastPara="1" rIns="70450" wrap="square" tIns="70450">
            <a:noAutofit/>
          </a:bodyPr>
          <a:lstStyle/>
          <a:p>
            <a:pPr indent="0" lvl="0" marL="0" marR="0" rtl="0" algn="l">
              <a:lnSpc>
                <a:spcPct val="100000"/>
              </a:lnSpc>
              <a:spcBef>
                <a:spcPts val="0"/>
              </a:spcBef>
              <a:spcAft>
                <a:spcPts val="0"/>
              </a:spcAft>
              <a:buClr>
                <a:srgbClr val="000000"/>
              </a:buClr>
              <a:buSzPts val="925"/>
              <a:buFont typeface="Arial"/>
              <a:buNone/>
            </a:pPr>
            <a:r>
              <a:rPr b="1" lang="en" sz="1079">
                <a:solidFill>
                  <a:schemeClr val="dk1"/>
                </a:solidFill>
                <a:latin typeface="Lexend"/>
                <a:ea typeface="Lexend"/>
                <a:cs typeface="Lexend"/>
                <a:sym typeface="Lexend"/>
              </a:rPr>
              <a:t>NO </a:t>
            </a:r>
            <a:r>
              <a:rPr b="1" lang="en" sz="1079">
                <a:solidFill>
                  <a:schemeClr val="dk1"/>
                </a:solidFill>
                <a:latin typeface="Lexend"/>
                <a:ea typeface="Lexend"/>
                <a:cs typeface="Lexend"/>
                <a:sym typeface="Lexend"/>
              </a:rPr>
              <a:t>Interpolation Error </a:t>
            </a:r>
            <a:r>
              <a:rPr lang="en" sz="1079">
                <a:solidFill>
                  <a:schemeClr val="dk1"/>
                </a:solidFill>
                <a:latin typeface="Lexend"/>
                <a:ea typeface="Lexend"/>
                <a:cs typeface="Lexend"/>
                <a:sym typeface="Lexend"/>
              </a:rPr>
              <a:t>⇒ </a:t>
            </a:r>
            <a:r>
              <a:rPr b="1" lang="en" sz="1079">
                <a:solidFill>
                  <a:srgbClr val="1B8F0B"/>
                </a:solidFill>
                <a:latin typeface="Lexend"/>
                <a:ea typeface="Lexend"/>
                <a:cs typeface="Lexend"/>
                <a:sym typeface="Lexend"/>
              </a:rPr>
              <a:t>GOOD </a:t>
            </a:r>
            <a:r>
              <a:rPr lang="en" sz="1079">
                <a:solidFill>
                  <a:schemeClr val="dk1"/>
                </a:solidFill>
                <a:latin typeface="Lexend"/>
                <a:ea typeface="Lexend"/>
                <a:cs typeface="Lexend"/>
                <a:sym typeface="Lexend"/>
              </a:rPr>
              <a:t>Pose Estimation ! </a:t>
            </a:r>
            <a:endParaRPr b="0" i="0" sz="1079" u="none" cap="none" strike="noStrike">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1"/>
          <p:cNvSpPr txBox="1"/>
          <p:nvPr/>
        </p:nvSpPr>
        <p:spPr>
          <a:xfrm>
            <a:off x="288425" y="72250"/>
            <a:ext cx="62076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Are IoU &amp; IoA robust metrics </a:t>
            </a:r>
            <a:r>
              <a:rPr lang="en" sz="1800">
                <a:solidFill>
                  <a:srgbClr val="00205B"/>
                </a:solidFill>
                <a:latin typeface="Lexend Medium"/>
                <a:ea typeface="Lexend Medium"/>
                <a:cs typeface="Lexend Medium"/>
                <a:sym typeface="Lexend Medium"/>
              </a:rPr>
              <a:t>for VLS</a:t>
            </a:r>
            <a:r>
              <a:rPr lang="en" sz="1800">
                <a:solidFill>
                  <a:srgbClr val="00205B"/>
                </a:solidFill>
                <a:latin typeface="Lexend Medium"/>
                <a:ea typeface="Lexend Medium"/>
                <a:cs typeface="Lexend Medium"/>
                <a:sym typeface="Lexend Medium"/>
              </a:rPr>
              <a:t> ?</a:t>
            </a:r>
            <a:endParaRPr i="0" sz="1800" u="none" cap="none" strike="noStrike">
              <a:solidFill>
                <a:srgbClr val="00205B"/>
              </a:solidFill>
              <a:latin typeface="Lexend Medium"/>
              <a:ea typeface="Lexend Medium"/>
              <a:cs typeface="Lexend Medium"/>
              <a:sym typeface="Lexend Medium"/>
            </a:endParaRPr>
          </a:p>
        </p:txBody>
      </p:sp>
      <p:cxnSp>
        <p:nvCxnSpPr>
          <p:cNvPr id="369" name="Google Shape;369;p31"/>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370" name="Google Shape;370;p31"/>
          <p:cNvPicPr preferRelativeResize="0"/>
          <p:nvPr/>
        </p:nvPicPr>
        <p:blipFill rotWithShape="1">
          <a:blip r:embed="rId3">
            <a:alphaModFix/>
          </a:blip>
          <a:srcRect b="0" l="0" r="0" t="0"/>
          <a:stretch/>
        </p:blipFill>
        <p:spPr>
          <a:xfrm>
            <a:off x="8266150" y="91401"/>
            <a:ext cx="703375" cy="351675"/>
          </a:xfrm>
          <a:prstGeom prst="rect">
            <a:avLst/>
          </a:prstGeom>
          <a:noFill/>
          <a:ln>
            <a:noFill/>
          </a:ln>
        </p:spPr>
      </p:pic>
      <p:cxnSp>
        <p:nvCxnSpPr>
          <p:cNvPr id="371" name="Google Shape;371;p31"/>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372" name="Google Shape;372;p31"/>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graphicFrame>
        <p:nvGraphicFramePr>
          <p:cNvPr id="373" name="Google Shape;373;p31"/>
          <p:cNvGraphicFramePr/>
          <p:nvPr/>
        </p:nvGraphicFramePr>
        <p:xfrm>
          <a:off x="4806875" y="2098725"/>
          <a:ext cx="3000000" cy="3000000"/>
        </p:xfrm>
        <a:graphic>
          <a:graphicData uri="http://schemas.openxmlformats.org/drawingml/2006/table">
            <a:tbl>
              <a:tblPr>
                <a:noFill/>
                <a:tableStyleId>{C5D82071-8FC1-4E9F-818D-5FCD9D01816F}</a:tableStyleId>
              </a:tblPr>
              <a:tblGrid>
                <a:gridCol w="1041825"/>
                <a:gridCol w="1041825"/>
                <a:gridCol w="1041825"/>
                <a:gridCol w="1041825"/>
              </a:tblGrid>
              <a:tr h="367875">
                <a:tc>
                  <a:txBody>
                    <a:bodyPr/>
                    <a:lstStyle/>
                    <a:p>
                      <a:pPr indent="0" lvl="0" marL="0" marR="0" rtl="0" algn="ctr">
                        <a:lnSpc>
                          <a:spcPct val="100000"/>
                        </a:lnSpc>
                        <a:spcBef>
                          <a:spcPts val="0"/>
                        </a:spcBef>
                        <a:spcAft>
                          <a:spcPts val="0"/>
                        </a:spcAft>
                        <a:buClr>
                          <a:srgbClr val="000000"/>
                        </a:buClr>
                        <a:buSzPts val="1600"/>
                        <a:buFont typeface="Arial"/>
                        <a:buNone/>
                      </a:pPr>
                      <a:r>
                        <a:t/>
                      </a:r>
                      <a:endParaRPr sz="1300" u="none" cap="none" strike="noStrike">
                        <a:latin typeface="Lexend"/>
                        <a:ea typeface="Lexend"/>
                        <a:cs typeface="Lexend"/>
                        <a:sym typeface="Lexend"/>
                      </a:endParaRPr>
                    </a:p>
                  </a:txBody>
                  <a:tcPr marT="91425" marB="91425" marR="91425" marL="91425">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300" u="none" cap="none" strike="noStrike">
                          <a:latin typeface="Lexend"/>
                          <a:ea typeface="Lexend"/>
                          <a:cs typeface="Lexend"/>
                          <a:sym typeface="Lexend"/>
                        </a:rPr>
                        <a:t>IoU&gt;𝒕</a:t>
                      </a:r>
                      <a:endParaRPr sz="1300" u="none" cap="none" strike="noStrike">
                        <a:latin typeface="Lexend"/>
                        <a:ea typeface="Lexend"/>
                        <a:cs typeface="Lexend"/>
                        <a:sym typeface="Lexend"/>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300" u="none" cap="none" strike="noStrike">
                          <a:latin typeface="Lexend"/>
                          <a:ea typeface="Lexend"/>
                          <a:cs typeface="Lexend"/>
                          <a:sym typeface="Lexend"/>
                        </a:rPr>
                        <a:t>IoA=1</a:t>
                      </a:r>
                      <a:endParaRPr sz="1300" u="none" cap="none" strike="noStrike">
                        <a:latin typeface="Lexend"/>
                        <a:ea typeface="Lexend"/>
                        <a:cs typeface="Lexend"/>
                        <a:sym typeface="Lexend"/>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300" u="none" cap="none" strike="noStrike">
                          <a:latin typeface="Lexend"/>
                          <a:ea typeface="Lexend"/>
                          <a:cs typeface="Lexend"/>
                          <a:sym typeface="Lexend"/>
                        </a:rPr>
                        <a:t>Robust ? </a:t>
                      </a:r>
                      <a:endParaRPr sz="1300" u="none" cap="none" strike="noStrike">
                        <a:latin typeface="Lexend"/>
                        <a:ea typeface="Lexend"/>
                        <a:cs typeface="Lexend"/>
                        <a:sym typeface="Lexend"/>
                      </a:endParaRPr>
                    </a:p>
                  </a:txBody>
                  <a:tcPr marT="91425" marB="91425" marR="91425" marL="91425"/>
                </a:tc>
              </a:tr>
              <a:tr h="367875">
                <a:tc>
                  <a:txBody>
                    <a:bodyPr/>
                    <a:lstStyle/>
                    <a:p>
                      <a:pPr indent="0" lvl="0" marL="0" marR="0" rtl="0" algn="ctr">
                        <a:lnSpc>
                          <a:spcPct val="100000"/>
                        </a:lnSpc>
                        <a:spcBef>
                          <a:spcPts val="0"/>
                        </a:spcBef>
                        <a:spcAft>
                          <a:spcPts val="0"/>
                        </a:spcAft>
                        <a:buClr>
                          <a:srgbClr val="000000"/>
                        </a:buClr>
                        <a:buSzPts val="1600"/>
                        <a:buFont typeface="Arial"/>
                        <a:buNone/>
                      </a:pPr>
                      <a:r>
                        <a:rPr lang="en" sz="1300" u="none" cap="none" strike="noStrike">
                          <a:latin typeface="Lexend"/>
                          <a:ea typeface="Lexend"/>
                          <a:cs typeface="Lexend"/>
                          <a:sym typeface="Lexend"/>
                        </a:rPr>
                        <a:t>YOLO</a:t>
                      </a:r>
                      <a:endParaRPr sz="1300" u="none" cap="none" strike="noStrike">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300" u="none" cap="none" strike="noStrike">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300" u="none" cap="none" strike="noStrike">
                        <a:latin typeface="Lexend"/>
                        <a:ea typeface="Lexend"/>
                        <a:cs typeface="Lexend"/>
                        <a:sym typeface="Lexend"/>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300" u="none" cap="none" strike="noStrike">
                        <a:latin typeface="Lexend"/>
                        <a:ea typeface="Lexend"/>
                        <a:cs typeface="Lexend"/>
                        <a:sym typeface="Lexend"/>
                      </a:endParaRPr>
                    </a:p>
                  </a:txBody>
                  <a:tcPr marT="91425" marB="91425" marR="91425" marL="91425"/>
                </a:tc>
              </a:tr>
              <a:tr h="422950">
                <a:tc>
                  <a:txBody>
                    <a:bodyPr/>
                    <a:lstStyle/>
                    <a:p>
                      <a:pPr indent="0" lvl="0" marL="0" marR="0" rtl="0" algn="ctr">
                        <a:lnSpc>
                          <a:spcPct val="100000"/>
                        </a:lnSpc>
                        <a:spcBef>
                          <a:spcPts val="0"/>
                        </a:spcBef>
                        <a:spcAft>
                          <a:spcPts val="0"/>
                        </a:spcAft>
                        <a:buClr>
                          <a:srgbClr val="000000"/>
                        </a:buClr>
                        <a:buSzPts val="1600"/>
                        <a:buFont typeface="Arial"/>
                        <a:buNone/>
                      </a:pPr>
                      <a:r>
                        <a:rPr lang="en" sz="1300" u="none" cap="none" strike="noStrike">
                          <a:latin typeface="Lexend"/>
                          <a:ea typeface="Lexend"/>
                          <a:cs typeface="Lexend"/>
                          <a:sym typeface="Lexend"/>
                        </a:rPr>
                        <a:t>C-YOLO</a:t>
                      </a:r>
                      <a:endParaRPr sz="1300" u="none" cap="none" strike="noStrike">
                        <a:latin typeface="Lexend"/>
                        <a:ea typeface="Lexend"/>
                        <a:cs typeface="Lexend"/>
                        <a:sym typeface="Lexend"/>
                      </a:endParaRPr>
                    </a:p>
                  </a:txBody>
                  <a:tcPr marT="91425" marB="91425" marR="91425" marL="91425">
                    <a:lnT cap="flat" cmpd="sng" w="9525">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2200"/>
                        <a:buFont typeface="Arial"/>
                        <a:buNone/>
                      </a:pPr>
                      <a:r>
                        <a:rPr lang="en" sz="1900" u="none" cap="none" strike="noStrike">
                          <a:latin typeface="Lexend"/>
                          <a:ea typeface="Lexend"/>
                          <a:cs typeface="Lexend"/>
                          <a:sym typeface="Lexend"/>
                        </a:rPr>
                        <a:t>?</a:t>
                      </a:r>
                      <a:endParaRPr sz="1900" u="none" cap="none" strike="noStrike">
                        <a:latin typeface="Lexend"/>
                        <a:ea typeface="Lexend"/>
                        <a:cs typeface="Lexend"/>
                        <a:sym typeface="Lexend"/>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300" u="none" cap="none" strike="noStrike">
                        <a:latin typeface="Lexend"/>
                        <a:ea typeface="Lexend"/>
                        <a:cs typeface="Lexend"/>
                        <a:sym typeface="Lexend"/>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200"/>
                        <a:buFont typeface="Arial"/>
                        <a:buNone/>
                      </a:pPr>
                      <a:r>
                        <a:rPr lang="en" sz="1900" u="none" cap="none" strike="noStrike">
                          <a:latin typeface="Lexend"/>
                          <a:ea typeface="Lexend"/>
                          <a:cs typeface="Lexend"/>
                          <a:sym typeface="Lexend"/>
                        </a:rPr>
                        <a:t>?</a:t>
                      </a:r>
                      <a:endParaRPr sz="1900" u="none" cap="none" strike="noStrike">
                        <a:latin typeface="Lexend"/>
                        <a:ea typeface="Lexend"/>
                        <a:cs typeface="Lexend"/>
                        <a:sym typeface="Lexend"/>
                      </a:endParaRPr>
                    </a:p>
                  </a:txBody>
                  <a:tcPr marT="91425" marB="91425" marR="91425" marL="91425"/>
                </a:tc>
              </a:tr>
            </a:tbl>
          </a:graphicData>
        </a:graphic>
      </p:graphicFrame>
      <p:pic>
        <p:nvPicPr>
          <p:cNvPr descr="a penguin is holding a caution sign in its paws (Provided by Tenor)" id="374" name="Google Shape;374;p31"/>
          <p:cNvPicPr preferRelativeResize="0"/>
          <p:nvPr/>
        </p:nvPicPr>
        <p:blipFill rotWithShape="1">
          <a:blip r:embed="rId4">
            <a:alphaModFix/>
          </a:blip>
          <a:srcRect b="0" l="0" r="0" t="0"/>
          <a:stretch/>
        </p:blipFill>
        <p:spPr>
          <a:xfrm>
            <a:off x="8290650" y="1243023"/>
            <a:ext cx="835500" cy="835500"/>
          </a:xfrm>
          <a:prstGeom prst="rect">
            <a:avLst/>
          </a:prstGeom>
          <a:noFill/>
          <a:ln>
            <a:noFill/>
          </a:ln>
        </p:spPr>
      </p:pic>
      <p:grpSp>
        <p:nvGrpSpPr>
          <p:cNvPr id="375" name="Google Shape;375;p31"/>
          <p:cNvGrpSpPr/>
          <p:nvPr/>
        </p:nvGrpSpPr>
        <p:grpSpPr>
          <a:xfrm>
            <a:off x="8330495" y="2576439"/>
            <a:ext cx="215972" cy="204001"/>
            <a:chOff x="8394575" y="2336363"/>
            <a:chExt cx="259800" cy="245400"/>
          </a:xfrm>
        </p:grpSpPr>
        <p:cxnSp>
          <p:nvCxnSpPr>
            <p:cNvPr id="376" name="Google Shape;376;p31"/>
            <p:cNvCxnSpPr/>
            <p:nvPr/>
          </p:nvCxnSpPr>
          <p:spPr>
            <a:xfrm flipH="1" rot="10800000">
              <a:off x="8398175" y="2336363"/>
              <a:ext cx="234600" cy="245400"/>
            </a:xfrm>
            <a:prstGeom prst="straightConnector1">
              <a:avLst/>
            </a:prstGeom>
            <a:noFill/>
            <a:ln cap="flat" cmpd="sng" w="23750">
              <a:solidFill>
                <a:srgbClr val="C00000"/>
              </a:solidFill>
              <a:prstDash val="solid"/>
              <a:round/>
              <a:headEnd len="sm" w="sm" type="none"/>
              <a:tailEnd len="sm" w="sm" type="none"/>
            </a:ln>
          </p:spPr>
        </p:cxnSp>
        <p:cxnSp>
          <p:nvCxnSpPr>
            <p:cNvPr id="377" name="Google Shape;377;p31"/>
            <p:cNvCxnSpPr/>
            <p:nvPr/>
          </p:nvCxnSpPr>
          <p:spPr>
            <a:xfrm>
              <a:off x="8394575" y="2340038"/>
              <a:ext cx="259800" cy="238200"/>
            </a:xfrm>
            <a:prstGeom prst="straightConnector1">
              <a:avLst/>
            </a:prstGeom>
            <a:noFill/>
            <a:ln cap="flat" cmpd="sng" w="23750">
              <a:solidFill>
                <a:srgbClr val="C00000"/>
              </a:solidFill>
              <a:prstDash val="solid"/>
              <a:round/>
              <a:headEnd len="sm" w="sm" type="none"/>
              <a:tailEnd len="sm" w="sm" type="none"/>
            </a:ln>
          </p:spPr>
        </p:cxnSp>
      </p:grpSp>
      <p:grpSp>
        <p:nvGrpSpPr>
          <p:cNvPr id="378" name="Google Shape;378;p31"/>
          <p:cNvGrpSpPr/>
          <p:nvPr/>
        </p:nvGrpSpPr>
        <p:grpSpPr>
          <a:xfrm>
            <a:off x="7277946" y="3020678"/>
            <a:ext cx="267132" cy="203990"/>
            <a:chOff x="4063025" y="3297550"/>
            <a:chExt cx="309575" cy="236400"/>
          </a:xfrm>
        </p:grpSpPr>
        <p:cxnSp>
          <p:nvCxnSpPr>
            <p:cNvPr id="379" name="Google Shape;379;p31"/>
            <p:cNvCxnSpPr/>
            <p:nvPr/>
          </p:nvCxnSpPr>
          <p:spPr>
            <a:xfrm>
              <a:off x="4063025" y="3397150"/>
              <a:ext cx="100800" cy="136800"/>
            </a:xfrm>
            <a:prstGeom prst="straightConnector1">
              <a:avLst/>
            </a:prstGeom>
            <a:noFill/>
            <a:ln cap="flat" cmpd="sng" w="24650">
              <a:solidFill>
                <a:srgbClr val="38761D"/>
              </a:solidFill>
              <a:prstDash val="solid"/>
              <a:round/>
              <a:headEnd len="sm" w="sm" type="none"/>
              <a:tailEnd len="sm" w="sm" type="none"/>
            </a:ln>
          </p:spPr>
        </p:cxnSp>
        <p:cxnSp>
          <p:nvCxnSpPr>
            <p:cNvPr id="380" name="Google Shape;380;p31"/>
            <p:cNvCxnSpPr/>
            <p:nvPr/>
          </p:nvCxnSpPr>
          <p:spPr>
            <a:xfrm flipH="1" rot="10800000">
              <a:off x="4148200" y="3297550"/>
              <a:ext cx="224400" cy="236400"/>
            </a:xfrm>
            <a:prstGeom prst="straightConnector1">
              <a:avLst/>
            </a:prstGeom>
            <a:noFill/>
            <a:ln cap="flat" cmpd="sng" w="24650">
              <a:solidFill>
                <a:srgbClr val="38761D"/>
              </a:solidFill>
              <a:prstDash val="solid"/>
              <a:round/>
              <a:headEnd len="sm" w="sm" type="none"/>
              <a:tailEnd len="sm" w="sm" type="none"/>
            </a:ln>
          </p:spPr>
        </p:cxnSp>
      </p:grpSp>
      <p:grpSp>
        <p:nvGrpSpPr>
          <p:cNvPr id="381" name="Google Shape;381;p31"/>
          <p:cNvGrpSpPr/>
          <p:nvPr/>
        </p:nvGrpSpPr>
        <p:grpSpPr>
          <a:xfrm>
            <a:off x="7302963" y="2575400"/>
            <a:ext cx="215998" cy="204026"/>
            <a:chOff x="6769613" y="2305438"/>
            <a:chExt cx="259800" cy="245400"/>
          </a:xfrm>
        </p:grpSpPr>
        <p:cxnSp>
          <p:nvCxnSpPr>
            <p:cNvPr id="382" name="Google Shape;382;p31"/>
            <p:cNvCxnSpPr/>
            <p:nvPr/>
          </p:nvCxnSpPr>
          <p:spPr>
            <a:xfrm flipH="1" rot="10800000">
              <a:off x="6773213" y="2305438"/>
              <a:ext cx="234600" cy="245400"/>
            </a:xfrm>
            <a:prstGeom prst="straightConnector1">
              <a:avLst/>
            </a:prstGeom>
            <a:noFill/>
            <a:ln cap="flat" cmpd="sng" w="23750">
              <a:solidFill>
                <a:srgbClr val="C00000"/>
              </a:solidFill>
              <a:prstDash val="solid"/>
              <a:round/>
              <a:headEnd len="sm" w="sm" type="none"/>
              <a:tailEnd len="sm" w="sm" type="none"/>
            </a:ln>
          </p:spPr>
        </p:cxnSp>
        <p:cxnSp>
          <p:nvCxnSpPr>
            <p:cNvPr id="383" name="Google Shape;383;p31"/>
            <p:cNvCxnSpPr/>
            <p:nvPr/>
          </p:nvCxnSpPr>
          <p:spPr>
            <a:xfrm>
              <a:off x="6769613" y="2309113"/>
              <a:ext cx="259800" cy="238200"/>
            </a:xfrm>
            <a:prstGeom prst="straightConnector1">
              <a:avLst/>
            </a:prstGeom>
            <a:noFill/>
            <a:ln cap="flat" cmpd="sng" w="23750">
              <a:solidFill>
                <a:srgbClr val="C00000"/>
              </a:solidFill>
              <a:prstDash val="solid"/>
              <a:round/>
              <a:headEnd len="sm" w="sm" type="none"/>
              <a:tailEnd len="sm" w="sm" type="none"/>
            </a:ln>
          </p:spPr>
        </p:cxnSp>
      </p:grpSp>
      <p:sp>
        <p:nvSpPr>
          <p:cNvPr id="384" name="Google Shape;384;p31"/>
          <p:cNvSpPr txBox="1"/>
          <p:nvPr/>
        </p:nvSpPr>
        <p:spPr>
          <a:xfrm>
            <a:off x="538250" y="4909200"/>
            <a:ext cx="4946400" cy="1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lang="en" sz="800">
                <a:latin typeface="Lexend ExtraLight"/>
                <a:ea typeface="Lexend ExtraLight"/>
                <a:cs typeface="Lexend ExtraLight"/>
                <a:sym typeface="Lexend ExtraLight"/>
              </a:rPr>
              <a:t>Zouzou et al, COPA 2025</a:t>
            </a:r>
            <a:endParaRPr sz="800">
              <a:latin typeface="Lexend ExtraLight"/>
              <a:ea typeface="Lexend ExtraLight"/>
              <a:cs typeface="Lexend ExtraLight"/>
              <a:sym typeface="Lexend ExtraLight"/>
            </a:endParaRPr>
          </a:p>
        </p:txBody>
      </p:sp>
      <p:sp>
        <p:nvSpPr>
          <p:cNvPr id="385" name="Google Shape;385;p31"/>
          <p:cNvSpPr txBox="1"/>
          <p:nvPr/>
        </p:nvSpPr>
        <p:spPr>
          <a:xfrm>
            <a:off x="5033950" y="3679025"/>
            <a:ext cx="3876600" cy="58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Lexend"/>
                <a:ea typeface="Lexend"/>
                <a:cs typeface="Lexend"/>
                <a:sym typeface="Lexend"/>
              </a:rPr>
              <a:t>⇒ we want to evaluate the CP in term of how much the </a:t>
            </a:r>
            <a:r>
              <a:rPr b="1" lang="en" sz="1100">
                <a:solidFill>
                  <a:srgbClr val="C00000"/>
                </a:solidFill>
                <a:latin typeface="Lexend"/>
                <a:ea typeface="Lexend"/>
                <a:cs typeface="Lexend"/>
                <a:sym typeface="Lexend"/>
              </a:rPr>
              <a:t>IoA = 1</a:t>
            </a:r>
            <a:r>
              <a:rPr lang="en" sz="1100">
                <a:solidFill>
                  <a:schemeClr val="dk1"/>
                </a:solidFill>
                <a:latin typeface="Lexend"/>
                <a:ea typeface="Lexend"/>
                <a:cs typeface="Lexend"/>
                <a:sym typeface="Lexend"/>
              </a:rPr>
              <a:t> guarantee degrades the </a:t>
            </a:r>
            <a:r>
              <a:rPr b="1" lang="en" sz="1100">
                <a:solidFill>
                  <a:srgbClr val="C00000"/>
                </a:solidFill>
                <a:latin typeface="Lexend"/>
                <a:ea typeface="Lexend"/>
                <a:cs typeface="Lexend"/>
                <a:sym typeface="Lexend"/>
              </a:rPr>
              <a:t>IoU &gt; </a:t>
            </a:r>
            <a:r>
              <a:rPr b="1" i="1" lang="en" sz="1100">
                <a:solidFill>
                  <a:srgbClr val="C00000"/>
                </a:solidFill>
                <a:latin typeface="Lexend"/>
                <a:ea typeface="Lexend"/>
                <a:cs typeface="Lexend"/>
                <a:sym typeface="Lexend"/>
              </a:rPr>
              <a:t>t</a:t>
            </a:r>
            <a:r>
              <a:rPr b="1" lang="en" sz="1100">
                <a:solidFill>
                  <a:srgbClr val="C00000"/>
                </a:solidFill>
                <a:latin typeface="Lexend"/>
                <a:ea typeface="Lexend"/>
                <a:cs typeface="Lexend"/>
                <a:sym typeface="Lexend"/>
              </a:rPr>
              <a:t> </a:t>
            </a:r>
            <a:r>
              <a:rPr lang="en" sz="1100">
                <a:solidFill>
                  <a:schemeClr val="dk1"/>
                </a:solidFill>
                <a:latin typeface="Lexend"/>
                <a:ea typeface="Lexend"/>
                <a:cs typeface="Lexend"/>
                <a:sym typeface="Lexend"/>
              </a:rPr>
              <a:t>guarantee.  </a:t>
            </a:r>
            <a:endParaRPr sz="1600">
              <a:solidFill>
                <a:schemeClr val="dk2"/>
              </a:solidFill>
            </a:endParaRPr>
          </a:p>
        </p:txBody>
      </p:sp>
      <p:sp>
        <p:nvSpPr>
          <p:cNvPr id="386" name="Google Shape;386;p31"/>
          <p:cNvSpPr txBox="1"/>
          <p:nvPr/>
        </p:nvSpPr>
        <p:spPr>
          <a:xfrm>
            <a:off x="4895850" y="891250"/>
            <a:ext cx="3855000" cy="67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100" u="none" cap="none" strike="noStrike">
                <a:solidFill>
                  <a:schemeClr val="dk1"/>
                </a:solidFill>
                <a:latin typeface="Lexend"/>
                <a:ea typeface="Lexend"/>
                <a:cs typeface="Lexend"/>
                <a:sym typeface="Lexend"/>
              </a:rPr>
              <a:t>Our </a:t>
            </a:r>
            <a:r>
              <a:rPr b="1" i="0" lang="en" sz="1100" u="none" cap="none" strike="noStrike">
                <a:solidFill>
                  <a:schemeClr val="dk1"/>
                </a:solidFill>
                <a:latin typeface="Lexend"/>
                <a:ea typeface="Lexend"/>
                <a:cs typeface="Lexend"/>
                <a:sym typeface="Lexend"/>
              </a:rPr>
              <a:t>conformal predictor (CP)</a:t>
            </a:r>
            <a:r>
              <a:rPr b="0" i="0" lang="en" sz="1100" u="none" cap="none" strike="noStrike">
                <a:solidFill>
                  <a:schemeClr val="dk1"/>
                </a:solidFill>
                <a:latin typeface="Lexend"/>
                <a:ea typeface="Lexend"/>
                <a:cs typeface="Lexend"/>
                <a:sym typeface="Lexend"/>
              </a:rPr>
              <a:t> only ensures one part of what we call a “Robust Detection” when the </a:t>
            </a:r>
            <a:r>
              <a:rPr b="1" i="0" lang="en" sz="1100" u="none" cap="none" strike="noStrike">
                <a:solidFill>
                  <a:schemeClr val="dk1"/>
                </a:solidFill>
                <a:latin typeface="Lexend"/>
                <a:ea typeface="Lexend"/>
                <a:cs typeface="Lexend"/>
                <a:sym typeface="Lexend"/>
              </a:rPr>
              <a:t>base predictor</a:t>
            </a:r>
            <a:r>
              <a:rPr b="0" i="0" lang="en" sz="1100" u="none" cap="none" strike="noStrike">
                <a:solidFill>
                  <a:schemeClr val="dk1"/>
                </a:solidFill>
                <a:latin typeface="Lexend"/>
                <a:ea typeface="Lexend"/>
                <a:cs typeface="Lexend"/>
                <a:sym typeface="Lexend"/>
              </a:rPr>
              <a:t> ensure the other.</a:t>
            </a:r>
            <a:endParaRPr b="0" i="0" sz="11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300"/>
              <a:buFont typeface="Arial"/>
              <a:buNone/>
            </a:pPr>
            <a:r>
              <a:t/>
            </a:r>
            <a:endParaRPr b="0" i="0" sz="1100" u="none" cap="none" strike="noStrike">
              <a:solidFill>
                <a:schemeClr val="dk1"/>
              </a:solidFill>
              <a:latin typeface="Lexend"/>
              <a:ea typeface="Lexend"/>
              <a:cs typeface="Lexend"/>
              <a:sym typeface="Lexend"/>
            </a:endParaRPr>
          </a:p>
        </p:txBody>
      </p:sp>
      <p:grpSp>
        <p:nvGrpSpPr>
          <p:cNvPr id="387" name="Google Shape;387;p31"/>
          <p:cNvGrpSpPr/>
          <p:nvPr/>
        </p:nvGrpSpPr>
        <p:grpSpPr>
          <a:xfrm>
            <a:off x="6287346" y="2563478"/>
            <a:ext cx="267132" cy="203990"/>
            <a:chOff x="4063025" y="3297550"/>
            <a:chExt cx="309575" cy="236400"/>
          </a:xfrm>
        </p:grpSpPr>
        <p:cxnSp>
          <p:nvCxnSpPr>
            <p:cNvPr id="388" name="Google Shape;388;p31"/>
            <p:cNvCxnSpPr/>
            <p:nvPr/>
          </p:nvCxnSpPr>
          <p:spPr>
            <a:xfrm>
              <a:off x="4063025" y="3397150"/>
              <a:ext cx="100800" cy="136800"/>
            </a:xfrm>
            <a:prstGeom prst="straightConnector1">
              <a:avLst/>
            </a:prstGeom>
            <a:noFill/>
            <a:ln cap="flat" cmpd="sng" w="24650">
              <a:solidFill>
                <a:srgbClr val="38761D"/>
              </a:solidFill>
              <a:prstDash val="solid"/>
              <a:round/>
              <a:headEnd len="sm" w="sm" type="none"/>
              <a:tailEnd len="sm" w="sm" type="none"/>
            </a:ln>
          </p:spPr>
        </p:cxnSp>
        <p:cxnSp>
          <p:nvCxnSpPr>
            <p:cNvPr id="389" name="Google Shape;389;p31"/>
            <p:cNvCxnSpPr/>
            <p:nvPr/>
          </p:nvCxnSpPr>
          <p:spPr>
            <a:xfrm flipH="1" rot="10800000">
              <a:off x="4148200" y="3297550"/>
              <a:ext cx="224400" cy="236400"/>
            </a:xfrm>
            <a:prstGeom prst="straightConnector1">
              <a:avLst/>
            </a:prstGeom>
            <a:noFill/>
            <a:ln cap="flat" cmpd="sng" w="24650">
              <a:solidFill>
                <a:srgbClr val="38761D"/>
              </a:solidFill>
              <a:prstDash val="solid"/>
              <a:round/>
              <a:headEnd len="sm" w="sm" type="none"/>
              <a:tailEnd len="sm" w="sm" type="none"/>
            </a:ln>
          </p:spPr>
        </p:cxnSp>
      </p:grpSp>
      <p:grpSp>
        <p:nvGrpSpPr>
          <p:cNvPr id="390" name="Google Shape;390;p31"/>
          <p:cNvGrpSpPr/>
          <p:nvPr/>
        </p:nvGrpSpPr>
        <p:grpSpPr>
          <a:xfrm>
            <a:off x="1872229" y="929833"/>
            <a:ext cx="1664649" cy="1706207"/>
            <a:chOff x="2378627" y="619887"/>
            <a:chExt cx="1563931" cy="1610237"/>
          </a:xfrm>
        </p:grpSpPr>
        <p:pic>
          <p:nvPicPr>
            <p:cNvPr id="391" name="Google Shape;391;p31"/>
            <p:cNvPicPr preferRelativeResize="0"/>
            <p:nvPr/>
          </p:nvPicPr>
          <p:blipFill rotWithShape="1">
            <a:blip r:embed="rId5">
              <a:alphaModFix/>
            </a:blip>
            <a:srcRect b="0" l="0" r="0" t="25506"/>
            <a:stretch/>
          </p:blipFill>
          <p:spPr>
            <a:xfrm>
              <a:off x="2378627" y="619887"/>
              <a:ext cx="1563931" cy="1610237"/>
            </a:xfrm>
            <a:prstGeom prst="rect">
              <a:avLst/>
            </a:prstGeom>
            <a:noFill/>
            <a:ln>
              <a:noFill/>
            </a:ln>
          </p:spPr>
        </p:pic>
        <p:sp>
          <p:nvSpPr>
            <p:cNvPr id="392" name="Google Shape;392;p31"/>
            <p:cNvSpPr/>
            <p:nvPr/>
          </p:nvSpPr>
          <p:spPr>
            <a:xfrm>
              <a:off x="2698723" y="887996"/>
              <a:ext cx="923700" cy="788700"/>
            </a:xfrm>
            <a:prstGeom prst="rect">
              <a:avLst/>
            </a:prstGeom>
            <a:noFill/>
            <a:ln cap="flat" cmpd="sng" w="16475">
              <a:solidFill>
                <a:srgbClr val="C00000"/>
              </a:solidFill>
              <a:prstDash val="solid"/>
              <a:round/>
              <a:headEnd len="sm" w="sm" type="none"/>
              <a:tailEnd len="sm" w="sm" type="none"/>
            </a:ln>
            <a:effectLst>
              <a:outerShdw blurRad="49368" rotWithShape="0" algn="bl" dir="5400000" dist="16456">
                <a:srgbClr val="000000">
                  <a:alpha val="49410"/>
                </a:srgbClr>
              </a:outerShdw>
            </a:effectLst>
          </p:spPr>
          <p:txBody>
            <a:bodyPr anchorCtr="0" anchor="ctr" bIns="78975" lIns="78975" spcFirstLastPara="1" rIns="78975" wrap="square" tIns="78975">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393" name="Google Shape;393;p31"/>
            <p:cNvSpPr/>
            <p:nvPr/>
          </p:nvSpPr>
          <p:spPr>
            <a:xfrm>
              <a:off x="2427750" y="672325"/>
              <a:ext cx="1416600" cy="1438200"/>
            </a:xfrm>
            <a:prstGeom prst="rect">
              <a:avLst/>
            </a:prstGeom>
            <a:noFill/>
            <a:ln cap="flat" cmpd="sng" w="24675">
              <a:solidFill>
                <a:srgbClr val="FE8F00"/>
              </a:solidFill>
              <a:prstDash val="solid"/>
              <a:round/>
              <a:headEnd len="sm" w="sm" type="none"/>
              <a:tailEnd len="sm" w="sm" type="none"/>
            </a:ln>
            <a:effectLst>
              <a:outerShdw blurRad="49368" rotWithShape="0" algn="bl" dir="5400000" dist="16456">
                <a:srgbClr val="000000">
                  <a:alpha val="49410"/>
                </a:srgbClr>
              </a:outerShdw>
            </a:effectLst>
          </p:spPr>
          <p:txBody>
            <a:bodyPr anchorCtr="0" anchor="ctr" bIns="78975" lIns="78975" spcFirstLastPara="1" rIns="78975" wrap="square" tIns="78975">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grpSp>
      <p:pic>
        <p:nvPicPr>
          <p:cNvPr id="394" name="Google Shape;394;p31"/>
          <p:cNvPicPr preferRelativeResize="0"/>
          <p:nvPr/>
        </p:nvPicPr>
        <p:blipFill rotWithShape="1">
          <a:blip r:embed="rId5">
            <a:alphaModFix/>
          </a:blip>
          <a:srcRect b="0" l="0" r="0" t="25506"/>
          <a:stretch/>
        </p:blipFill>
        <p:spPr>
          <a:xfrm>
            <a:off x="1873157" y="2843782"/>
            <a:ext cx="1664733" cy="1706148"/>
          </a:xfrm>
          <a:prstGeom prst="rect">
            <a:avLst/>
          </a:prstGeom>
          <a:noFill/>
          <a:ln>
            <a:noFill/>
          </a:ln>
        </p:spPr>
      </p:pic>
      <p:sp>
        <p:nvSpPr>
          <p:cNvPr id="395" name="Google Shape;395;p31"/>
          <p:cNvSpPr/>
          <p:nvPr/>
        </p:nvSpPr>
        <p:spPr>
          <a:xfrm>
            <a:off x="2213884" y="3127860"/>
            <a:ext cx="982800" cy="835500"/>
          </a:xfrm>
          <a:prstGeom prst="rect">
            <a:avLst/>
          </a:prstGeom>
          <a:noFill/>
          <a:ln cap="flat" cmpd="sng" w="16475">
            <a:solidFill>
              <a:srgbClr val="C00000"/>
            </a:solidFill>
            <a:prstDash val="solid"/>
            <a:round/>
            <a:headEnd len="sm" w="sm" type="none"/>
            <a:tailEnd len="sm" w="sm" type="none"/>
          </a:ln>
          <a:effectLst>
            <a:outerShdw blurRad="49368" rotWithShape="0" algn="bl" dir="5400000" dist="16456">
              <a:srgbClr val="000000">
                <a:alpha val="49410"/>
              </a:srgbClr>
            </a:outerShdw>
          </a:effectLst>
        </p:spPr>
        <p:txBody>
          <a:bodyPr anchorCtr="0" anchor="ctr" bIns="78975" lIns="78975" spcFirstLastPara="1" rIns="78975" wrap="square" tIns="78975">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396" name="Google Shape;396;p31"/>
          <p:cNvSpPr/>
          <p:nvPr/>
        </p:nvSpPr>
        <p:spPr>
          <a:xfrm>
            <a:off x="2131418" y="3072290"/>
            <a:ext cx="1131000" cy="970200"/>
          </a:xfrm>
          <a:prstGeom prst="rect">
            <a:avLst/>
          </a:prstGeom>
          <a:noFill/>
          <a:ln cap="flat" cmpd="sng" w="24675">
            <a:solidFill>
              <a:srgbClr val="FE8F00"/>
            </a:solidFill>
            <a:prstDash val="solid"/>
            <a:round/>
            <a:headEnd len="sm" w="sm" type="none"/>
            <a:tailEnd len="sm" w="sm" type="none"/>
          </a:ln>
          <a:effectLst>
            <a:outerShdw blurRad="49368" rotWithShape="0" algn="bl" dir="5400000" dist="16456">
              <a:srgbClr val="000000">
                <a:alpha val="49410"/>
              </a:srgbClr>
            </a:outerShdw>
          </a:effectLst>
        </p:spPr>
        <p:txBody>
          <a:bodyPr anchorCtr="0" anchor="ctr" bIns="78975" lIns="78975" spcFirstLastPara="1" rIns="78975" wrap="square" tIns="78975">
            <a:noAutofit/>
          </a:bodyPr>
          <a:lstStyle/>
          <a:p>
            <a:pPr indent="0" lvl="0" marL="0" marR="0" rtl="0" algn="ctr">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397" name="Google Shape;397;p31"/>
          <p:cNvSpPr txBox="1"/>
          <p:nvPr/>
        </p:nvSpPr>
        <p:spPr>
          <a:xfrm>
            <a:off x="3579151" y="1390817"/>
            <a:ext cx="736500" cy="495000"/>
          </a:xfrm>
          <a:prstGeom prst="rect">
            <a:avLst/>
          </a:prstGeom>
          <a:noFill/>
          <a:ln>
            <a:noFill/>
          </a:ln>
        </p:spPr>
        <p:txBody>
          <a:bodyPr anchorCtr="0" anchor="t" bIns="57400" lIns="57400" spcFirstLastPara="1" rIns="57400" wrap="square" tIns="57400">
            <a:noAutofit/>
          </a:bodyPr>
          <a:lstStyle/>
          <a:p>
            <a:pPr indent="0" lvl="0" marL="0" marR="0" rtl="0" algn="ctr">
              <a:lnSpc>
                <a:spcPct val="100000"/>
              </a:lnSpc>
              <a:spcBef>
                <a:spcPts val="0"/>
              </a:spcBef>
              <a:spcAft>
                <a:spcPts val="0"/>
              </a:spcAft>
              <a:buClr>
                <a:srgbClr val="000000"/>
              </a:buClr>
              <a:buSzPts val="879"/>
              <a:buFont typeface="Arial"/>
              <a:buNone/>
            </a:pPr>
            <a:r>
              <a:rPr b="0" i="0" lang="en" sz="941" u="none" cap="none" strike="noStrike">
                <a:solidFill>
                  <a:schemeClr val="dk1"/>
                </a:solidFill>
                <a:latin typeface="Lexend"/>
                <a:ea typeface="Lexend"/>
                <a:cs typeface="Lexend"/>
                <a:sym typeface="Lexend"/>
              </a:rPr>
              <a:t>IoA = 1 </a:t>
            </a:r>
            <a:endParaRPr b="0" i="0" sz="941"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879"/>
              <a:buFont typeface="Arial"/>
              <a:buNone/>
            </a:pPr>
            <a:r>
              <a:rPr b="0" i="0" lang="en" sz="941" u="none" cap="none" strike="noStrike">
                <a:solidFill>
                  <a:schemeClr val="dk1"/>
                </a:solidFill>
                <a:latin typeface="Lexend"/>
                <a:ea typeface="Lexend"/>
                <a:cs typeface="Lexend"/>
                <a:sym typeface="Lexend"/>
              </a:rPr>
              <a:t>&amp;</a:t>
            </a:r>
            <a:endParaRPr b="0" i="0" sz="941"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879"/>
              <a:buFont typeface="Arial"/>
              <a:buNone/>
            </a:pPr>
            <a:r>
              <a:rPr b="0" i="0" lang="en" sz="941" u="none" cap="none" strike="noStrike">
                <a:solidFill>
                  <a:schemeClr val="dk1"/>
                </a:solidFill>
                <a:latin typeface="Lexend"/>
                <a:ea typeface="Lexend"/>
                <a:cs typeface="Lexend"/>
                <a:sym typeface="Lexend"/>
              </a:rPr>
              <a:t>IoU</a:t>
            </a:r>
            <a:r>
              <a:rPr b="0" i="0" lang="en" sz="941" u="none" cap="none" strike="noStrike">
                <a:solidFill>
                  <a:schemeClr val="dk1"/>
                </a:solidFill>
                <a:latin typeface="Lexend"/>
                <a:ea typeface="Lexend"/>
                <a:cs typeface="Lexend"/>
                <a:sym typeface="Lexend"/>
              </a:rPr>
              <a:t> = </a:t>
            </a:r>
            <a:r>
              <a:rPr b="1" i="0" lang="en" sz="941" u="none" cap="none" strike="noStrike">
                <a:solidFill>
                  <a:srgbClr val="C00000"/>
                </a:solidFill>
                <a:latin typeface="Lexend"/>
                <a:ea typeface="Lexend"/>
                <a:cs typeface="Lexend"/>
                <a:sym typeface="Lexend"/>
              </a:rPr>
              <a:t>0.4</a:t>
            </a:r>
            <a:r>
              <a:rPr b="1" i="0" lang="en" sz="941" u="none" cap="none" strike="noStrike">
                <a:solidFill>
                  <a:schemeClr val="dk1"/>
                </a:solidFill>
                <a:latin typeface="Lexend"/>
                <a:ea typeface="Lexend"/>
                <a:cs typeface="Lexend"/>
                <a:sym typeface="Lexend"/>
              </a:rPr>
              <a:t> </a:t>
            </a:r>
            <a:endParaRPr b="1" i="0" sz="941" u="none" cap="none" strike="noStrike">
              <a:solidFill>
                <a:schemeClr val="dk1"/>
              </a:solidFill>
              <a:latin typeface="Lexend"/>
              <a:ea typeface="Lexend"/>
              <a:cs typeface="Lexend"/>
              <a:sym typeface="Lexend"/>
            </a:endParaRPr>
          </a:p>
        </p:txBody>
      </p:sp>
      <p:pic>
        <p:nvPicPr>
          <p:cNvPr id="398" name="Google Shape;398;p31"/>
          <p:cNvPicPr preferRelativeResize="0"/>
          <p:nvPr/>
        </p:nvPicPr>
        <p:blipFill rotWithShape="1">
          <a:blip r:embed="rId6">
            <a:alphaModFix/>
          </a:blip>
          <a:srcRect b="0" l="0" r="0" t="0"/>
          <a:stretch/>
        </p:blipFill>
        <p:spPr>
          <a:xfrm>
            <a:off x="3805223" y="1981565"/>
            <a:ext cx="379450" cy="379450"/>
          </a:xfrm>
          <a:prstGeom prst="rect">
            <a:avLst/>
          </a:prstGeom>
          <a:noFill/>
          <a:ln>
            <a:noFill/>
          </a:ln>
        </p:spPr>
      </p:pic>
      <p:sp>
        <p:nvSpPr>
          <p:cNvPr id="399" name="Google Shape;399;p31"/>
          <p:cNvSpPr txBox="1"/>
          <p:nvPr/>
        </p:nvSpPr>
        <p:spPr>
          <a:xfrm>
            <a:off x="3599766" y="3212284"/>
            <a:ext cx="773400" cy="519900"/>
          </a:xfrm>
          <a:prstGeom prst="rect">
            <a:avLst/>
          </a:prstGeom>
          <a:noFill/>
          <a:ln>
            <a:noFill/>
          </a:ln>
        </p:spPr>
        <p:txBody>
          <a:bodyPr anchorCtr="0" anchor="t"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rPr b="0" i="0" lang="en" sz="988" u="none" cap="none" strike="noStrike">
                <a:solidFill>
                  <a:schemeClr val="dk1"/>
                </a:solidFill>
                <a:latin typeface="Lexend"/>
                <a:ea typeface="Lexend"/>
                <a:cs typeface="Lexend"/>
                <a:sym typeface="Lexend"/>
              </a:rPr>
              <a:t>IoA = 1 </a:t>
            </a:r>
            <a:endParaRPr b="0" i="0" sz="988"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923"/>
              <a:buFont typeface="Arial"/>
              <a:buNone/>
            </a:pPr>
            <a:r>
              <a:rPr b="0" i="0" lang="en" sz="988" u="none" cap="none" strike="noStrike">
                <a:solidFill>
                  <a:schemeClr val="dk1"/>
                </a:solidFill>
                <a:latin typeface="Lexend"/>
                <a:ea typeface="Lexend"/>
                <a:cs typeface="Lexend"/>
                <a:sym typeface="Lexend"/>
              </a:rPr>
              <a:t>&amp;</a:t>
            </a:r>
            <a:endParaRPr b="0" i="0" sz="988"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923"/>
              <a:buFont typeface="Arial"/>
              <a:buNone/>
            </a:pPr>
            <a:r>
              <a:rPr b="0" i="0" lang="en" sz="988" u="none" cap="none" strike="noStrike">
                <a:solidFill>
                  <a:schemeClr val="dk1"/>
                </a:solidFill>
                <a:latin typeface="Lexend"/>
                <a:ea typeface="Lexend"/>
                <a:cs typeface="Lexend"/>
                <a:sym typeface="Lexend"/>
              </a:rPr>
              <a:t>IoU =</a:t>
            </a:r>
            <a:r>
              <a:rPr b="0" i="0" lang="en" sz="988" u="none" cap="none" strike="noStrike">
                <a:solidFill>
                  <a:srgbClr val="1B8F0B"/>
                </a:solidFill>
                <a:latin typeface="Lexend"/>
                <a:ea typeface="Lexend"/>
                <a:cs typeface="Lexend"/>
                <a:sym typeface="Lexend"/>
              </a:rPr>
              <a:t> </a:t>
            </a:r>
            <a:r>
              <a:rPr b="1" i="0" lang="en" sz="988" u="none" cap="none" strike="noStrike">
                <a:solidFill>
                  <a:srgbClr val="1B8F0B"/>
                </a:solidFill>
                <a:latin typeface="Lexend"/>
                <a:ea typeface="Lexend"/>
                <a:cs typeface="Lexend"/>
                <a:sym typeface="Lexend"/>
              </a:rPr>
              <a:t>0.9</a:t>
            </a:r>
            <a:r>
              <a:rPr b="1" i="0" lang="en" sz="988" u="none" cap="none" strike="noStrike">
                <a:solidFill>
                  <a:schemeClr val="dk1"/>
                </a:solidFill>
                <a:latin typeface="Lexend"/>
                <a:ea typeface="Lexend"/>
                <a:cs typeface="Lexend"/>
                <a:sym typeface="Lexend"/>
              </a:rPr>
              <a:t> </a:t>
            </a:r>
            <a:endParaRPr b="1" i="0" sz="988" u="none" cap="none" strike="noStrike">
              <a:solidFill>
                <a:schemeClr val="dk1"/>
              </a:solidFill>
              <a:latin typeface="Lexend"/>
              <a:ea typeface="Lexend"/>
              <a:cs typeface="Lexend"/>
              <a:sym typeface="Lexend"/>
            </a:endParaRPr>
          </a:p>
        </p:txBody>
      </p:sp>
      <p:grpSp>
        <p:nvGrpSpPr>
          <p:cNvPr id="400" name="Google Shape;400;p31"/>
          <p:cNvGrpSpPr/>
          <p:nvPr/>
        </p:nvGrpSpPr>
        <p:grpSpPr>
          <a:xfrm>
            <a:off x="3709528" y="3811141"/>
            <a:ext cx="553926" cy="525448"/>
            <a:chOff x="4151848" y="2173198"/>
            <a:chExt cx="840300" cy="797100"/>
          </a:xfrm>
        </p:grpSpPr>
        <p:sp>
          <p:nvSpPr>
            <p:cNvPr id="401" name="Google Shape;401;p31"/>
            <p:cNvSpPr/>
            <p:nvPr/>
          </p:nvSpPr>
          <p:spPr>
            <a:xfrm>
              <a:off x="4151848" y="2173198"/>
              <a:ext cx="840300" cy="797100"/>
            </a:xfrm>
            <a:prstGeom prst="star5">
              <a:avLst>
                <a:gd fmla="val 28831" name="adj"/>
                <a:gd fmla="val 105146" name="hf"/>
                <a:gd fmla="val 110557" name="vf"/>
              </a:avLst>
            </a:prstGeom>
            <a:solidFill>
              <a:srgbClr val="FFFFFF"/>
            </a:solidFill>
            <a:ln>
              <a:noFill/>
            </a:ln>
            <a:effectLst>
              <a:outerShdw blurRad="37672" rotWithShape="0" algn="bl" dir="5400000" dist="12557">
                <a:srgbClr val="000000">
                  <a:alpha val="20000"/>
                </a:srgbClr>
              </a:outerShdw>
            </a:effectLst>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402" name="Google Shape;402;p31"/>
            <p:cNvSpPr/>
            <p:nvPr/>
          </p:nvSpPr>
          <p:spPr>
            <a:xfrm>
              <a:off x="4217203" y="2243818"/>
              <a:ext cx="708300" cy="672000"/>
            </a:xfrm>
            <a:prstGeom prst="star5">
              <a:avLst>
                <a:gd fmla="val 28831" name="adj"/>
                <a:gd fmla="val 105146" name="hf"/>
                <a:gd fmla="val 110557" name="vf"/>
              </a:avLst>
            </a:prstGeom>
            <a:solidFill>
              <a:srgbClr val="0F9D58"/>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403" name="Google Shape;403;p31"/>
            <p:cNvSpPr/>
            <p:nvPr/>
          </p:nvSpPr>
          <p:spPr>
            <a:xfrm rot="-900458">
              <a:off x="4517870" y="2530485"/>
              <a:ext cx="188841" cy="202523"/>
            </a:xfrm>
            <a:prstGeom prst="roundRect">
              <a:avLst>
                <a:gd fmla="val 16565"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404" name="Google Shape;404;p31"/>
            <p:cNvSpPr/>
            <p:nvPr/>
          </p:nvSpPr>
          <p:spPr>
            <a:xfrm flipH="1" rot="-3108409">
              <a:off x="4500985" y="2448459"/>
              <a:ext cx="80541" cy="80541"/>
            </a:xfrm>
            <a:prstGeom prst="pie">
              <a:avLst>
                <a:gd fmla="val 5730646" name="adj1"/>
                <a:gd fmla="val 16200000" name="adj2"/>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405" name="Google Shape;405;p31"/>
            <p:cNvSpPr/>
            <p:nvPr/>
          </p:nvSpPr>
          <p:spPr>
            <a:xfrm rot="-899905">
              <a:off x="4487644" y="2458757"/>
              <a:ext cx="97721" cy="103389"/>
            </a:xfrm>
            <a:custGeom>
              <a:rect b="b" l="l" r="r" t="t"/>
              <a:pathLst>
                <a:path extrusionOk="0" h="10724" w="10136">
                  <a:moveTo>
                    <a:pt x="0" y="10724"/>
                  </a:moveTo>
                  <a:lnTo>
                    <a:pt x="3397" y="3691"/>
                  </a:lnTo>
                  <a:lnTo>
                    <a:pt x="3612" y="0"/>
                  </a:lnTo>
                  <a:lnTo>
                    <a:pt x="10136" y="4334"/>
                  </a:lnTo>
                  <a:lnTo>
                    <a:pt x="8839" y="10572"/>
                  </a:lnTo>
                  <a:close/>
                </a:path>
              </a:pathLst>
            </a:custGeom>
            <a:solidFill>
              <a:srgbClr val="FFFFFF"/>
            </a:solidFill>
            <a:ln>
              <a:noFill/>
            </a:ln>
          </p:spPr>
        </p:sp>
        <p:sp>
          <p:nvSpPr>
            <p:cNvPr id="406" name="Google Shape;406;p31"/>
            <p:cNvSpPr/>
            <p:nvPr/>
          </p:nvSpPr>
          <p:spPr>
            <a:xfrm rot="-903522">
              <a:off x="4586407" y="2517549"/>
              <a:ext cx="130481" cy="70226"/>
            </a:xfrm>
            <a:prstGeom prst="roundRect">
              <a:avLst>
                <a:gd fmla="val 50000"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407" name="Google Shape;407;p31"/>
            <p:cNvSpPr/>
            <p:nvPr/>
          </p:nvSpPr>
          <p:spPr>
            <a:xfrm rot="-903522">
              <a:off x="4589058" y="2562486"/>
              <a:ext cx="130481" cy="70226"/>
            </a:xfrm>
            <a:prstGeom prst="roundRect">
              <a:avLst>
                <a:gd fmla="val 50000"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408" name="Google Shape;408;p31"/>
            <p:cNvSpPr/>
            <p:nvPr/>
          </p:nvSpPr>
          <p:spPr>
            <a:xfrm rot="-903522">
              <a:off x="4591710" y="2607423"/>
              <a:ext cx="130481" cy="70226"/>
            </a:xfrm>
            <a:prstGeom prst="roundRect">
              <a:avLst>
                <a:gd fmla="val 50000"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409" name="Google Shape;409;p31"/>
            <p:cNvSpPr/>
            <p:nvPr/>
          </p:nvSpPr>
          <p:spPr>
            <a:xfrm rot="-903522">
              <a:off x="4594362" y="2652361"/>
              <a:ext cx="130481" cy="70226"/>
            </a:xfrm>
            <a:prstGeom prst="roundRect">
              <a:avLst>
                <a:gd fmla="val 50000"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sp>
          <p:nvSpPr>
            <p:cNvPr id="410" name="Google Shape;410;p31"/>
            <p:cNvSpPr/>
            <p:nvPr/>
          </p:nvSpPr>
          <p:spPr>
            <a:xfrm rot="-900746">
              <a:off x="4439193" y="2567707"/>
              <a:ext cx="68332" cy="202523"/>
            </a:xfrm>
            <a:prstGeom prst="roundRect">
              <a:avLst>
                <a:gd fmla="val 17316" name="adj"/>
              </a:avLst>
            </a:prstGeom>
            <a:solidFill>
              <a:srgbClr val="FFFFFF"/>
            </a:solidFill>
            <a:ln>
              <a:noFill/>
            </a:ln>
          </p:spPr>
          <p:txBody>
            <a:bodyPr anchorCtr="0" anchor="ctr" bIns="60250" lIns="60250" spcFirstLastPara="1" rIns="60250" wrap="square" tIns="60250">
              <a:noAutofit/>
            </a:bodyPr>
            <a:lstStyle/>
            <a:p>
              <a:pPr indent="0" lvl="0" marL="0" marR="0" rtl="0" algn="ctr">
                <a:lnSpc>
                  <a:spcPct val="100000"/>
                </a:lnSpc>
                <a:spcBef>
                  <a:spcPts val="0"/>
                </a:spcBef>
                <a:spcAft>
                  <a:spcPts val="0"/>
                </a:spcAft>
                <a:buClr>
                  <a:srgbClr val="000000"/>
                </a:buClr>
                <a:buSzPts val="923"/>
                <a:buFont typeface="Arial"/>
                <a:buNone/>
              </a:pPr>
              <a:r>
                <a:t/>
              </a:r>
              <a:endParaRPr b="0" i="0" sz="922" u="none" cap="none" strike="noStrike">
                <a:solidFill>
                  <a:srgbClr val="000000"/>
                </a:solidFill>
                <a:latin typeface="Arial"/>
                <a:ea typeface="Arial"/>
                <a:cs typeface="Arial"/>
                <a:sym typeface="Arial"/>
              </a:endParaRPr>
            </a:p>
          </p:txBody>
        </p:sp>
      </p:grpSp>
      <p:sp>
        <p:nvSpPr>
          <p:cNvPr id="411" name="Google Shape;411;p31"/>
          <p:cNvSpPr/>
          <p:nvPr/>
        </p:nvSpPr>
        <p:spPr>
          <a:xfrm>
            <a:off x="135573" y="1216732"/>
            <a:ext cx="1345500" cy="546900"/>
          </a:xfrm>
          <a:prstGeom prst="wedgeRoundRectCallout">
            <a:avLst>
              <a:gd fmla="val -20833" name="adj1"/>
              <a:gd fmla="val 62500" name="adj2"/>
              <a:gd fmla="val 0" name="adj3"/>
            </a:avLst>
          </a:prstGeom>
          <a:noFill/>
          <a:ln cap="flat" cmpd="sng" w="7325">
            <a:solidFill>
              <a:srgbClr val="000000"/>
            </a:solidFill>
            <a:prstDash val="solid"/>
            <a:round/>
            <a:headEnd len="sm" w="sm" type="none"/>
            <a:tailEnd len="sm" w="sm" type="none"/>
          </a:ln>
        </p:spPr>
        <p:txBody>
          <a:bodyPr anchorCtr="0" anchor="ctr" bIns="70450" lIns="70450" spcFirstLastPara="1" rIns="70450" wrap="square" tIns="70450">
            <a:noAutofit/>
          </a:bodyPr>
          <a:lstStyle/>
          <a:p>
            <a:pPr indent="0" lvl="0" marL="0" marR="0" rtl="0" algn="ctr">
              <a:lnSpc>
                <a:spcPct val="100000"/>
              </a:lnSpc>
              <a:spcBef>
                <a:spcPts val="0"/>
              </a:spcBef>
              <a:spcAft>
                <a:spcPts val="0"/>
              </a:spcAft>
              <a:buClr>
                <a:srgbClr val="000000"/>
              </a:buClr>
              <a:buSzPts val="1079"/>
              <a:buFont typeface="Arial"/>
              <a:buNone/>
            </a:pPr>
            <a:r>
              <a:t/>
            </a:r>
            <a:endParaRPr b="0" i="0" sz="1079" u="none" cap="none" strike="noStrike">
              <a:solidFill>
                <a:srgbClr val="000000"/>
              </a:solidFill>
              <a:latin typeface="Arial"/>
              <a:ea typeface="Arial"/>
              <a:cs typeface="Arial"/>
              <a:sym typeface="Arial"/>
            </a:endParaRPr>
          </a:p>
        </p:txBody>
      </p:sp>
      <p:sp>
        <p:nvSpPr>
          <p:cNvPr id="412" name="Google Shape;412;p31"/>
          <p:cNvSpPr txBox="1"/>
          <p:nvPr/>
        </p:nvSpPr>
        <p:spPr>
          <a:xfrm>
            <a:off x="117750" y="1186543"/>
            <a:ext cx="1345500" cy="578700"/>
          </a:xfrm>
          <a:prstGeom prst="rect">
            <a:avLst/>
          </a:prstGeom>
          <a:noFill/>
          <a:ln>
            <a:noFill/>
          </a:ln>
        </p:spPr>
        <p:txBody>
          <a:bodyPr anchorCtr="0" anchor="t" bIns="70450" lIns="70450" spcFirstLastPara="1" rIns="70450" wrap="square" tIns="70450">
            <a:noAutofit/>
          </a:bodyPr>
          <a:lstStyle/>
          <a:p>
            <a:pPr indent="0" lvl="0" marL="0" marR="0" rtl="0" algn="l">
              <a:lnSpc>
                <a:spcPct val="100000"/>
              </a:lnSpc>
              <a:spcBef>
                <a:spcPts val="0"/>
              </a:spcBef>
              <a:spcAft>
                <a:spcPts val="0"/>
              </a:spcAft>
              <a:buClr>
                <a:srgbClr val="000000"/>
              </a:buClr>
              <a:buSzPts val="925"/>
              <a:buFont typeface="Arial"/>
              <a:buNone/>
            </a:pPr>
            <a:r>
              <a:rPr b="0" i="0" lang="en" sz="1079" u="none" cap="none" strike="noStrike">
                <a:solidFill>
                  <a:schemeClr val="dk1"/>
                </a:solidFill>
                <a:latin typeface="Lexend"/>
                <a:ea typeface="Lexend"/>
                <a:cs typeface="Lexend"/>
                <a:sym typeface="Lexend"/>
              </a:rPr>
              <a:t>How to guarantee  a robust detection ? </a:t>
            </a:r>
            <a:endParaRPr b="0" i="0" sz="1079" u="none" cap="none" strike="noStrike">
              <a:solidFill>
                <a:schemeClr val="dk1"/>
              </a:solidFill>
              <a:latin typeface="Lexend"/>
              <a:ea typeface="Lexend"/>
              <a:cs typeface="Lexend"/>
              <a:sym typeface="Lexend"/>
            </a:endParaRPr>
          </a:p>
        </p:txBody>
      </p:sp>
      <p:sp>
        <p:nvSpPr>
          <p:cNvPr id="413" name="Google Shape;413;p31"/>
          <p:cNvSpPr/>
          <p:nvPr/>
        </p:nvSpPr>
        <p:spPr>
          <a:xfrm flipH="1">
            <a:off x="751598" y="1849628"/>
            <a:ext cx="925200" cy="374400"/>
          </a:xfrm>
          <a:prstGeom prst="wedgeRoundRectCallout">
            <a:avLst>
              <a:gd fmla="val -20833" name="adj1"/>
              <a:gd fmla="val 62500" name="adj2"/>
              <a:gd fmla="val 0" name="adj3"/>
            </a:avLst>
          </a:prstGeom>
          <a:noFill/>
          <a:ln cap="flat" cmpd="sng" w="7325">
            <a:solidFill>
              <a:schemeClr val="dk2"/>
            </a:solidFill>
            <a:prstDash val="solid"/>
            <a:round/>
            <a:headEnd len="sm" w="sm" type="none"/>
            <a:tailEnd len="sm" w="sm" type="none"/>
          </a:ln>
        </p:spPr>
        <p:txBody>
          <a:bodyPr anchorCtr="0" anchor="ctr" bIns="70450" lIns="70450" spcFirstLastPara="1" rIns="70450" wrap="square" tIns="70450">
            <a:noAutofit/>
          </a:bodyPr>
          <a:lstStyle/>
          <a:p>
            <a:pPr indent="0" lvl="0" marL="0" marR="0" rtl="0" algn="ctr">
              <a:lnSpc>
                <a:spcPct val="100000"/>
              </a:lnSpc>
              <a:spcBef>
                <a:spcPts val="0"/>
              </a:spcBef>
              <a:spcAft>
                <a:spcPts val="0"/>
              </a:spcAft>
              <a:buClr>
                <a:srgbClr val="000000"/>
              </a:buClr>
              <a:buSzPts val="1079"/>
              <a:buFont typeface="Arial"/>
              <a:buNone/>
            </a:pPr>
            <a:r>
              <a:t/>
            </a:r>
            <a:endParaRPr b="0" i="0" sz="1079" u="none" cap="none" strike="noStrike">
              <a:solidFill>
                <a:schemeClr val="dk1"/>
              </a:solidFill>
              <a:latin typeface="Arial"/>
              <a:ea typeface="Arial"/>
              <a:cs typeface="Arial"/>
              <a:sym typeface="Arial"/>
            </a:endParaRPr>
          </a:p>
        </p:txBody>
      </p:sp>
      <p:sp>
        <p:nvSpPr>
          <p:cNvPr id="414" name="Google Shape;414;p31"/>
          <p:cNvSpPr txBox="1"/>
          <p:nvPr/>
        </p:nvSpPr>
        <p:spPr>
          <a:xfrm>
            <a:off x="711804" y="1895441"/>
            <a:ext cx="1038900" cy="270900"/>
          </a:xfrm>
          <a:prstGeom prst="rect">
            <a:avLst/>
          </a:prstGeom>
          <a:noFill/>
          <a:ln>
            <a:noFill/>
          </a:ln>
        </p:spPr>
        <p:txBody>
          <a:bodyPr anchorCtr="0" anchor="t" bIns="70450" lIns="70450" spcFirstLastPara="1" rIns="70450" wrap="square" tIns="70450">
            <a:noAutofit/>
          </a:bodyPr>
          <a:lstStyle/>
          <a:p>
            <a:pPr indent="0" lvl="0" marL="0" marR="0" rtl="0" algn="l">
              <a:lnSpc>
                <a:spcPct val="100000"/>
              </a:lnSpc>
              <a:spcBef>
                <a:spcPts val="0"/>
              </a:spcBef>
              <a:spcAft>
                <a:spcPts val="0"/>
              </a:spcAft>
              <a:buClr>
                <a:srgbClr val="000000"/>
              </a:buClr>
              <a:buSzPts val="925"/>
              <a:buFont typeface="Arial"/>
              <a:buNone/>
            </a:pPr>
            <a:r>
              <a:rPr b="0" i="0" lang="en" sz="1079" u="none" cap="none" strike="noStrike">
                <a:solidFill>
                  <a:schemeClr val="dk1"/>
                </a:solidFill>
                <a:latin typeface="Lexend"/>
                <a:ea typeface="Lexend"/>
                <a:cs typeface="Lexend"/>
                <a:sym typeface="Lexend"/>
              </a:rPr>
              <a:t>with IoA = 1 ! </a:t>
            </a:r>
            <a:endParaRPr b="0" i="0" sz="1079" u="none" cap="none" strike="noStrike">
              <a:solidFill>
                <a:schemeClr val="dk1"/>
              </a:solidFill>
              <a:latin typeface="Lexend"/>
              <a:ea typeface="Lexend"/>
              <a:cs typeface="Lexend"/>
              <a:sym typeface="Lexend"/>
            </a:endParaRPr>
          </a:p>
        </p:txBody>
      </p:sp>
      <p:sp>
        <p:nvSpPr>
          <p:cNvPr id="415" name="Google Shape;415;p31"/>
          <p:cNvSpPr/>
          <p:nvPr/>
        </p:nvSpPr>
        <p:spPr>
          <a:xfrm>
            <a:off x="137825" y="3147646"/>
            <a:ext cx="715800" cy="313200"/>
          </a:xfrm>
          <a:prstGeom prst="wedgeRoundRectCallout">
            <a:avLst>
              <a:gd fmla="val -20833" name="adj1"/>
              <a:gd fmla="val 62500" name="adj2"/>
              <a:gd fmla="val 0" name="adj3"/>
            </a:avLst>
          </a:prstGeom>
          <a:noFill/>
          <a:ln cap="flat" cmpd="sng" w="7650">
            <a:solidFill>
              <a:srgbClr val="000000"/>
            </a:solidFill>
            <a:prstDash val="solid"/>
            <a:round/>
            <a:headEnd len="sm" w="sm" type="none"/>
            <a:tailEnd len="sm" w="sm" type="none"/>
          </a:ln>
        </p:spPr>
        <p:txBody>
          <a:bodyPr anchorCtr="0" anchor="ctr" bIns="73450" lIns="73450" spcFirstLastPara="1" rIns="73450" wrap="square" tIns="73450">
            <a:noAutofit/>
          </a:bodyPr>
          <a:lstStyle/>
          <a:p>
            <a:pPr indent="0" lvl="0" marL="0" marR="0" rtl="0" algn="ctr">
              <a:lnSpc>
                <a:spcPct val="100000"/>
              </a:lnSpc>
              <a:spcBef>
                <a:spcPts val="0"/>
              </a:spcBef>
              <a:spcAft>
                <a:spcPts val="0"/>
              </a:spcAft>
              <a:buClr>
                <a:srgbClr val="000000"/>
              </a:buClr>
              <a:buSzPts val="1125"/>
              <a:buFont typeface="Arial"/>
              <a:buNone/>
            </a:pPr>
            <a:r>
              <a:t/>
            </a:r>
            <a:endParaRPr b="0" i="0" sz="1124" u="none" cap="none" strike="noStrike">
              <a:solidFill>
                <a:srgbClr val="000000"/>
              </a:solidFill>
              <a:latin typeface="Arial"/>
              <a:ea typeface="Arial"/>
              <a:cs typeface="Arial"/>
              <a:sym typeface="Arial"/>
            </a:endParaRPr>
          </a:p>
        </p:txBody>
      </p:sp>
      <p:sp>
        <p:nvSpPr>
          <p:cNvPr id="416" name="Google Shape;416;p31"/>
          <p:cNvSpPr txBox="1"/>
          <p:nvPr/>
        </p:nvSpPr>
        <p:spPr>
          <a:xfrm>
            <a:off x="189764" y="3137027"/>
            <a:ext cx="715800" cy="282600"/>
          </a:xfrm>
          <a:prstGeom prst="rect">
            <a:avLst/>
          </a:prstGeom>
          <a:noFill/>
          <a:ln>
            <a:noFill/>
          </a:ln>
        </p:spPr>
        <p:txBody>
          <a:bodyPr anchorCtr="0" anchor="t" bIns="73450" lIns="73450" spcFirstLastPara="1" rIns="73450" wrap="square" tIns="73450">
            <a:noAutofit/>
          </a:bodyPr>
          <a:lstStyle/>
          <a:p>
            <a:pPr indent="0" lvl="0" marL="0" marR="0" rtl="0" algn="l">
              <a:lnSpc>
                <a:spcPct val="100000"/>
              </a:lnSpc>
              <a:spcBef>
                <a:spcPts val="0"/>
              </a:spcBef>
              <a:spcAft>
                <a:spcPts val="0"/>
              </a:spcAft>
              <a:buClr>
                <a:srgbClr val="000000"/>
              </a:buClr>
              <a:buSzPts val="964"/>
              <a:buFont typeface="Arial"/>
              <a:buNone/>
            </a:pPr>
            <a:r>
              <a:rPr b="0" i="0" lang="en" sz="1124" u="none" cap="none" strike="noStrike">
                <a:solidFill>
                  <a:schemeClr val="dk1"/>
                </a:solidFill>
                <a:latin typeface="Lexend"/>
                <a:ea typeface="Lexend"/>
                <a:cs typeface="Lexend"/>
                <a:sym typeface="Lexend"/>
              </a:rPr>
              <a:t>Only ?</a:t>
            </a:r>
            <a:r>
              <a:rPr b="0" i="0" lang="en" sz="964" u="none" cap="none" strike="noStrike">
                <a:solidFill>
                  <a:schemeClr val="dk1"/>
                </a:solidFill>
                <a:latin typeface="Lexend"/>
                <a:ea typeface="Lexend"/>
                <a:cs typeface="Lexend"/>
                <a:sym typeface="Lexend"/>
              </a:rPr>
              <a:t> </a:t>
            </a:r>
            <a:endParaRPr b="0" i="0" sz="964" u="none" cap="none" strike="noStrike">
              <a:solidFill>
                <a:schemeClr val="dk1"/>
              </a:solidFill>
              <a:latin typeface="Lexend"/>
              <a:ea typeface="Lexend"/>
              <a:cs typeface="Lexend"/>
              <a:sym typeface="Lexend"/>
            </a:endParaRPr>
          </a:p>
        </p:txBody>
      </p:sp>
      <p:sp>
        <p:nvSpPr>
          <p:cNvPr id="417" name="Google Shape;417;p31"/>
          <p:cNvSpPr/>
          <p:nvPr/>
        </p:nvSpPr>
        <p:spPr>
          <a:xfrm flipH="1">
            <a:off x="578772" y="3606447"/>
            <a:ext cx="1068300" cy="431100"/>
          </a:xfrm>
          <a:prstGeom prst="wedgeRoundRectCallout">
            <a:avLst>
              <a:gd fmla="val -20833" name="adj1"/>
              <a:gd fmla="val 62500" name="adj2"/>
              <a:gd fmla="val 0" name="adj3"/>
            </a:avLst>
          </a:prstGeom>
          <a:noFill/>
          <a:ln cap="flat" cmpd="sng" w="7650">
            <a:solidFill>
              <a:schemeClr val="dk2"/>
            </a:solidFill>
            <a:prstDash val="solid"/>
            <a:round/>
            <a:headEnd len="sm" w="sm" type="none"/>
            <a:tailEnd len="sm" w="sm" type="none"/>
          </a:ln>
        </p:spPr>
        <p:txBody>
          <a:bodyPr anchorCtr="0" anchor="ctr" bIns="73450" lIns="73450" spcFirstLastPara="1" rIns="73450" wrap="square" tIns="73450">
            <a:noAutofit/>
          </a:bodyPr>
          <a:lstStyle/>
          <a:p>
            <a:pPr indent="0" lvl="0" marL="0" marR="0" rtl="0" algn="ctr">
              <a:lnSpc>
                <a:spcPct val="100000"/>
              </a:lnSpc>
              <a:spcBef>
                <a:spcPts val="0"/>
              </a:spcBef>
              <a:spcAft>
                <a:spcPts val="0"/>
              </a:spcAft>
              <a:buClr>
                <a:srgbClr val="000000"/>
              </a:buClr>
              <a:buSzPts val="1125"/>
              <a:buFont typeface="Arial"/>
              <a:buNone/>
            </a:pPr>
            <a:r>
              <a:t/>
            </a:r>
            <a:endParaRPr b="0" i="0" sz="1124" u="none" cap="none" strike="noStrike">
              <a:solidFill>
                <a:schemeClr val="dk1"/>
              </a:solidFill>
              <a:latin typeface="Arial"/>
              <a:ea typeface="Arial"/>
              <a:cs typeface="Arial"/>
              <a:sym typeface="Arial"/>
            </a:endParaRPr>
          </a:p>
        </p:txBody>
      </p:sp>
      <p:sp>
        <p:nvSpPr>
          <p:cNvPr id="418" name="Google Shape;418;p31"/>
          <p:cNvSpPr txBox="1"/>
          <p:nvPr/>
        </p:nvSpPr>
        <p:spPr>
          <a:xfrm>
            <a:off x="613006" y="3572415"/>
            <a:ext cx="1108800" cy="390300"/>
          </a:xfrm>
          <a:prstGeom prst="rect">
            <a:avLst/>
          </a:prstGeom>
          <a:noFill/>
          <a:ln>
            <a:noFill/>
          </a:ln>
        </p:spPr>
        <p:txBody>
          <a:bodyPr anchorCtr="0" anchor="t" bIns="73450" lIns="73450" spcFirstLastPara="1" rIns="73450" wrap="square" tIns="73450">
            <a:noAutofit/>
          </a:bodyPr>
          <a:lstStyle/>
          <a:p>
            <a:pPr indent="0" lvl="0" marL="0" marR="0" rtl="0" algn="l">
              <a:lnSpc>
                <a:spcPct val="100000"/>
              </a:lnSpc>
              <a:spcBef>
                <a:spcPts val="0"/>
              </a:spcBef>
              <a:spcAft>
                <a:spcPts val="0"/>
              </a:spcAft>
              <a:buClr>
                <a:srgbClr val="000000"/>
              </a:buClr>
              <a:buSzPts val="964"/>
              <a:buFont typeface="Arial"/>
              <a:buNone/>
            </a:pPr>
            <a:r>
              <a:rPr b="0" i="0" lang="en" sz="1124" u="none" cap="none" strike="noStrike">
                <a:solidFill>
                  <a:schemeClr val="dk1"/>
                </a:solidFill>
                <a:latin typeface="Lexend"/>
                <a:ea typeface="Lexend"/>
                <a:cs typeface="Lexend"/>
                <a:sym typeface="Lexend"/>
              </a:rPr>
              <a:t>also with a decent IoU … </a:t>
            </a:r>
            <a:endParaRPr b="0" i="0" sz="1124" u="none" cap="none" strike="noStrike">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2"/>
          <p:cNvSpPr/>
          <p:nvPr/>
        </p:nvSpPr>
        <p:spPr>
          <a:xfrm>
            <a:off x="3738700" y="630150"/>
            <a:ext cx="5268000" cy="4066800"/>
          </a:xfrm>
          <a:prstGeom prst="roundRect">
            <a:avLst>
              <a:gd fmla="val 16667" name="adj"/>
            </a:avLst>
          </a:prstGeom>
          <a:gradFill>
            <a:gsLst>
              <a:gs pos="0">
                <a:srgbClr val="C9DAF8"/>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4" name="Google Shape;424;p32"/>
          <p:cNvSpPr/>
          <p:nvPr/>
        </p:nvSpPr>
        <p:spPr>
          <a:xfrm>
            <a:off x="240438" y="813789"/>
            <a:ext cx="3338400" cy="3883200"/>
          </a:xfrm>
          <a:prstGeom prst="roundRect">
            <a:avLst>
              <a:gd fmla="val 16667" name="adj"/>
            </a:avLst>
          </a:prstGeom>
          <a:gradFill>
            <a:gsLst>
              <a:gs pos="0">
                <a:srgbClr val="F4FFEE"/>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32"/>
          <p:cNvSpPr txBox="1"/>
          <p:nvPr/>
        </p:nvSpPr>
        <p:spPr>
          <a:xfrm>
            <a:off x="288425" y="72250"/>
            <a:ext cx="6207600" cy="39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05B"/>
                </a:solidFill>
                <a:latin typeface="Lexend Medium"/>
                <a:ea typeface="Lexend Medium"/>
                <a:cs typeface="Lexend Medium"/>
                <a:sym typeface="Lexend Medium"/>
              </a:rPr>
              <a:t>Evaluation : Coverage &amp; C-mAP</a:t>
            </a:r>
            <a:endParaRPr i="0" sz="1800" u="none" cap="none" strike="noStrike">
              <a:solidFill>
                <a:srgbClr val="00205B"/>
              </a:solidFill>
              <a:latin typeface="Lexend Medium"/>
              <a:ea typeface="Lexend Medium"/>
              <a:cs typeface="Lexend Medium"/>
              <a:sym typeface="Lexend Medium"/>
            </a:endParaRPr>
          </a:p>
        </p:txBody>
      </p:sp>
      <p:cxnSp>
        <p:nvCxnSpPr>
          <p:cNvPr id="426" name="Google Shape;426;p32"/>
          <p:cNvCxnSpPr/>
          <p:nvPr/>
        </p:nvCxnSpPr>
        <p:spPr>
          <a:xfrm flipH="1" rot="10800000">
            <a:off x="288413" y="502856"/>
            <a:ext cx="8718300" cy="7800"/>
          </a:xfrm>
          <a:prstGeom prst="straightConnector1">
            <a:avLst/>
          </a:prstGeom>
          <a:noFill/>
          <a:ln cap="flat" cmpd="sng" w="9525">
            <a:solidFill>
              <a:srgbClr val="00205B"/>
            </a:solidFill>
            <a:prstDash val="solid"/>
            <a:round/>
            <a:headEnd len="sm" w="sm" type="none"/>
            <a:tailEnd len="sm" w="sm" type="none"/>
          </a:ln>
        </p:spPr>
      </p:cxnSp>
      <p:pic>
        <p:nvPicPr>
          <p:cNvPr id="427" name="Google Shape;427;p32"/>
          <p:cNvPicPr preferRelativeResize="0"/>
          <p:nvPr/>
        </p:nvPicPr>
        <p:blipFill rotWithShape="1">
          <a:blip r:embed="rId3">
            <a:alphaModFix/>
          </a:blip>
          <a:srcRect b="0" l="0" r="0" t="0"/>
          <a:stretch/>
        </p:blipFill>
        <p:spPr>
          <a:xfrm>
            <a:off x="8266150" y="91401"/>
            <a:ext cx="703375" cy="351675"/>
          </a:xfrm>
          <a:prstGeom prst="rect">
            <a:avLst/>
          </a:prstGeom>
          <a:noFill/>
          <a:ln>
            <a:noFill/>
          </a:ln>
        </p:spPr>
      </p:pic>
      <p:cxnSp>
        <p:nvCxnSpPr>
          <p:cNvPr id="428" name="Google Shape;428;p32"/>
          <p:cNvCxnSpPr/>
          <p:nvPr/>
        </p:nvCxnSpPr>
        <p:spPr>
          <a:xfrm flipH="1" rot="10800000">
            <a:off x="288413" y="4846256"/>
            <a:ext cx="8718300" cy="7800"/>
          </a:xfrm>
          <a:prstGeom prst="straightConnector1">
            <a:avLst/>
          </a:prstGeom>
          <a:noFill/>
          <a:ln cap="flat" cmpd="sng" w="9525">
            <a:solidFill>
              <a:srgbClr val="00205B"/>
            </a:solidFill>
            <a:prstDash val="solid"/>
            <a:round/>
            <a:headEnd len="sm" w="sm" type="none"/>
            <a:tailEnd len="sm" w="sm" type="none"/>
          </a:ln>
        </p:spPr>
      </p:cxnSp>
      <p:sp>
        <p:nvSpPr>
          <p:cNvPr id="429" name="Google Shape;429;p32"/>
          <p:cNvSpPr txBox="1"/>
          <p:nvPr>
            <p:ph idx="12" type="sldNum"/>
          </p:nvPr>
        </p:nvSpPr>
        <p:spPr>
          <a:xfrm>
            <a:off x="359100" y="4909200"/>
            <a:ext cx="216000" cy="16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fld id="{00000000-1234-1234-1234-123412341234}" type="slidenum">
              <a:rPr lang="en" sz="800">
                <a:solidFill>
                  <a:srgbClr val="595959"/>
                </a:solidFill>
              </a:rPr>
              <a:t>‹#›</a:t>
            </a:fld>
            <a:endParaRPr sz="800">
              <a:solidFill>
                <a:srgbClr val="595959"/>
              </a:solidFill>
            </a:endParaRPr>
          </a:p>
        </p:txBody>
      </p:sp>
      <p:pic>
        <p:nvPicPr>
          <p:cNvPr id="430" name="Google Shape;430;p32"/>
          <p:cNvPicPr preferRelativeResize="0"/>
          <p:nvPr/>
        </p:nvPicPr>
        <p:blipFill rotWithShape="1">
          <a:blip r:embed="rId4">
            <a:alphaModFix amt="90000"/>
          </a:blip>
          <a:srcRect b="0" l="0" r="0" t="0"/>
          <a:stretch/>
        </p:blipFill>
        <p:spPr>
          <a:xfrm>
            <a:off x="3962000" y="1034669"/>
            <a:ext cx="4875470" cy="3367925"/>
          </a:xfrm>
          <a:prstGeom prst="rect">
            <a:avLst/>
          </a:prstGeom>
          <a:noFill/>
          <a:ln>
            <a:noFill/>
          </a:ln>
        </p:spPr>
      </p:pic>
      <p:pic>
        <p:nvPicPr>
          <p:cNvPr id="431" name="Google Shape;431;p32"/>
          <p:cNvPicPr preferRelativeResize="0"/>
          <p:nvPr/>
        </p:nvPicPr>
        <p:blipFill rotWithShape="1">
          <a:blip r:embed="rId5">
            <a:alphaModFix amt="79000"/>
          </a:blip>
          <a:srcRect b="0" l="0" r="0" t="25506"/>
          <a:stretch/>
        </p:blipFill>
        <p:spPr>
          <a:xfrm>
            <a:off x="434319" y="3138547"/>
            <a:ext cx="1377861" cy="1335591"/>
          </a:xfrm>
          <a:prstGeom prst="rect">
            <a:avLst/>
          </a:prstGeom>
          <a:noFill/>
          <a:ln>
            <a:noFill/>
          </a:ln>
        </p:spPr>
      </p:pic>
      <p:pic>
        <p:nvPicPr>
          <p:cNvPr id="432" name="Google Shape;432;p32"/>
          <p:cNvPicPr preferRelativeResize="0"/>
          <p:nvPr/>
        </p:nvPicPr>
        <p:blipFill rotWithShape="1">
          <a:blip r:embed="rId5">
            <a:alphaModFix amt="79000"/>
          </a:blip>
          <a:srcRect b="0" l="0" r="0" t="25506"/>
          <a:stretch/>
        </p:blipFill>
        <p:spPr>
          <a:xfrm>
            <a:off x="2001000" y="3138547"/>
            <a:ext cx="1377861" cy="1335591"/>
          </a:xfrm>
          <a:prstGeom prst="rect">
            <a:avLst/>
          </a:prstGeom>
          <a:noFill/>
          <a:ln>
            <a:noFill/>
          </a:ln>
        </p:spPr>
      </p:pic>
      <p:sp>
        <p:nvSpPr>
          <p:cNvPr id="433" name="Google Shape;433;p32"/>
          <p:cNvSpPr/>
          <p:nvPr/>
        </p:nvSpPr>
        <p:spPr>
          <a:xfrm>
            <a:off x="617027" y="3287464"/>
            <a:ext cx="972600" cy="764100"/>
          </a:xfrm>
          <a:prstGeom prst="rect">
            <a:avLst/>
          </a:prstGeom>
          <a:noFill/>
          <a:ln cap="flat" cmpd="sng" w="18225">
            <a:solidFill>
              <a:srgbClr val="FE8F00"/>
            </a:solidFill>
            <a:prstDash val="solid"/>
            <a:round/>
            <a:headEnd len="sm" w="sm" type="none"/>
            <a:tailEnd len="sm" w="sm" type="none"/>
          </a:ln>
          <a:effectLst>
            <a:outerShdw blurRad="54687" rotWithShape="0" algn="bl" dir="5400000" dist="18229">
              <a:srgbClr val="000000">
                <a:alpha val="49410"/>
              </a:srgbClr>
            </a:outerShdw>
          </a:effectLst>
        </p:spPr>
        <p:txBody>
          <a:bodyPr anchorCtr="0" anchor="ctr" bIns="87475" lIns="87475" spcFirstLastPara="1" rIns="87475" wrap="square" tIns="87475">
            <a:noAutofit/>
          </a:bodyPr>
          <a:lstStyle/>
          <a:p>
            <a:pPr indent="0" lvl="0" marL="0" marR="0" rtl="0" algn="ctr">
              <a:lnSpc>
                <a:spcPct val="100000"/>
              </a:lnSpc>
              <a:spcBef>
                <a:spcPts val="0"/>
              </a:spcBef>
              <a:spcAft>
                <a:spcPts val="0"/>
              </a:spcAft>
              <a:buClr>
                <a:srgbClr val="000000"/>
              </a:buClr>
              <a:buSzPts val="1340"/>
              <a:buFont typeface="Arial"/>
              <a:buNone/>
            </a:pPr>
            <a:r>
              <a:t/>
            </a:r>
            <a:endParaRPr b="0" i="0" sz="1339" u="none" cap="none" strike="noStrike">
              <a:solidFill>
                <a:srgbClr val="000000"/>
              </a:solidFill>
              <a:latin typeface="Arial"/>
              <a:ea typeface="Arial"/>
              <a:cs typeface="Arial"/>
              <a:sym typeface="Arial"/>
            </a:endParaRPr>
          </a:p>
        </p:txBody>
      </p:sp>
      <p:sp>
        <p:nvSpPr>
          <p:cNvPr id="434" name="Google Shape;434;p32"/>
          <p:cNvSpPr/>
          <p:nvPr/>
        </p:nvSpPr>
        <p:spPr>
          <a:xfrm>
            <a:off x="716927" y="3353921"/>
            <a:ext cx="772800" cy="631200"/>
          </a:xfrm>
          <a:prstGeom prst="rect">
            <a:avLst/>
          </a:prstGeom>
          <a:noFill/>
          <a:ln cap="flat" cmpd="sng" w="18225">
            <a:solidFill>
              <a:srgbClr val="C00000"/>
            </a:solidFill>
            <a:prstDash val="solid"/>
            <a:round/>
            <a:headEnd len="sm" w="sm" type="none"/>
            <a:tailEnd len="sm" w="sm" type="none"/>
          </a:ln>
          <a:effectLst>
            <a:outerShdw blurRad="54687" rotWithShape="0" algn="bl" dir="5400000" dist="18229">
              <a:srgbClr val="000000">
                <a:alpha val="49410"/>
              </a:srgbClr>
            </a:outerShdw>
          </a:effectLst>
        </p:spPr>
        <p:txBody>
          <a:bodyPr anchorCtr="0" anchor="ctr" bIns="87475" lIns="87475" spcFirstLastPara="1" rIns="87475" wrap="square" tIns="87475">
            <a:noAutofit/>
          </a:bodyPr>
          <a:lstStyle/>
          <a:p>
            <a:pPr indent="0" lvl="0" marL="0" marR="0" rtl="0" algn="ctr">
              <a:lnSpc>
                <a:spcPct val="100000"/>
              </a:lnSpc>
              <a:spcBef>
                <a:spcPts val="0"/>
              </a:spcBef>
              <a:spcAft>
                <a:spcPts val="0"/>
              </a:spcAft>
              <a:buClr>
                <a:srgbClr val="000000"/>
              </a:buClr>
              <a:buSzPts val="1340"/>
              <a:buFont typeface="Arial"/>
              <a:buNone/>
            </a:pPr>
            <a:r>
              <a:t/>
            </a:r>
            <a:endParaRPr b="0" i="0" sz="1339" u="none" cap="none" strike="noStrike">
              <a:solidFill>
                <a:srgbClr val="000000"/>
              </a:solidFill>
              <a:latin typeface="Arial"/>
              <a:ea typeface="Arial"/>
              <a:cs typeface="Arial"/>
              <a:sym typeface="Arial"/>
            </a:endParaRPr>
          </a:p>
        </p:txBody>
      </p:sp>
      <p:sp>
        <p:nvSpPr>
          <p:cNvPr id="435" name="Google Shape;435;p32"/>
          <p:cNvSpPr/>
          <p:nvPr/>
        </p:nvSpPr>
        <p:spPr>
          <a:xfrm>
            <a:off x="2285114" y="3353921"/>
            <a:ext cx="772800" cy="631200"/>
          </a:xfrm>
          <a:prstGeom prst="rect">
            <a:avLst/>
          </a:prstGeom>
          <a:noFill/>
          <a:ln cap="flat" cmpd="sng" w="18225">
            <a:solidFill>
              <a:srgbClr val="C00000"/>
            </a:solidFill>
            <a:prstDash val="solid"/>
            <a:round/>
            <a:headEnd len="sm" w="sm" type="none"/>
            <a:tailEnd len="sm" w="sm" type="none"/>
          </a:ln>
          <a:effectLst>
            <a:outerShdw blurRad="54687" rotWithShape="0" algn="bl" dir="5400000" dist="18229">
              <a:srgbClr val="000000">
                <a:alpha val="49410"/>
              </a:srgbClr>
            </a:outerShdw>
          </a:effectLst>
        </p:spPr>
        <p:txBody>
          <a:bodyPr anchorCtr="0" anchor="ctr" bIns="87475" lIns="87475" spcFirstLastPara="1" rIns="87475" wrap="square" tIns="87475">
            <a:noAutofit/>
          </a:bodyPr>
          <a:lstStyle/>
          <a:p>
            <a:pPr indent="0" lvl="0" marL="0" marR="0" rtl="0" algn="ctr">
              <a:lnSpc>
                <a:spcPct val="100000"/>
              </a:lnSpc>
              <a:spcBef>
                <a:spcPts val="0"/>
              </a:spcBef>
              <a:spcAft>
                <a:spcPts val="0"/>
              </a:spcAft>
              <a:buClr>
                <a:srgbClr val="000000"/>
              </a:buClr>
              <a:buSzPts val="1340"/>
              <a:buFont typeface="Arial"/>
              <a:buNone/>
            </a:pPr>
            <a:r>
              <a:t/>
            </a:r>
            <a:endParaRPr b="0" i="0" sz="1339" u="none" cap="none" strike="noStrike">
              <a:solidFill>
                <a:srgbClr val="000000"/>
              </a:solidFill>
              <a:latin typeface="Arial"/>
              <a:ea typeface="Arial"/>
              <a:cs typeface="Arial"/>
              <a:sym typeface="Arial"/>
            </a:endParaRPr>
          </a:p>
        </p:txBody>
      </p:sp>
      <p:sp>
        <p:nvSpPr>
          <p:cNvPr id="436" name="Google Shape;436;p32"/>
          <p:cNvSpPr/>
          <p:nvPr/>
        </p:nvSpPr>
        <p:spPr>
          <a:xfrm>
            <a:off x="2285114" y="3390666"/>
            <a:ext cx="845400" cy="685500"/>
          </a:xfrm>
          <a:prstGeom prst="rect">
            <a:avLst/>
          </a:prstGeom>
          <a:noFill/>
          <a:ln cap="flat" cmpd="sng" w="18225">
            <a:solidFill>
              <a:srgbClr val="FE8F00"/>
            </a:solidFill>
            <a:prstDash val="solid"/>
            <a:round/>
            <a:headEnd len="sm" w="sm" type="none"/>
            <a:tailEnd len="sm" w="sm" type="none"/>
          </a:ln>
          <a:effectLst>
            <a:outerShdw blurRad="54687" rotWithShape="0" algn="bl" dir="5400000" dist="18229">
              <a:srgbClr val="000000">
                <a:alpha val="49410"/>
              </a:srgbClr>
            </a:outerShdw>
          </a:effectLst>
        </p:spPr>
        <p:txBody>
          <a:bodyPr anchorCtr="0" anchor="ctr" bIns="87475" lIns="87475" spcFirstLastPara="1" rIns="87475" wrap="square" tIns="87475">
            <a:noAutofit/>
          </a:bodyPr>
          <a:lstStyle/>
          <a:p>
            <a:pPr indent="0" lvl="0" marL="0" marR="0" rtl="0" algn="ctr">
              <a:lnSpc>
                <a:spcPct val="100000"/>
              </a:lnSpc>
              <a:spcBef>
                <a:spcPts val="0"/>
              </a:spcBef>
              <a:spcAft>
                <a:spcPts val="0"/>
              </a:spcAft>
              <a:buClr>
                <a:srgbClr val="000000"/>
              </a:buClr>
              <a:buSzPts val="1340"/>
              <a:buFont typeface="Arial"/>
              <a:buNone/>
            </a:pPr>
            <a:r>
              <a:t/>
            </a:r>
            <a:endParaRPr b="0" i="0" sz="1339" u="none" cap="none" strike="noStrike">
              <a:solidFill>
                <a:srgbClr val="000000"/>
              </a:solidFill>
              <a:latin typeface="Arial"/>
              <a:ea typeface="Arial"/>
              <a:cs typeface="Arial"/>
              <a:sym typeface="Arial"/>
            </a:endParaRPr>
          </a:p>
        </p:txBody>
      </p:sp>
      <p:sp>
        <p:nvSpPr>
          <p:cNvPr id="437" name="Google Shape;437;p32"/>
          <p:cNvSpPr txBox="1"/>
          <p:nvPr/>
        </p:nvSpPr>
        <p:spPr>
          <a:xfrm>
            <a:off x="565653" y="2892863"/>
            <a:ext cx="1075500" cy="336300"/>
          </a:xfrm>
          <a:prstGeom prst="rect">
            <a:avLst/>
          </a:prstGeom>
          <a:noFill/>
          <a:ln>
            <a:noFill/>
          </a:ln>
        </p:spPr>
        <p:txBody>
          <a:bodyPr anchorCtr="0" anchor="t" bIns="87475" lIns="87475" spcFirstLastPara="1" rIns="87475" wrap="square" tIns="87475">
            <a:noAutofit/>
          </a:bodyPr>
          <a:lstStyle/>
          <a:p>
            <a:pPr indent="0" lvl="0" marL="0" marR="0" rtl="0" algn="l">
              <a:lnSpc>
                <a:spcPct val="100000"/>
              </a:lnSpc>
              <a:spcBef>
                <a:spcPts val="0"/>
              </a:spcBef>
              <a:spcAft>
                <a:spcPts val="0"/>
              </a:spcAft>
              <a:buClr>
                <a:srgbClr val="000000"/>
              </a:buClr>
              <a:buSzPts val="1435"/>
              <a:buFont typeface="Arial"/>
              <a:buNone/>
            </a:pPr>
            <a:r>
              <a:rPr b="1" i="0" lang="en" sz="956" u="none" cap="none" strike="noStrike">
                <a:solidFill>
                  <a:schemeClr val="dk1"/>
                </a:solidFill>
                <a:latin typeface="Lexend"/>
                <a:ea typeface="Lexend"/>
                <a:cs typeface="Lexend"/>
                <a:sym typeface="Lexend"/>
              </a:rPr>
              <a:t>Coverage = 1</a:t>
            </a:r>
            <a:endParaRPr b="0" i="0" sz="956" u="none" cap="none" strike="noStrike">
              <a:solidFill>
                <a:schemeClr val="dk1"/>
              </a:solidFill>
              <a:latin typeface="Lexend"/>
              <a:ea typeface="Lexend"/>
              <a:cs typeface="Lexend"/>
              <a:sym typeface="Lexend"/>
            </a:endParaRPr>
          </a:p>
        </p:txBody>
      </p:sp>
      <p:sp>
        <p:nvSpPr>
          <p:cNvPr id="438" name="Google Shape;438;p32"/>
          <p:cNvSpPr txBox="1"/>
          <p:nvPr/>
        </p:nvSpPr>
        <p:spPr>
          <a:xfrm>
            <a:off x="2133840" y="2892863"/>
            <a:ext cx="1075500" cy="336300"/>
          </a:xfrm>
          <a:prstGeom prst="rect">
            <a:avLst/>
          </a:prstGeom>
          <a:noFill/>
          <a:ln>
            <a:noFill/>
          </a:ln>
        </p:spPr>
        <p:txBody>
          <a:bodyPr anchorCtr="0" anchor="t" bIns="87475" lIns="87475" spcFirstLastPara="1" rIns="87475" wrap="square" tIns="87475">
            <a:noAutofit/>
          </a:bodyPr>
          <a:lstStyle/>
          <a:p>
            <a:pPr indent="0" lvl="0" marL="0" marR="0" rtl="0" algn="l">
              <a:lnSpc>
                <a:spcPct val="100000"/>
              </a:lnSpc>
              <a:spcBef>
                <a:spcPts val="0"/>
              </a:spcBef>
              <a:spcAft>
                <a:spcPts val="0"/>
              </a:spcAft>
              <a:buClr>
                <a:srgbClr val="000000"/>
              </a:buClr>
              <a:buSzPts val="1435"/>
              <a:buFont typeface="Arial"/>
              <a:buNone/>
            </a:pPr>
            <a:r>
              <a:rPr b="1" i="0" lang="en" sz="956" u="none" cap="none" strike="noStrike">
                <a:solidFill>
                  <a:schemeClr val="dk1"/>
                </a:solidFill>
                <a:latin typeface="Lexend"/>
                <a:ea typeface="Lexend"/>
                <a:cs typeface="Lexend"/>
                <a:sym typeface="Lexend"/>
              </a:rPr>
              <a:t>Coverage = 0</a:t>
            </a:r>
            <a:endParaRPr b="0" i="0" sz="956" u="none" cap="none" strike="noStrike">
              <a:solidFill>
                <a:schemeClr val="dk1"/>
              </a:solidFill>
              <a:latin typeface="Lexend"/>
              <a:ea typeface="Lexend"/>
              <a:cs typeface="Lexend"/>
              <a:sym typeface="Lexend"/>
            </a:endParaRPr>
          </a:p>
        </p:txBody>
      </p:sp>
      <p:sp>
        <p:nvSpPr>
          <p:cNvPr id="439" name="Google Shape;439;p32"/>
          <p:cNvSpPr txBox="1"/>
          <p:nvPr/>
        </p:nvSpPr>
        <p:spPr>
          <a:xfrm>
            <a:off x="538250" y="4909200"/>
            <a:ext cx="4946400" cy="1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lang="en" sz="800">
                <a:latin typeface="Lexend ExtraLight"/>
                <a:ea typeface="Lexend ExtraLight"/>
                <a:cs typeface="Lexend ExtraLight"/>
                <a:sym typeface="Lexend ExtraLight"/>
              </a:rPr>
              <a:t>Zouzou et al, COPA 2025</a:t>
            </a:r>
            <a:endParaRPr sz="800">
              <a:latin typeface="Lexend ExtraLight"/>
              <a:ea typeface="Lexend ExtraLight"/>
              <a:cs typeface="Lexend ExtraLight"/>
              <a:sym typeface="Lexend ExtraLight"/>
            </a:endParaRPr>
          </a:p>
        </p:txBody>
      </p:sp>
      <p:pic>
        <p:nvPicPr>
          <p:cNvPr id="440" name="Google Shape;440;p32"/>
          <p:cNvPicPr preferRelativeResize="0"/>
          <p:nvPr/>
        </p:nvPicPr>
        <p:blipFill rotWithShape="1">
          <a:blip r:embed="rId6">
            <a:alphaModFix/>
          </a:blip>
          <a:srcRect b="0" l="0" r="0" t="0"/>
          <a:stretch/>
        </p:blipFill>
        <p:spPr>
          <a:xfrm>
            <a:off x="1171660" y="1145664"/>
            <a:ext cx="1463841" cy="614696"/>
          </a:xfrm>
          <a:prstGeom prst="rect">
            <a:avLst/>
          </a:prstGeom>
          <a:noFill/>
          <a:ln>
            <a:noFill/>
          </a:ln>
        </p:spPr>
      </p:pic>
      <p:grpSp>
        <p:nvGrpSpPr>
          <p:cNvPr id="441" name="Google Shape;441;p32"/>
          <p:cNvGrpSpPr/>
          <p:nvPr/>
        </p:nvGrpSpPr>
        <p:grpSpPr>
          <a:xfrm>
            <a:off x="413763" y="1807814"/>
            <a:ext cx="3165078" cy="906398"/>
            <a:chOff x="144168" y="1570966"/>
            <a:chExt cx="3569100" cy="1022100"/>
          </a:xfrm>
        </p:grpSpPr>
        <p:sp>
          <p:nvSpPr>
            <p:cNvPr id="442" name="Google Shape;442;p32"/>
            <p:cNvSpPr txBox="1"/>
            <p:nvPr/>
          </p:nvSpPr>
          <p:spPr>
            <a:xfrm>
              <a:off x="144168" y="1570966"/>
              <a:ext cx="3569100" cy="1022100"/>
            </a:xfrm>
            <a:prstGeom prst="rect">
              <a:avLst/>
            </a:prstGeom>
            <a:noFill/>
            <a:ln>
              <a:noFill/>
            </a:ln>
          </p:spPr>
          <p:txBody>
            <a:bodyPr anchorCtr="0" anchor="t" bIns="81075" lIns="81075" spcFirstLastPara="1" rIns="81075" wrap="square" tIns="81075">
              <a:noAutofit/>
            </a:bodyPr>
            <a:lstStyle/>
            <a:p>
              <a:pPr indent="0" lvl="0" marL="0" marR="0" rtl="0" algn="l">
                <a:lnSpc>
                  <a:spcPct val="100000"/>
                </a:lnSpc>
                <a:spcBef>
                  <a:spcPts val="0"/>
                </a:spcBef>
                <a:spcAft>
                  <a:spcPts val="0"/>
                </a:spcAft>
                <a:buClr>
                  <a:srgbClr val="000000"/>
                </a:buClr>
                <a:buSzPts val="1330"/>
                <a:buFont typeface="Arial"/>
                <a:buNone/>
              </a:pPr>
              <a:r>
                <a:rPr b="1" i="0" lang="en" sz="975" u="none" cap="none" strike="noStrike">
                  <a:solidFill>
                    <a:schemeClr val="dk1"/>
                  </a:solidFill>
                  <a:latin typeface="Lexend"/>
                  <a:ea typeface="Lexend"/>
                  <a:cs typeface="Lexend"/>
                  <a:sym typeface="Lexend"/>
                </a:rPr>
                <a:t>1</a:t>
              </a:r>
              <a:r>
                <a:rPr b="0" i="0" lang="en" sz="975" u="none" cap="none" strike="noStrike">
                  <a:solidFill>
                    <a:schemeClr val="dk1"/>
                  </a:solidFill>
                  <a:latin typeface="Lexend"/>
                  <a:ea typeface="Lexend"/>
                  <a:cs typeface="Lexend"/>
                  <a:sym typeface="Lexend"/>
                </a:rPr>
                <a:t> if the </a:t>
              </a:r>
              <a:r>
                <a:rPr b="1" i="0" lang="en" sz="975" u="none" cap="none" strike="noStrike">
                  <a:solidFill>
                    <a:schemeClr val="dk1"/>
                  </a:solidFill>
                  <a:latin typeface="Lexend"/>
                  <a:ea typeface="Lexend"/>
                  <a:cs typeface="Lexend"/>
                  <a:sym typeface="Lexend"/>
                </a:rPr>
                <a:t>GT</a:t>
              </a:r>
              <a:r>
                <a:rPr b="0" i="0" lang="en" sz="975" u="none" cap="none" strike="noStrike">
                  <a:solidFill>
                    <a:schemeClr val="dk1"/>
                  </a:solidFill>
                  <a:latin typeface="Lexend"/>
                  <a:ea typeface="Lexend"/>
                  <a:cs typeface="Lexend"/>
                  <a:sym typeface="Lexend"/>
                </a:rPr>
                <a:t>        for an input         is </a:t>
              </a:r>
              <a:r>
                <a:rPr b="1" i="0" lang="en" sz="975" u="none" cap="none" strike="noStrike">
                  <a:solidFill>
                    <a:schemeClr val="dk1"/>
                  </a:solidFill>
                  <a:latin typeface="Lexend"/>
                  <a:ea typeface="Lexend"/>
                  <a:cs typeface="Lexend"/>
                  <a:sym typeface="Lexend"/>
                </a:rPr>
                <a:t>contained </a:t>
              </a:r>
              <a:endParaRPr b="1" i="0" sz="975"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330"/>
                <a:buFont typeface="Arial"/>
                <a:buNone/>
              </a:pPr>
              <a:r>
                <a:rPr b="1" i="0" lang="en" sz="975" u="none" cap="none" strike="noStrike">
                  <a:solidFill>
                    <a:schemeClr val="dk1"/>
                  </a:solidFill>
                  <a:latin typeface="Lexend"/>
                  <a:ea typeface="Lexend"/>
                  <a:cs typeface="Lexend"/>
                  <a:sym typeface="Lexend"/>
                </a:rPr>
                <a:t>within</a:t>
              </a:r>
              <a:r>
                <a:rPr b="0" i="0" lang="en" sz="975" u="none" cap="none" strike="noStrike">
                  <a:solidFill>
                    <a:schemeClr val="dk1"/>
                  </a:solidFill>
                  <a:latin typeface="Lexend"/>
                  <a:ea typeface="Lexend"/>
                  <a:cs typeface="Lexend"/>
                  <a:sym typeface="Lexend"/>
                </a:rPr>
                <a:t> the conformal bounding box </a:t>
              </a:r>
              <a:endParaRPr b="0" i="0" sz="975"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330"/>
                <a:buFont typeface="Arial"/>
                <a:buNone/>
              </a:pPr>
              <a:r>
                <a:t/>
              </a:r>
              <a:endParaRPr b="0" i="0" sz="975"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330"/>
                <a:buFont typeface="Arial"/>
                <a:buNone/>
              </a:pPr>
              <a:r>
                <a:rPr b="1" i="0" lang="en" sz="975" u="none" cap="none" strike="noStrike">
                  <a:solidFill>
                    <a:schemeClr val="dk1"/>
                  </a:solidFill>
                  <a:latin typeface="Lexend"/>
                  <a:ea typeface="Lexend"/>
                  <a:cs typeface="Lexend"/>
                  <a:sym typeface="Lexend"/>
                </a:rPr>
                <a:t>0</a:t>
              </a:r>
              <a:r>
                <a:rPr b="0" i="0" lang="en" sz="975" u="none" cap="none" strike="noStrike">
                  <a:solidFill>
                    <a:schemeClr val="dk1"/>
                  </a:solidFill>
                  <a:latin typeface="Lexend"/>
                  <a:ea typeface="Lexend"/>
                  <a:cs typeface="Lexend"/>
                  <a:sym typeface="Lexend"/>
                </a:rPr>
                <a:t> if the </a:t>
              </a:r>
              <a:r>
                <a:rPr b="1" i="0" lang="en" sz="975" u="none" cap="none" strike="noStrike">
                  <a:solidFill>
                    <a:schemeClr val="dk1"/>
                  </a:solidFill>
                  <a:latin typeface="Lexend"/>
                  <a:ea typeface="Lexend"/>
                  <a:cs typeface="Lexend"/>
                  <a:sym typeface="Lexend"/>
                </a:rPr>
                <a:t>GT</a:t>
              </a:r>
              <a:r>
                <a:rPr b="0" i="0" lang="en" sz="975" u="none" cap="none" strike="noStrike">
                  <a:solidFill>
                    <a:schemeClr val="dk1"/>
                  </a:solidFill>
                  <a:latin typeface="Lexend"/>
                  <a:ea typeface="Lexend"/>
                  <a:cs typeface="Lexend"/>
                  <a:sym typeface="Lexend"/>
                </a:rPr>
                <a:t>     ​   for an input         is </a:t>
              </a:r>
              <a:r>
                <a:rPr b="1" i="0" lang="en" sz="975" u="none" cap="none" strike="noStrike">
                  <a:solidFill>
                    <a:schemeClr val="dk1"/>
                  </a:solidFill>
                  <a:latin typeface="Lexend"/>
                  <a:ea typeface="Lexend"/>
                  <a:cs typeface="Lexend"/>
                  <a:sym typeface="Lexend"/>
                </a:rPr>
                <a:t>not contained</a:t>
              </a:r>
              <a:endParaRPr b="1" i="0" sz="975"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330"/>
                <a:buFont typeface="Arial"/>
                <a:buNone/>
              </a:pPr>
              <a:r>
                <a:rPr b="0" i="0" lang="en" sz="975" u="none" cap="none" strike="noStrike">
                  <a:solidFill>
                    <a:schemeClr val="dk1"/>
                  </a:solidFill>
                  <a:latin typeface="Lexend"/>
                  <a:ea typeface="Lexend"/>
                  <a:cs typeface="Lexend"/>
                  <a:sym typeface="Lexend"/>
                </a:rPr>
                <a:t> within the conformal bounding box </a:t>
              </a:r>
              <a:endParaRPr b="0" i="0" sz="975" u="none" cap="none" strike="noStrike">
                <a:solidFill>
                  <a:schemeClr val="dk1"/>
                </a:solidFill>
                <a:latin typeface="Lexend"/>
                <a:ea typeface="Lexend"/>
                <a:cs typeface="Lexend"/>
                <a:sym typeface="Lexend"/>
              </a:endParaRPr>
            </a:p>
          </p:txBody>
        </p:sp>
        <p:pic>
          <p:nvPicPr>
            <p:cNvPr descr="Y_i" id="443" name="Google Shape;443;p32"/>
            <p:cNvPicPr preferRelativeResize="0"/>
            <p:nvPr/>
          </p:nvPicPr>
          <p:blipFill rotWithShape="1">
            <a:blip r:embed="rId7">
              <a:alphaModFix/>
            </a:blip>
            <a:srcRect b="0" l="0" r="0" t="0"/>
            <a:stretch/>
          </p:blipFill>
          <p:spPr>
            <a:xfrm>
              <a:off x="998875" y="1592025"/>
              <a:ext cx="193369" cy="277275"/>
            </a:xfrm>
            <a:prstGeom prst="rect">
              <a:avLst/>
            </a:prstGeom>
            <a:noFill/>
            <a:ln>
              <a:noFill/>
            </a:ln>
          </p:spPr>
        </p:pic>
        <p:pic>
          <p:nvPicPr>
            <p:cNvPr descr="X_i" id="444" name="Google Shape;444;p32"/>
            <p:cNvPicPr preferRelativeResize="0"/>
            <p:nvPr/>
          </p:nvPicPr>
          <p:blipFill rotWithShape="1">
            <a:blip r:embed="rId8">
              <a:alphaModFix/>
            </a:blip>
            <a:srcRect b="0" l="0" r="0" t="0"/>
            <a:stretch/>
          </p:blipFill>
          <p:spPr>
            <a:xfrm>
              <a:off x="2103075" y="1607688"/>
              <a:ext cx="229433" cy="256400"/>
            </a:xfrm>
            <a:prstGeom prst="rect">
              <a:avLst/>
            </a:prstGeom>
            <a:noFill/>
            <a:ln>
              <a:noFill/>
            </a:ln>
          </p:spPr>
        </p:pic>
        <p:pic>
          <p:nvPicPr>
            <p:cNvPr descr="C_%7B%5Chat%7B%5Clambda%7D%7D(X_i)" id="445" name="Google Shape;445;p32"/>
            <p:cNvPicPr preferRelativeResize="0"/>
            <p:nvPr/>
          </p:nvPicPr>
          <p:blipFill rotWithShape="1">
            <a:blip r:embed="rId9">
              <a:alphaModFix/>
            </a:blip>
            <a:srcRect b="0" l="0" r="0" t="0"/>
            <a:stretch/>
          </p:blipFill>
          <p:spPr>
            <a:xfrm>
              <a:off x="2736461" y="1826837"/>
              <a:ext cx="497050" cy="202550"/>
            </a:xfrm>
            <a:prstGeom prst="rect">
              <a:avLst/>
            </a:prstGeom>
            <a:noFill/>
            <a:ln>
              <a:noFill/>
            </a:ln>
          </p:spPr>
        </p:pic>
        <p:pic>
          <p:nvPicPr>
            <p:cNvPr descr="Y_i" id="446" name="Google Shape;446;p32"/>
            <p:cNvPicPr preferRelativeResize="0"/>
            <p:nvPr/>
          </p:nvPicPr>
          <p:blipFill rotWithShape="1">
            <a:blip r:embed="rId7">
              <a:alphaModFix/>
            </a:blip>
            <a:srcRect b="0" l="0" r="0" t="0"/>
            <a:stretch/>
          </p:blipFill>
          <p:spPr>
            <a:xfrm>
              <a:off x="998875" y="2098125"/>
              <a:ext cx="193369" cy="277275"/>
            </a:xfrm>
            <a:prstGeom prst="rect">
              <a:avLst/>
            </a:prstGeom>
            <a:noFill/>
            <a:ln>
              <a:noFill/>
            </a:ln>
          </p:spPr>
        </p:pic>
        <p:pic>
          <p:nvPicPr>
            <p:cNvPr descr="X_i" id="447" name="Google Shape;447;p32"/>
            <p:cNvPicPr preferRelativeResize="0"/>
            <p:nvPr/>
          </p:nvPicPr>
          <p:blipFill rotWithShape="1">
            <a:blip r:embed="rId8">
              <a:alphaModFix/>
            </a:blip>
            <a:srcRect b="0" l="0" r="0" t="0"/>
            <a:stretch/>
          </p:blipFill>
          <p:spPr>
            <a:xfrm>
              <a:off x="2103075" y="2108575"/>
              <a:ext cx="229433" cy="256400"/>
            </a:xfrm>
            <a:prstGeom prst="rect">
              <a:avLst/>
            </a:prstGeom>
            <a:noFill/>
            <a:ln>
              <a:noFill/>
            </a:ln>
          </p:spPr>
        </p:pic>
        <p:pic>
          <p:nvPicPr>
            <p:cNvPr descr="C_%7B%5Chat%7B%5Clambda%7D%7D(X_i)" id="448" name="Google Shape;448;p32"/>
            <p:cNvPicPr preferRelativeResize="0"/>
            <p:nvPr/>
          </p:nvPicPr>
          <p:blipFill rotWithShape="1">
            <a:blip r:embed="rId9">
              <a:alphaModFix/>
            </a:blip>
            <a:srcRect b="0" l="0" r="0" t="0"/>
            <a:stretch/>
          </p:blipFill>
          <p:spPr>
            <a:xfrm>
              <a:off x="2751391" y="2334050"/>
              <a:ext cx="497050" cy="202550"/>
            </a:xfrm>
            <a:prstGeom prst="rect">
              <a:avLst/>
            </a:prstGeom>
            <a:noFill/>
            <a:ln>
              <a:noFill/>
            </a:ln>
          </p:spPr>
        </p:pic>
      </p:grpSp>
      <p:sp>
        <p:nvSpPr>
          <p:cNvPr id="449" name="Google Shape;449;p32"/>
          <p:cNvSpPr/>
          <p:nvPr/>
        </p:nvSpPr>
        <p:spPr>
          <a:xfrm>
            <a:off x="4475710" y="3287656"/>
            <a:ext cx="3860400" cy="139500"/>
          </a:xfrm>
          <a:prstGeom prst="rect">
            <a:avLst/>
          </a:prstGeom>
          <a:solidFill>
            <a:srgbClr val="FF0000">
              <a:alpha val="13290"/>
            </a:srgbClr>
          </a:solidFill>
          <a:ln cap="flat" cmpd="sng" w="9525">
            <a:solidFill>
              <a:schemeClr val="dk2"/>
            </a:solidFill>
            <a:prstDash val="solid"/>
            <a:round/>
            <a:headEnd len="sm" w="sm" type="none"/>
            <a:tailEnd len="sm" w="sm" type="none"/>
          </a:ln>
          <a:effectLst>
            <a:outerShdw blurRad="57150" rotWithShape="0" algn="bl" dir="5400000" dist="19050">
              <a:srgbClr val="000000">
                <a:alpha val="3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FFF2CC"/>
              </a:highlight>
            </a:endParaRPr>
          </a:p>
        </p:txBody>
      </p:sp>
      <p:sp>
        <p:nvSpPr>
          <p:cNvPr id="450" name="Google Shape;450;p32"/>
          <p:cNvSpPr txBox="1"/>
          <p:nvPr/>
        </p:nvSpPr>
        <p:spPr>
          <a:xfrm>
            <a:off x="1260925" y="749075"/>
            <a:ext cx="1075500" cy="274500"/>
          </a:xfrm>
          <a:prstGeom prst="rect">
            <a:avLst/>
          </a:prstGeom>
          <a:noFill/>
          <a:ln>
            <a:noFill/>
          </a:ln>
        </p:spPr>
        <p:txBody>
          <a:bodyPr anchorCtr="0" anchor="t" bIns="70450" lIns="70450" spcFirstLastPara="1" rIns="70450" wrap="square" tIns="70450">
            <a:noAutofit/>
          </a:bodyPr>
          <a:lstStyle/>
          <a:p>
            <a:pPr indent="0" lvl="0" marL="0" marR="0" rtl="0" algn="ctr">
              <a:lnSpc>
                <a:spcPct val="100000"/>
              </a:lnSpc>
              <a:spcBef>
                <a:spcPts val="0"/>
              </a:spcBef>
              <a:spcAft>
                <a:spcPts val="0"/>
              </a:spcAft>
              <a:buClr>
                <a:srgbClr val="000000"/>
              </a:buClr>
              <a:buSzPts val="925"/>
              <a:buFont typeface="Arial"/>
              <a:buNone/>
            </a:pPr>
            <a:r>
              <a:rPr lang="en" sz="979">
                <a:solidFill>
                  <a:schemeClr val="dk1"/>
                </a:solidFill>
                <a:latin typeface="Lexend"/>
                <a:ea typeface="Lexend"/>
                <a:cs typeface="Lexend"/>
                <a:sym typeface="Lexend"/>
              </a:rPr>
              <a:t>COVERAGE (eg andeol</a:t>
            </a:r>
            <a:endParaRPr i="0" sz="979" u="none" cap="none" strike="noStrike">
              <a:solidFill>
                <a:schemeClr val="dk1"/>
              </a:solidFill>
              <a:latin typeface="Lexend"/>
              <a:ea typeface="Lexend"/>
              <a:cs typeface="Lexend"/>
              <a:sym typeface="Lexend"/>
            </a:endParaRPr>
          </a:p>
        </p:txBody>
      </p:sp>
      <p:sp>
        <p:nvSpPr>
          <p:cNvPr id="451" name="Google Shape;451;p32"/>
          <p:cNvSpPr txBox="1"/>
          <p:nvPr/>
        </p:nvSpPr>
        <p:spPr>
          <a:xfrm>
            <a:off x="5834950" y="749075"/>
            <a:ext cx="1075500" cy="274500"/>
          </a:xfrm>
          <a:prstGeom prst="rect">
            <a:avLst/>
          </a:prstGeom>
          <a:noFill/>
          <a:ln>
            <a:noFill/>
          </a:ln>
        </p:spPr>
        <p:txBody>
          <a:bodyPr anchorCtr="0" anchor="t" bIns="70450" lIns="70450" spcFirstLastPara="1" rIns="70450" wrap="square" tIns="70450">
            <a:noAutofit/>
          </a:bodyPr>
          <a:lstStyle/>
          <a:p>
            <a:pPr indent="0" lvl="0" marL="0" marR="0" rtl="0" algn="ctr">
              <a:lnSpc>
                <a:spcPct val="100000"/>
              </a:lnSpc>
              <a:spcBef>
                <a:spcPts val="0"/>
              </a:spcBef>
              <a:spcAft>
                <a:spcPts val="0"/>
              </a:spcAft>
              <a:buClr>
                <a:srgbClr val="000000"/>
              </a:buClr>
              <a:buSzPts val="925"/>
              <a:buFont typeface="Arial"/>
              <a:buNone/>
            </a:pPr>
            <a:r>
              <a:rPr lang="en" sz="979">
                <a:solidFill>
                  <a:schemeClr val="dk1"/>
                </a:solidFill>
                <a:latin typeface="Lexend"/>
                <a:ea typeface="Lexend"/>
                <a:cs typeface="Lexend"/>
                <a:sym typeface="Lexend"/>
              </a:rPr>
              <a:t>C-mAP</a:t>
            </a:r>
            <a:endParaRPr i="0" sz="979" u="none" cap="none" strike="noStrike">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